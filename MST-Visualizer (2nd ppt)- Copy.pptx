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60" r:id="rId6"/>
    <p:sldId id="261" r:id="rId7"/>
    <p:sldId id="258" r:id="rId8"/>
    <p:sldId id="259" r:id="rId9"/>
    <p:sldId id="262" r:id="rId10"/>
  </p:sldIdLst>
  <p:sldSz cx="18288000" cy="10287000"/>
  <p:notesSz cx="6858000" cy="9144000"/>
  <p:embeddedFontLst>
    <p:embeddedFont>
      <p:font typeface="DM Sans" panose="020B0604020202020204" charset="0"/>
      <p:regular r:id="rId12"/>
    </p:embeddedFont>
    <p:embeddedFont>
      <p:font typeface="PT Serif" panose="020B0604020202020204" charset="0"/>
      <p:regular r:id="rId13"/>
    </p:embeddedFont>
    <p:embeddedFont>
      <p:font typeface="DM Sans Bold" panose="020B0604020202020204" charset="0"/>
      <p:regular r:id="rId14"/>
    </p:embeddedFont>
    <p:embeddedFont>
      <p:font typeface="PT Serif 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580" y="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.png"/><Relationship Id="rId4" Type="http://schemas.openxmlformats.org/officeDocument/2006/relationships/image" Target="../media/image6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5" Type="http://schemas.openxmlformats.org/officeDocument/2006/relationships/image" Target="../media/image4.png"/><Relationship Id="rId4" Type="http://schemas.openxmlformats.org/officeDocument/2006/relationships/image" Target="../media/image40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JavaScript/Guide/Modules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developer.mozilla.org/en-US/docs/Web/SV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10" Type="http://schemas.openxmlformats.org/officeDocument/2006/relationships/hyperlink" Target="https://d3js.org/" TargetMode="External"/><Relationship Id="rId4" Type="http://schemas.openxmlformats.org/officeDocument/2006/relationships/image" Target="../media/image4.svg"/><Relationship Id="rId9" Type="http://schemas.openxmlformats.org/officeDocument/2006/relationships/hyperlink" Target="https://visualgo.net/en/m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5" name="Freeform 5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344275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832" r="-2979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rot="3998324">
            <a:off x="8132677" y="6983959"/>
            <a:ext cx="3270792" cy="4318716"/>
          </a:xfrm>
          <a:custGeom>
            <a:avLst/>
            <a:gdLst/>
            <a:ahLst/>
            <a:cxnLst/>
            <a:rect l="l" t="t" r="r" b="b"/>
            <a:pathLst>
              <a:path w="3270792" h="4318716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695503">
            <a:off x="-667352" y="-1248037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15303" y="1799080"/>
            <a:ext cx="8151762" cy="1182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1"/>
              </a:lnSpc>
            </a:pPr>
            <a:r>
              <a:rPr lang="en-US" sz="7512" b="1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MST Visualizer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5778" y="3039082"/>
            <a:ext cx="815176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</a:pPr>
            <a:r>
              <a:rPr lang="en-US" sz="303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Interactive Minimum Spanning Tree Algorithm Visualizer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5778" y="4161956"/>
            <a:ext cx="8630032" cy="225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5"/>
              </a:lnSpc>
            </a:pPr>
            <a:r>
              <a:rPr lang="en-US" sz="6279" b="1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Kruskal's &amp; Prim's Algorithms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04970" y="1250408"/>
            <a:ext cx="4115278" cy="58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0"/>
              </a:lnSpc>
            </a:pPr>
            <a:r>
              <a:rPr lang="en-US" sz="3058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CSC-520 : Practical 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230799" y="6923024"/>
            <a:ext cx="5320769" cy="2335276"/>
            <a:chOff x="0" y="0"/>
            <a:chExt cx="7094359" cy="311370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900312"/>
              <a:ext cx="7094359" cy="65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3"/>
                </a:lnSpc>
              </a:pPr>
              <a:r>
                <a:rPr lang="en-US" sz="317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Abhishek Jaiswar - 256201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2860" y="-123825"/>
              <a:ext cx="3288639" cy="7400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80"/>
                </a:lnSpc>
              </a:pPr>
              <a:r>
                <a:rPr lang="en-US" sz="3058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Group No. 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677294"/>
              <a:ext cx="7094359" cy="65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3"/>
                </a:lnSpc>
              </a:pPr>
              <a:r>
                <a:rPr lang="en-US" sz="317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Yogiraj Bhilare - 256228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454277"/>
              <a:ext cx="7094359" cy="65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3"/>
                </a:lnSpc>
              </a:pPr>
              <a:r>
                <a:rPr lang="en-US" sz="317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Tejas Patare - 256259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5240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 rot="3998324">
            <a:off x="8132677" y="6941918"/>
            <a:ext cx="3270792" cy="4318716"/>
          </a:xfrm>
          <a:custGeom>
            <a:avLst/>
            <a:gdLst/>
            <a:ahLst/>
            <a:cxnLst/>
            <a:rect l="l" t="t" r="r" b="b"/>
            <a:pathLst>
              <a:path w="3270792" h="4318716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9832" y="2169335"/>
            <a:ext cx="7156705" cy="6870436"/>
          </a:xfrm>
          <a:custGeom>
            <a:avLst/>
            <a:gdLst/>
            <a:ahLst/>
            <a:cxnLst/>
            <a:rect l="l" t="t" r="r" b="b"/>
            <a:pathLst>
              <a:path w="7156705" h="6870436">
                <a:moveTo>
                  <a:pt x="0" y="0"/>
                </a:moveTo>
                <a:lnTo>
                  <a:pt x="7156704" y="0"/>
                </a:lnTo>
                <a:lnTo>
                  <a:pt x="7156704" y="6870436"/>
                </a:lnTo>
                <a:lnTo>
                  <a:pt x="0" y="6870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71550" y="734765"/>
            <a:ext cx="8577673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5687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Case Study Description</a:t>
            </a:r>
            <a:endParaRPr lang="en-US" sz="5687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270835" y="1807989"/>
            <a:ext cx="3643759" cy="493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10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Problem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96040" y="2347436"/>
            <a:ext cx="9208084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Students </a:t>
            </a:r>
            <a:r>
              <a:rPr lang="en-US" sz="2400" dirty="0"/>
              <a:t>struggle to understand abstract graph algorithms without visual representation and step-by-step execution flow.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Freeform 18"/>
          <p:cNvSpPr/>
          <p:nvPr/>
        </p:nvSpPr>
        <p:spPr>
          <a:xfrm rot="3471976" flipH="1" flipV="1">
            <a:off x="11646919" y="-2755363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5780944" y="7633090"/>
                </a:moveTo>
                <a:lnTo>
                  <a:pt x="0" y="7633090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9"/>
          <p:cNvSpPr txBox="1"/>
          <p:nvPr/>
        </p:nvSpPr>
        <p:spPr>
          <a:xfrm>
            <a:off x="8292711" y="3331989"/>
            <a:ext cx="3643759" cy="493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10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Solution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20" name="TextBox 10"/>
          <p:cNvSpPr txBox="1"/>
          <p:nvPr/>
        </p:nvSpPr>
        <p:spPr>
          <a:xfrm>
            <a:off x="8317916" y="3947636"/>
            <a:ext cx="9208084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/>
              <a:t>An interactive web-based visualizer that demonstrates Minimum Spanning Tree algorithms through real-time visual feedback.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" name="TextBox 9"/>
          <p:cNvSpPr txBox="1"/>
          <p:nvPr/>
        </p:nvSpPr>
        <p:spPr>
          <a:xfrm>
            <a:off x="8305800" y="4932189"/>
            <a:ext cx="3643759" cy="498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5"/>
              </a:lnSpc>
            </a:pPr>
            <a:r>
              <a:rPr lang="en-US" sz="2800" b="1" dirty="0">
                <a:latin typeface="PT Serif Bold" panose="020B0604020202020204" charset="0"/>
              </a:rPr>
              <a:t>Project</a:t>
            </a:r>
            <a:r>
              <a:rPr lang="en-US" sz="2800" b="1" dirty="0"/>
              <a:t> Scope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22" name="TextBox 10"/>
          <p:cNvSpPr txBox="1"/>
          <p:nvPr/>
        </p:nvSpPr>
        <p:spPr>
          <a:xfrm>
            <a:off x="8331005" y="5524500"/>
            <a:ext cx="920808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Technology</a:t>
            </a:r>
            <a:r>
              <a:rPr lang="en-US" sz="2400" dirty="0"/>
              <a:t>: Vanilla JavaScript (ES6), SVG, CSS3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Algorithms</a:t>
            </a:r>
            <a:r>
              <a:rPr lang="en-US" sz="2400" dirty="0"/>
              <a:t>: </a:t>
            </a:r>
            <a:r>
              <a:rPr lang="en-US" sz="2400" dirty="0" err="1"/>
              <a:t>Kruskal's</a:t>
            </a:r>
            <a:r>
              <a:rPr lang="en-US" sz="2400" dirty="0"/>
              <a:t> &amp; Prim's MST algorithms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Features</a:t>
            </a:r>
            <a:r>
              <a:rPr lang="en-US" sz="2400" dirty="0"/>
              <a:t>: Interactive graph creation, random generation, step-by-step visualization, execution control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" name="TextBox 9"/>
          <p:cNvSpPr txBox="1"/>
          <p:nvPr/>
        </p:nvSpPr>
        <p:spPr>
          <a:xfrm>
            <a:off x="8270835" y="7242475"/>
            <a:ext cx="3643759" cy="498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5"/>
              </a:lnSpc>
            </a:pPr>
            <a:r>
              <a:rPr lang="en-US" sz="2800" b="1" dirty="0" smtClean="0">
                <a:latin typeface="PT Serif Bold" panose="020B0604020202020204" charset="0"/>
              </a:rPr>
              <a:t>Use Cases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24" name="TextBox 10"/>
          <p:cNvSpPr txBox="1"/>
          <p:nvPr/>
        </p:nvSpPr>
        <p:spPr>
          <a:xfrm>
            <a:off x="8296040" y="7834786"/>
            <a:ext cx="920808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Educational </a:t>
            </a:r>
            <a:r>
              <a:rPr lang="en-US" sz="2400" dirty="0"/>
              <a:t>tool for Data Structures courses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Algorithm </a:t>
            </a:r>
            <a:r>
              <a:rPr lang="en-US" sz="2400" dirty="0"/>
              <a:t>comparison and analysis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Understanding </a:t>
            </a:r>
            <a:r>
              <a:rPr lang="en-US" sz="2400" dirty="0"/>
              <a:t>greedy algorithm approaches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Learning </a:t>
            </a:r>
            <a:r>
              <a:rPr lang="en-US" sz="2400" dirty="0"/>
              <a:t>graph theory concepts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935200" y="9789056"/>
            <a:ext cx="920808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Group No. 7 		2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5240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 rot="3471976" flipH="1" flipV="1">
            <a:off x="11646919" y="-2755363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5780944" y="7633090"/>
                </a:moveTo>
                <a:lnTo>
                  <a:pt x="0" y="7633090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695503">
            <a:off x="-667352" y="-1248037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52487" y="3025527"/>
            <a:ext cx="16425862" cy="1808857"/>
            <a:chOff x="0" y="0"/>
            <a:chExt cx="21901150" cy="24118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1150" cy="2411857"/>
            </a:xfrm>
            <a:custGeom>
              <a:avLst/>
              <a:gdLst/>
              <a:ahLst/>
              <a:cxnLst/>
              <a:rect l="l" t="t" r="r" b="b"/>
              <a:pathLst>
                <a:path w="21901150" h="2411857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21847938" y="0"/>
                  </a:lnTo>
                  <a:cubicBezTo>
                    <a:pt x="21877275" y="0"/>
                    <a:pt x="21901150" y="23876"/>
                    <a:pt x="21901150" y="53213"/>
                  </a:cubicBezTo>
                  <a:lnTo>
                    <a:pt x="21901150" y="2358644"/>
                  </a:lnTo>
                  <a:cubicBezTo>
                    <a:pt x="21901150" y="2387981"/>
                    <a:pt x="21877275" y="2411857"/>
                    <a:pt x="21847938" y="2411857"/>
                  </a:cubicBezTo>
                  <a:lnTo>
                    <a:pt x="53213" y="2411857"/>
                  </a:lnTo>
                  <a:cubicBezTo>
                    <a:pt x="23876" y="2411857"/>
                    <a:pt x="0" y="2387981"/>
                    <a:pt x="0" y="2358644"/>
                  </a:cubicBezTo>
                  <a:close/>
                </a:path>
              </a:pathLst>
            </a:custGeom>
            <a:solidFill>
              <a:srgbClr val="D8EBF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52488" y="3025527"/>
            <a:ext cx="5208537" cy="4951607"/>
            <a:chOff x="0" y="0"/>
            <a:chExt cx="6944717" cy="66021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44741" cy="6602189"/>
            </a:xfrm>
            <a:custGeom>
              <a:avLst/>
              <a:gdLst/>
              <a:ahLst/>
              <a:cxnLst/>
              <a:rect l="l" t="t" r="r" b="b"/>
              <a:pathLst>
                <a:path w="6944741" h="6602189">
                  <a:moveTo>
                    <a:pt x="0" y="145666"/>
                  </a:moveTo>
                  <a:cubicBezTo>
                    <a:pt x="0" y="65359"/>
                    <a:pt x="22713" y="0"/>
                    <a:pt x="50621" y="0"/>
                  </a:cubicBezTo>
                  <a:lnTo>
                    <a:pt x="6894119" y="0"/>
                  </a:lnTo>
                  <a:cubicBezTo>
                    <a:pt x="6922027" y="0"/>
                    <a:pt x="6944741" y="65359"/>
                    <a:pt x="6944741" y="145666"/>
                  </a:cubicBezTo>
                  <a:lnTo>
                    <a:pt x="6944741" y="6456605"/>
                  </a:lnTo>
                  <a:cubicBezTo>
                    <a:pt x="6944741" y="6536913"/>
                    <a:pt x="6922027" y="6602189"/>
                    <a:pt x="6894119" y="6602189"/>
                  </a:cubicBezTo>
                  <a:lnTo>
                    <a:pt x="50621" y="6602189"/>
                  </a:lnTo>
                  <a:cubicBezTo>
                    <a:pt x="22713" y="6602189"/>
                    <a:pt x="0" y="6536913"/>
                    <a:pt x="0" y="6456605"/>
                  </a:cubicBezTo>
                  <a:close/>
                </a:path>
              </a:pathLst>
            </a:custGeom>
            <a:solidFill>
              <a:srgbClr val="D8EBF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416427" y="3025527"/>
            <a:ext cx="5297984" cy="4951607"/>
            <a:chOff x="0" y="0"/>
            <a:chExt cx="7063978" cy="6602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4003" cy="6602189"/>
            </a:xfrm>
            <a:custGeom>
              <a:avLst/>
              <a:gdLst/>
              <a:ahLst/>
              <a:cxnLst/>
              <a:rect l="l" t="t" r="r" b="b"/>
              <a:pathLst>
                <a:path w="7064003" h="6602189">
                  <a:moveTo>
                    <a:pt x="0" y="0"/>
                  </a:moveTo>
                  <a:lnTo>
                    <a:pt x="7064003" y="0"/>
                  </a:lnTo>
                  <a:lnTo>
                    <a:pt x="7064003" y="6602189"/>
                  </a:lnTo>
                  <a:lnTo>
                    <a:pt x="0" y="6602189"/>
                  </a:lnTo>
                  <a:close/>
                </a:path>
              </a:pathLst>
            </a:custGeom>
            <a:solidFill>
              <a:srgbClr val="D8EBF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327725" y="3025527"/>
            <a:ext cx="28575" cy="1808857"/>
            <a:chOff x="0" y="0"/>
            <a:chExt cx="38100" cy="24118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100" cy="2411857"/>
            </a:xfrm>
            <a:custGeom>
              <a:avLst/>
              <a:gdLst/>
              <a:ahLst/>
              <a:cxnLst/>
              <a:rect l="l" t="t" r="r" b="b"/>
              <a:pathLst>
                <a:path w="38100" h="24118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392807"/>
                  </a:lnTo>
                  <a:cubicBezTo>
                    <a:pt x="38100" y="2403348"/>
                    <a:pt x="29591" y="2411857"/>
                    <a:pt x="19050" y="2411857"/>
                  </a:cubicBezTo>
                  <a:cubicBezTo>
                    <a:pt x="8509" y="2411857"/>
                    <a:pt x="0" y="2403348"/>
                    <a:pt x="0" y="239280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012514" y="3025527"/>
            <a:ext cx="5168205" cy="4951607"/>
            <a:chOff x="0" y="0"/>
            <a:chExt cx="6890940" cy="66021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90896" cy="6602189"/>
            </a:xfrm>
            <a:custGeom>
              <a:avLst/>
              <a:gdLst/>
              <a:ahLst/>
              <a:cxnLst/>
              <a:rect l="l" t="t" r="r" b="b"/>
              <a:pathLst>
                <a:path w="6890896" h="6602189">
                  <a:moveTo>
                    <a:pt x="0" y="0"/>
                  </a:moveTo>
                  <a:lnTo>
                    <a:pt x="6890896" y="0"/>
                  </a:lnTo>
                  <a:lnTo>
                    <a:pt x="6890896" y="6602189"/>
                  </a:lnTo>
                  <a:lnTo>
                    <a:pt x="0" y="6602189"/>
                  </a:lnTo>
                  <a:close/>
                </a:path>
              </a:pathLst>
            </a:custGeom>
            <a:solidFill>
              <a:srgbClr val="D8EBFA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802964" y="3025527"/>
            <a:ext cx="28575" cy="1808857"/>
            <a:chOff x="0" y="0"/>
            <a:chExt cx="38100" cy="24118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100" cy="2411857"/>
            </a:xfrm>
            <a:custGeom>
              <a:avLst/>
              <a:gdLst/>
              <a:ahLst/>
              <a:cxnLst/>
              <a:rect l="l" t="t" r="r" b="b"/>
              <a:pathLst>
                <a:path w="38100" h="24118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392807"/>
                  </a:lnTo>
                  <a:cubicBezTo>
                    <a:pt x="38100" y="2403348"/>
                    <a:pt x="29591" y="2411857"/>
                    <a:pt x="19050" y="2411857"/>
                  </a:cubicBezTo>
                  <a:cubicBezTo>
                    <a:pt x="8509" y="2411857"/>
                    <a:pt x="0" y="2403348"/>
                    <a:pt x="0" y="239280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52487" y="8290024"/>
            <a:ext cx="5297984" cy="968276"/>
            <a:chOff x="0" y="0"/>
            <a:chExt cx="7063978" cy="12910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63994" cy="1291082"/>
            </a:xfrm>
            <a:custGeom>
              <a:avLst/>
              <a:gdLst/>
              <a:ahLst/>
              <a:cxnLst/>
              <a:rect l="l" t="t" r="r" b="b"/>
              <a:pathLst>
                <a:path w="7063994" h="1291082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7010781" y="0"/>
                  </a:lnTo>
                  <a:cubicBezTo>
                    <a:pt x="7040118" y="0"/>
                    <a:pt x="7063994" y="23876"/>
                    <a:pt x="7063994" y="53213"/>
                  </a:cubicBezTo>
                  <a:lnTo>
                    <a:pt x="7063994" y="1237869"/>
                  </a:lnTo>
                  <a:cubicBezTo>
                    <a:pt x="7063994" y="1267206"/>
                    <a:pt x="7040118" y="1291082"/>
                    <a:pt x="7010781" y="1291082"/>
                  </a:cubicBezTo>
                  <a:lnTo>
                    <a:pt x="53213" y="1291082"/>
                  </a:lnTo>
                  <a:cubicBezTo>
                    <a:pt x="23876" y="1291082"/>
                    <a:pt x="0" y="1267206"/>
                    <a:pt x="0" y="1237869"/>
                  </a:cubicBezTo>
                  <a:close/>
                </a:path>
              </a:pathLst>
            </a:custGeom>
            <a:solidFill>
              <a:srgbClr val="0B74BA"/>
            </a:solidFill>
          </p:spPr>
        </p:sp>
      </p:grpSp>
      <p:sp>
        <p:nvSpPr>
          <p:cNvPr id="22" name="Freeform 22"/>
          <p:cNvSpPr/>
          <p:nvPr/>
        </p:nvSpPr>
        <p:spPr>
          <a:xfrm rot="3998324">
            <a:off x="8132677" y="6983959"/>
            <a:ext cx="3270792" cy="4318716"/>
          </a:xfrm>
          <a:custGeom>
            <a:avLst/>
            <a:gdLst/>
            <a:ahLst/>
            <a:cxnLst/>
            <a:rect l="l" t="t" r="r" b="b"/>
            <a:pathLst>
              <a:path w="3270792" h="4318716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6416427" y="8290024"/>
            <a:ext cx="5297984" cy="968276"/>
            <a:chOff x="0" y="0"/>
            <a:chExt cx="7063978" cy="129103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63994" cy="1291082"/>
            </a:xfrm>
            <a:custGeom>
              <a:avLst/>
              <a:gdLst/>
              <a:ahLst/>
              <a:cxnLst/>
              <a:rect l="l" t="t" r="r" b="b"/>
              <a:pathLst>
                <a:path w="7063994" h="1291082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7010781" y="0"/>
                  </a:lnTo>
                  <a:cubicBezTo>
                    <a:pt x="7040118" y="0"/>
                    <a:pt x="7063994" y="23876"/>
                    <a:pt x="7063994" y="53213"/>
                  </a:cubicBezTo>
                  <a:lnTo>
                    <a:pt x="7063994" y="1237869"/>
                  </a:lnTo>
                  <a:cubicBezTo>
                    <a:pt x="7063994" y="1267206"/>
                    <a:pt x="7040118" y="1291082"/>
                    <a:pt x="7010781" y="1291082"/>
                  </a:cubicBezTo>
                  <a:lnTo>
                    <a:pt x="53213" y="1291082"/>
                  </a:lnTo>
                  <a:cubicBezTo>
                    <a:pt x="23876" y="1291082"/>
                    <a:pt x="0" y="1267206"/>
                    <a:pt x="0" y="1237869"/>
                  </a:cubicBezTo>
                  <a:close/>
                </a:path>
              </a:pathLst>
            </a:custGeom>
            <a:solidFill>
              <a:srgbClr val="0B74BA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1980366" y="8290024"/>
            <a:ext cx="5297984" cy="968276"/>
            <a:chOff x="0" y="0"/>
            <a:chExt cx="7063978" cy="129103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063994" cy="1291082"/>
            </a:xfrm>
            <a:custGeom>
              <a:avLst/>
              <a:gdLst/>
              <a:ahLst/>
              <a:cxnLst/>
              <a:rect l="l" t="t" r="r" b="b"/>
              <a:pathLst>
                <a:path w="7063994" h="1291082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7010781" y="0"/>
                  </a:lnTo>
                  <a:cubicBezTo>
                    <a:pt x="7040118" y="0"/>
                    <a:pt x="7063994" y="23876"/>
                    <a:pt x="7063994" y="53213"/>
                  </a:cubicBezTo>
                  <a:lnTo>
                    <a:pt x="7063994" y="1237869"/>
                  </a:lnTo>
                  <a:cubicBezTo>
                    <a:pt x="7063994" y="1267206"/>
                    <a:pt x="7040118" y="1291082"/>
                    <a:pt x="7010781" y="1291082"/>
                  </a:cubicBezTo>
                  <a:lnTo>
                    <a:pt x="53213" y="1291082"/>
                  </a:lnTo>
                  <a:cubicBezTo>
                    <a:pt x="23876" y="1291082"/>
                    <a:pt x="0" y="1267206"/>
                    <a:pt x="0" y="1237869"/>
                  </a:cubicBezTo>
                  <a:close/>
                </a:path>
              </a:pathLst>
            </a:custGeom>
            <a:solidFill>
              <a:srgbClr val="0B74BA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2488" y="904875"/>
            <a:ext cx="8635459" cy="84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Modular Project Structure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3919" y="1901577"/>
            <a:ext cx="1480705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76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Clean separation of concerns across three architectural layers ensures maintainability, scalability, and efficient code organization.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8444" y="3272432"/>
            <a:ext cx="3491805" cy="52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3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UI Layer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9124" y="4123135"/>
            <a:ext cx="4943326" cy="290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01" lvl="1" indent="-315751" algn="l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index.html</a:t>
            </a:r>
          </a:p>
          <a:p>
            <a:pPr marL="631501" lvl="1" indent="-315751" algn="l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style.css </a:t>
            </a:r>
          </a:p>
          <a:p>
            <a:pPr marL="631501" lvl="1" indent="-315751" algn="l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dom.js </a:t>
            </a:r>
          </a:p>
          <a:p>
            <a:pPr marL="631501" lvl="1" indent="-315751" algn="l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graphDrawing.js </a:t>
            </a:r>
          </a:p>
          <a:p>
            <a:pPr marL="631501" lvl="1" indent="-315751" algn="l">
              <a:lnSpc>
                <a:spcPts val="4724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modal.js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93681" y="3272432"/>
            <a:ext cx="3491805" cy="52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3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Logic Layer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93681" y="4123135"/>
            <a:ext cx="4943326" cy="231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01" lvl="1" indent="-315751" algn="l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state.js</a:t>
            </a:r>
          </a:p>
          <a:p>
            <a:pPr marL="631501" lvl="1" indent="-315751" algn="l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interactions.js</a:t>
            </a:r>
          </a:p>
          <a:p>
            <a:pPr marL="631501" lvl="1" indent="-315751" algn="l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graphGeneration.js</a:t>
            </a:r>
          </a:p>
          <a:p>
            <a:pPr marL="631501" lvl="1" indent="-315751" algn="l">
              <a:lnSpc>
                <a:spcPts val="4724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utils.js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68919" y="3272432"/>
            <a:ext cx="3491805" cy="52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3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Algorithm Layer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26814" y="4123135"/>
            <a:ext cx="4943475" cy="113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01" lvl="1" indent="-315751" algn="l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algorithms.js</a:t>
            </a:r>
          </a:p>
          <a:p>
            <a:pPr marL="631501" lvl="1" indent="-315751" algn="l">
              <a:lnSpc>
                <a:spcPts val="4724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uiControls.js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18444" y="8536930"/>
            <a:ext cx="3604618" cy="45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Separation of Concerns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82382" y="8536930"/>
            <a:ext cx="3491805" cy="45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Maintainable Code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46322" y="8536930"/>
            <a:ext cx="3491805" cy="45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Scalable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35200" y="9789056"/>
            <a:ext cx="920808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Group No. 7 		3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68532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id="4" name="Freeform 4"/>
          <p:cNvSpPr/>
          <p:nvPr/>
        </p:nvSpPr>
        <p:spPr>
          <a:xfrm rot="3998324">
            <a:off x="8132677" y="6983959"/>
            <a:ext cx="3270792" cy="4318716"/>
          </a:xfrm>
          <a:custGeom>
            <a:avLst/>
            <a:gdLst/>
            <a:ahLst/>
            <a:cxnLst/>
            <a:rect l="l" t="t" r="r" b="b"/>
            <a:pathLst>
              <a:path w="3270792" h="4318716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695503">
            <a:off x="-667352" y="-1248037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-1254807"/>
            <a:ext cx="7450187" cy="11175281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50237" y="2799309"/>
            <a:ext cx="4580930" cy="38100"/>
            <a:chOff x="0" y="0"/>
            <a:chExt cx="6107907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07938" cy="50800"/>
            </a:xfrm>
            <a:custGeom>
              <a:avLst/>
              <a:gdLst/>
              <a:ahLst/>
              <a:cxnLst/>
              <a:rect l="l" t="t" r="r" b="b"/>
              <a:pathLst>
                <a:path w="6107938" h="50800">
                  <a:moveTo>
                    <a:pt x="0" y="0"/>
                  </a:moveTo>
                  <a:lnTo>
                    <a:pt x="6107938" y="0"/>
                  </a:lnTo>
                  <a:lnTo>
                    <a:pt x="6107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15E8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714685" y="2799309"/>
            <a:ext cx="4581079" cy="38100"/>
            <a:chOff x="0" y="0"/>
            <a:chExt cx="6108105" cy="50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08065" cy="50800"/>
            </a:xfrm>
            <a:custGeom>
              <a:avLst/>
              <a:gdLst/>
              <a:ahLst/>
              <a:cxnLst/>
              <a:rect l="l" t="t" r="r" b="b"/>
              <a:pathLst>
                <a:path w="6108065" h="50800">
                  <a:moveTo>
                    <a:pt x="0" y="0"/>
                  </a:moveTo>
                  <a:lnTo>
                    <a:pt x="6108065" y="0"/>
                  </a:lnTo>
                  <a:lnTo>
                    <a:pt x="6108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15E8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991922" y="7044333"/>
            <a:ext cx="9445526" cy="38100"/>
            <a:chOff x="0" y="0"/>
            <a:chExt cx="12594035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94082" cy="50800"/>
            </a:xfrm>
            <a:custGeom>
              <a:avLst/>
              <a:gdLst/>
              <a:ahLst/>
              <a:cxnLst/>
              <a:rect l="l" t="t" r="r" b="b"/>
              <a:pathLst>
                <a:path w="12594082" h="50800">
                  <a:moveTo>
                    <a:pt x="0" y="0"/>
                  </a:moveTo>
                  <a:lnTo>
                    <a:pt x="12594082" y="0"/>
                  </a:lnTo>
                  <a:lnTo>
                    <a:pt x="1259408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15E87"/>
            </a:solidFill>
          </p:spPr>
        </p:sp>
      </p:grpSp>
      <p:sp>
        <p:nvSpPr>
          <p:cNvPr id="14" name="Freeform 14"/>
          <p:cNvSpPr/>
          <p:nvPr/>
        </p:nvSpPr>
        <p:spPr>
          <a:xfrm rot="4229768">
            <a:off x="110895" y="4288800"/>
            <a:ext cx="1075497" cy="995324"/>
          </a:xfrm>
          <a:custGeom>
            <a:avLst/>
            <a:gdLst/>
            <a:ahLst/>
            <a:cxnLst/>
            <a:rect l="l" t="t" r="r" b="b"/>
            <a:pathLst>
              <a:path w="1075497" h="995324">
                <a:moveTo>
                  <a:pt x="0" y="0"/>
                </a:moveTo>
                <a:lnTo>
                  <a:pt x="1075498" y="0"/>
                </a:lnTo>
                <a:lnTo>
                  <a:pt x="1075498" y="995324"/>
                </a:lnTo>
                <a:lnTo>
                  <a:pt x="0" y="9953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3471976" flipH="1" flipV="1">
            <a:off x="11646919" y="-2755363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5780944" y="7633090"/>
                </a:moveTo>
                <a:lnTo>
                  <a:pt x="0" y="7633090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50237" y="961876"/>
            <a:ext cx="7724835" cy="91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1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User Interaction Flow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922" y="2269777"/>
            <a:ext cx="553862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922" y="2998142"/>
            <a:ext cx="3721299" cy="48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Create Graph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1922" y="3557141"/>
            <a:ext cx="4580930" cy="2363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Choose between random generation (select node count and density) or interactive mode (drag nodes to connect and set edge weights).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14685" y="2269777"/>
            <a:ext cx="418690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14685" y="2998142"/>
            <a:ext cx="3721299" cy="48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Select Algorithm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14685" y="3557141"/>
            <a:ext cx="4581079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Pick Kruskal's or Prim's algorithm. For Prim's, specify your source vertex to begin tree construction.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91922" y="6514803"/>
            <a:ext cx="553862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91922" y="7243168"/>
            <a:ext cx="3721299" cy="48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Visualize Execution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91922" y="7802165"/>
            <a:ext cx="9445526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Run the algorithm step-by-step with pause/resume control. Monitor real-time metrics, edge selections, and tree growth as the algorithm progresses.</a:t>
            </a:r>
          </a:p>
        </p:txBody>
      </p:sp>
      <p:sp>
        <p:nvSpPr>
          <p:cNvPr id="26" name="Freeform 26"/>
          <p:cNvSpPr/>
          <p:nvPr/>
        </p:nvSpPr>
        <p:spPr>
          <a:xfrm rot="6286086" flipV="1">
            <a:off x="6636319" y="6967864"/>
            <a:ext cx="1075497" cy="995324"/>
          </a:xfrm>
          <a:custGeom>
            <a:avLst/>
            <a:gdLst/>
            <a:ahLst/>
            <a:cxnLst/>
            <a:rect l="l" t="t" r="r" b="b"/>
            <a:pathLst>
              <a:path w="1075497" h="995324">
                <a:moveTo>
                  <a:pt x="0" y="995324"/>
                </a:moveTo>
                <a:lnTo>
                  <a:pt x="1075497" y="995324"/>
                </a:lnTo>
                <a:lnTo>
                  <a:pt x="1075497" y="0"/>
                </a:lnTo>
                <a:lnTo>
                  <a:pt x="0" y="0"/>
                </a:lnTo>
                <a:lnTo>
                  <a:pt x="0" y="99532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6"/>
          <p:cNvSpPr txBox="1"/>
          <p:nvPr/>
        </p:nvSpPr>
        <p:spPr>
          <a:xfrm>
            <a:off x="14935200" y="9789056"/>
            <a:ext cx="920808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Group No. 7 		</a:t>
            </a:r>
            <a:r>
              <a:rPr lang="en-US" sz="2400" dirty="0"/>
              <a:t>4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97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id="4" name="Freeform 4"/>
          <p:cNvSpPr/>
          <p:nvPr/>
        </p:nvSpPr>
        <p:spPr>
          <a:xfrm rot="3998324">
            <a:off x="8132677" y="6983959"/>
            <a:ext cx="3270792" cy="4318716"/>
          </a:xfrm>
          <a:custGeom>
            <a:avLst/>
            <a:gdLst/>
            <a:ahLst/>
            <a:cxnLst/>
            <a:rect l="l" t="t" r="r" b="b"/>
            <a:pathLst>
              <a:path w="3270792" h="4318716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695503">
            <a:off x="-667352" y="-1248037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7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965" r="-3661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415334" y="2444800"/>
            <a:ext cx="4014666" cy="3121863"/>
            <a:chOff x="0" y="0"/>
            <a:chExt cx="4866680" cy="37844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66767" cy="3784473"/>
            </a:xfrm>
            <a:custGeom>
              <a:avLst/>
              <a:gdLst/>
              <a:ahLst/>
              <a:cxnLst/>
              <a:rect l="l" t="t" r="r" b="b"/>
              <a:pathLst>
                <a:path w="4866767" h="3784473">
                  <a:moveTo>
                    <a:pt x="0" y="43307"/>
                  </a:moveTo>
                  <a:cubicBezTo>
                    <a:pt x="0" y="19304"/>
                    <a:pt x="19304" y="0"/>
                    <a:pt x="43307" y="0"/>
                  </a:cubicBezTo>
                  <a:lnTo>
                    <a:pt x="4823460" y="0"/>
                  </a:lnTo>
                  <a:cubicBezTo>
                    <a:pt x="4847336" y="0"/>
                    <a:pt x="4866767" y="19304"/>
                    <a:pt x="4866767" y="43307"/>
                  </a:cubicBezTo>
                  <a:lnTo>
                    <a:pt x="4866767" y="3741166"/>
                  </a:lnTo>
                  <a:cubicBezTo>
                    <a:pt x="4866767" y="3765042"/>
                    <a:pt x="4847463" y="3784473"/>
                    <a:pt x="4823460" y="3784473"/>
                  </a:cubicBezTo>
                  <a:lnTo>
                    <a:pt x="43307" y="3784473"/>
                  </a:lnTo>
                  <a:cubicBezTo>
                    <a:pt x="19431" y="3784473"/>
                    <a:pt x="0" y="3765169"/>
                    <a:pt x="0" y="3741166"/>
                  </a:cubicBezTo>
                  <a:close/>
                </a:path>
              </a:pathLst>
            </a:custGeom>
            <a:solidFill>
              <a:srgbClr val="A2C7E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415334" y="5834144"/>
            <a:ext cx="4014666" cy="3207314"/>
            <a:chOff x="0" y="0"/>
            <a:chExt cx="4866680" cy="38879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66640" cy="3887978"/>
            </a:xfrm>
            <a:custGeom>
              <a:avLst/>
              <a:gdLst/>
              <a:ahLst/>
              <a:cxnLst/>
              <a:rect l="l" t="t" r="r" b="b"/>
              <a:pathLst>
                <a:path w="4866640" h="3887978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4823460" y="0"/>
                  </a:lnTo>
                  <a:cubicBezTo>
                    <a:pt x="4847336" y="0"/>
                    <a:pt x="4866640" y="19304"/>
                    <a:pt x="4866640" y="43180"/>
                  </a:cubicBezTo>
                  <a:lnTo>
                    <a:pt x="4866640" y="3844798"/>
                  </a:lnTo>
                  <a:cubicBezTo>
                    <a:pt x="4866640" y="3868674"/>
                    <a:pt x="4847336" y="3887978"/>
                    <a:pt x="4823460" y="3887978"/>
                  </a:cubicBezTo>
                  <a:lnTo>
                    <a:pt x="43180" y="3887978"/>
                  </a:lnTo>
                  <a:cubicBezTo>
                    <a:pt x="19304" y="3887978"/>
                    <a:pt x="0" y="3868674"/>
                    <a:pt x="0" y="3844798"/>
                  </a:cubicBezTo>
                  <a:close/>
                </a:path>
              </a:pathLst>
            </a:custGeom>
            <a:solidFill>
              <a:srgbClr val="A2C7E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756791" y="873394"/>
            <a:ext cx="7062639" cy="88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6"/>
              </a:lnSpc>
            </a:pPr>
            <a:r>
              <a:rPr lang="en-US" sz="5637" b="1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Kruskal's Algorithm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19430" y="2743757"/>
            <a:ext cx="2944040" cy="80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06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Union-Find Data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19430" y="3683577"/>
            <a:ext cx="3372883" cy="7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0084" lvl="1" indent="-155042" algn="l">
              <a:lnSpc>
                <a:spcPts val="3274"/>
              </a:lnSpc>
              <a:buFont typeface="Arial"/>
              <a:buChar char="•"/>
            </a:pPr>
            <a:r>
              <a:rPr lang="en-US" sz="205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find(x):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Locates set with path compression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19430" y="4441477"/>
            <a:ext cx="2911513" cy="7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0084" lvl="1" indent="-155042" algn="l">
              <a:lnSpc>
                <a:spcPts val="3274"/>
              </a:lnSpc>
              <a:buFont typeface="Arial"/>
              <a:buChar char="•"/>
            </a:pPr>
            <a:r>
              <a:rPr lang="en-US" sz="205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union(a,b):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Connects two disjoint sets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95313" y="6112203"/>
            <a:ext cx="3497000" cy="38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6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Complexity Analysis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95313" y="6592212"/>
            <a:ext cx="2911513" cy="38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909" lvl="1" indent="-221955" algn="l">
              <a:lnSpc>
                <a:spcPts val="3274"/>
              </a:lnSpc>
              <a:buFont typeface="Arial"/>
              <a:buChar char="•"/>
            </a:pPr>
            <a:r>
              <a:rPr lang="en-US" sz="205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Time: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O(E log E)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88243" y="6976907"/>
            <a:ext cx="2911513" cy="38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909" lvl="1" indent="-221955" algn="l">
              <a:lnSpc>
                <a:spcPts val="3274"/>
              </a:lnSpc>
              <a:buFont typeface="Arial"/>
              <a:buChar char="•"/>
            </a:pPr>
            <a:r>
              <a:rPr lang="en-US" sz="205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Space: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O(V)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65720" y="7361601"/>
            <a:ext cx="3097750" cy="120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909" lvl="1" indent="-221955" algn="l">
              <a:lnSpc>
                <a:spcPts val="3274"/>
              </a:lnSpc>
              <a:buFont typeface="Arial"/>
              <a:buChar char="•"/>
            </a:pPr>
            <a:r>
              <a:rPr lang="en-US" sz="205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Best For: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Sparse graphs with fewer edges</a:t>
            </a:r>
          </a:p>
        </p:txBody>
      </p:sp>
      <p:sp>
        <p:nvSpPr>
          <p:cNvPr id="31" name="TextBox 9"/>
          <p:cNvSpPr txBox="1"/>
          <p:nvPr/>
        </p:nvSpPr>
        <p:spPr>
          <a:xfrm>
            <a:off x="729309" y="2016898"/>
            <a:ext cx="353561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10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Algorithm Approach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32" name="TextBox 10"/>
          <p:cNvSpPr txBox="1"/>
          <p:nvPr/>
        </p:nvSpPr>
        <p:spPr>
          <a:xfrm>
            <a:off x="756791" y="2628900"/>
            <a:ext cx="639610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Edge-based greedy algorithm that builds MST by selecting edges in ascending order of weight.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" name="TextBox 9"/>
          <p:cNvSpPr txBox="1"/>
          <p:nvPr/>
        </p:nvSpPr>
        <p:spPr>
          <a:xfrm>
            <a:off x="818986" y="3625462"/>
            <a:ext cx="3535613" cy="498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95"/>
              </a:lnSpc>
            </a:pPr>
            <a:r>
              <a:rPr lang="en-US" sz="2800" b="1" dirty="0">
                <a:latin typeface="PT Serif Bold" panose="020B0604020202020204" charset="0"/>
              </a:rPr>
              <a:t>Algorithm Steps:</a:t>
            </a:r>
            <a:endParaRPr lang="en-US" sz="2710" b="1" dirty="0">
              <a:solidFill>
                <a:srgbClr val="020202"/>
              </a:solidFill>
              <a:latin typeface="PT Serif Bold" panose="020B0604020202020204" charset="0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36" name="TextBox 10"/>
          <p:cNvSpPr txBox="1"/>
          <p:nvPr/>
        </p:nvSpPr>
        <p:spPr>
          <a:xfrm>
            <a:off x="846468" y="4237464"/>
            <a:ext cx="6396109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 smtClean="0"/>
              <a:t>Sort </a:t>
            </a:r>
            <a:r>
              <a:rPr lang="en-US" sz="2400" dirty="0"/>
              <a:t>all edges by weight: O(E log E) </a:t>
            </a:r>
            <a:endParaRPr lang="en-US" sz="2400" dirty="0" smtClean="0"/>
          </a:p>
          <a:p>
            <a:pPr marL="457200" indent="-457200">
              <a:buAutoNum type="arabicPeriod"/>
            </a:pPr>
            <a:r>
              <a:rPr lang="en-US" sz="2400" dirty="0" smtClean="0"/>
              <a:t>Initialize </a:t>
            </a:r>
            <a:r>
              <a:rPr lang="en-US" sz="2400" dirty="0"/>
              <a:t>parent array (each node is its own </a:t>
            </a:r>
            <a:r>
              <a:rPr lang="en-US" sz="2400" dirty="0" smtClean="0"/>
              <a:t>parent)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For </a:t>
            </a:r>
            <a:r>
              <a:rPr lang="en-US" sz="2400" dirty="0"/>
              <a:t>each edge (u, v, weight):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a</a:t>
            </a:r>
            <a:r>
              <a:rPr lang="en-US" sz="2400" dirty="0"/>
              <a:t>. If find(u) ≠ find(v):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	• </a:t>
            </a:r>
            <a:r>
              <a:rPr lang="en-US" sz="2400" dirty="0"/>
              <a:t>Add edge to MST (mark GREEN)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	• </a:t>
            </a:r>
            <a:r>
              <a:rPr lang="en-US" sz="2400" dirty="0"/>
              <a:t>union(u, v)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b</a:t>
            </a:r>
            <a:r>
              <a:rPr lang="en-US" sz="2400" dirty="0"/>
              <a:t>. Else: </a:t>
            </a:r>
            <a:endParaRPr lang="en-US" sz="2400" dirty="0" smtClean="0"/>
          </a:p>
          <a:p>
            <a:pPr lvl="1"/>
            <a:r>
              <a:rPr lang="en-US" sz="2400" dirty="0"/>
              <a:t>		</a:t>
            </a:r>
            <a:r>
              <a:rPr lang="en-US" sz="2400" dirty="0" smtClean="0"/>
              <a:t>• </a:t>
            </a:r>
            <a:r>
              <a:rPr lang="en-US" sz="2400" dirty="0"/>
              <a:t>Skip edge - creates cycle (mark RED) </a:t>
            </a:r>
          </a:p>
          <a:p>
            <a:pPr lvl="1"/>
            <a:r>
              <a:rPr lang="en-US" sz="2400" dirty="0" smtClean="0"/>
              <a:t>4. Stop </a:t>
            </a:r>
            <a:r>
              <a:rPr lang="en-US" sz="2400" dirty="0"/>
              <a:t>when MST has (V-1) edges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935200" y="9789056"/>
            <a:ext cx="920808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Group No. 7 		</a:t>
            </a:r>
            <a:r>
              <a:rPr lang="en-US" sz="2400" dirty="0"/>
              <a:t>5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 rot="3998324">
            <a:off x="8132677" y="6983959"/>
            <a:ext cx="3270792" cy="4318716"/>
          </a:xfrm>
          <a:custGeom>
            <a:avLst/>
            <a:gdLst/>
            <a:ahLst/>
            <a:cxnLst/>
            <a:rect l="l" t="t" r="r" b="b"/>
            <a:pathLst>
              <a:path w="3270792" h="4318716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695503">
            <a:off x="-667352" y="-1248037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7802" r="-527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492020" y="2041475"/>
            <a:ext cx="3934405" cy="3417391"/>
            <a:chOff x="0" y="0"/>
            <a:chExt cx="5245873" cy="45565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45904" cy="4556505"/>
            </a:xfrm>
            <a:custGeom>
              <a:avLst/>
              <a:gdLst/>
              <a:ahLst/>
              <a:cxnLst/>
              <a:rect l="l" t="t" r="r" b="b"/>
              <a:pathLst>
                <a:path w="5245904" h="4556505">
                  <a:moveTo>
                    <a:pt x="0" y="45320"/>
                  </a:moveTo>
                  <a:cubicBezTo>
                    <a:pt x="0" y="20249"/>
                    <a:pt x="19955" y="0"/>
                    <a:pt x="44662" y="0"/>
                  </a:cubicBezTo>
                  <a:lnTo>
                    <a:pt x="5201245" y="0"/>
                  </a:lnTo>
                  <a:cubicBezTo>
                    <a:pt x="5225951" y="0"/>
                    <a:pt x="5245904" y="20249"/>
                    <a:pt x="5245904" y="45320"/>
                  </a:cubicBezTo>
                  <a:lnTo>
                    <a:pt x="5245904" y="4511185"/>
                  </a:lnTo>
                  <a:cubicBezTo>
                    <a:pt x="5245904" y="4536256"/>
                    <a:pt x="5225951" y="4556505"/>
                    <a:pt x="5201245" y="4556505"/>
                  </a:cubicBezTo>
                  <a:lnTo>
                    <a:pt x="44662" y="4556505"/>
                  </a:lnTo>
                  <a:cubicBezTo>
                    <a:pt x="19955" y="4556505"/>
                    <a:pt x="0" y="4536256"/>
                    <a:pt x="0" y="4511185"/>
                  </a:cubicBezTo>
                  <a:close/>
                </a:path>
              </a:pathLst>
            </a:custGeom>
            <a:solidFill>
              <a:srgbClr val="A2C7E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492020" y="5668416"/>
            <a:ext cx="3934405" cy="2818359"/>
            <a:chOff x="0" y="0"/>
            <a:chExt cx="5245873" cy="37578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45904" cy="3757803"/>
            </a:xfrm>
            <a:custGeom>
              <a:avLst/>
              <a:gdLst/>
              <a:ahLst/>
              <a:cxnLst/>
              <a:rect l="l" t="t" r="r" b="b"/>
              <a:pathLst>
                <a:path w="5245904" h="3757803">
                  <a:moveTo>
                    <a:pt x="0" y="41783"/>
                  </a:moveTo>
                  <a:cubicBezTo>
                    <a:pt x="0" y="18669"/>
                    <a:pt x="19955" y="0"/>
                    <a:pt x="44662" y="0"/>
                  </a:cubicBezTo>
                  <a:lnTo>
                    <a:pt x="5201245" y="0"/>
                  </a:lnTo>
                  <a:cubicBezTo>
                    <a:pt x="5225951" y="0"/>
                    <a:pt x="5245904" y="18669"/>
                    <a:pt x="5245904" y="41783"/>
                  </a:cubicBezTo>
                  <a:lnTo>
                    <a:pt x="5245904" y="3716020"/>
                  </a:lnTo>
                  <a:cubicBezTo>
                    <a:pt x="5245904" y="3739134"/>
                    <a:pt x="5225951" y="3757803"/>
                    <a:pt x="5201245" y="3757803"/>
                  </a:cubicBezTo>
                  <a:lnTo>
                    <a:pt x="44662" y="3757803"/>
                  </a:lnTo>
                  <a:cubicBezTo>
                    <a:pt x="19955" y="3757803"/>
                    <a:pt x="0" y="3739134"/>
                    <a:pt x="0" y="3716020"/>
                  </a:cubicBezTo>
                  <a:close/>
                </a:path>
              </a:pathLst>
            </a:custGeom>
            <a:solidFill>
              <a:srgbClr val="A2C7EF"/>
            </a:solidFill>
          </p:spPr>
        </p:sp>
      </p:grpSp>
      <p:sp>
        <p:nvSpPr>
          <p:cNvPr id="14" name="Freeform 14"/>
          <p:cNvSpPr/>
          <p:nvPr/>
        </p:nvSpPr>
        <p:spPr>
          <a:xfrm rot="3471976" flipH="1" flipV="1">
            <a:off x="11075260" y="-3473120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5780944" y="7633091"/>
                </a:moveTo>
                <a:lnTo>
                  <a:pt x="0" y="7633091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858000" y="1000125"/>
            <a:ext cx="6056971" cy="88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9"/>
              </a:lnSpc>
            </a:pPr>
            <a:r>
              <a:rPr lang="en-US" sz="5640" b="1" dirty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Prim's Algorithm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965732" y="2330664"/>
            <a:ext cx="2986982" cy="835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10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Priority Queue Structure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65732" y="3326010"/>
            <a:ext cx="271105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0674" lvl="1" indent="-155337" algn="l">
              <a:lnSpc>
                <a:spcPts val="2472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Maintains available edges efficiently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65732" y="4067621"/>
            <a:ext cx="308461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0674" lvl="1" indent="-155337" algn="l">
              <a:lnSpc>
                <a:spcPts val="2472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Sorted by edge weight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65732" y="4474964"/>
            <a:ext cx="271105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0674" lvl="1" indent="-155337" algn="l">
              <a:lnSpc>
                <a:spcPts val="2472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Enables quick minimum selection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65732" y="6001791"/>
            <a:ext cx="2711054" cy="31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Complexity Analysis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51432" y="6420742"/>
            <a:ext cx="2711054" cy="39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4755" lvl="1" indent="-222377" algn="l">
              <a:lnSpc>
                <a:spcPts val="3327"/>
              </a:lnSpc>
              <a:buFont typeface="Arial"/>
              <a:buChar char="•"/>
            </a:pPr>
            <a:r>
              <a:rPr lang="en-US" sz="206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Time:</a:t>
            </a: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O(E log V)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841907" y="6835944"/>
            <a:ext cx="2711054" cy="39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4755" lvl="1" indent="-222377" algn="l">
              <a:lnSpc>
                <a:spcPts val="3327"/>
              </a:lnSpc>
              <a:buFont typeface="Arial"/>
              <a:buChar char="•"/>
            </a:pPr>
            <a:r>
              <a:rPr lang="en-US" sz="206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Space:</a:t>
            </a: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O(V)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841907" y="7251146"/>
            <a:ext cx="3417393" cy="81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4755" lvl="1" indent="-222377" algn="l">
              <a:lnSpc>
                <a:spcPts val="3327"/>
              </a:lnSpc>
              <a:buFont typeface="Arial"/>
              <a:buChar char="•"/>
            </a:pPr>
            <a:r>
              <a:rPr lang="en-US" sz="206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Best For:</a:t>
            </a: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Dense graphs with many edges</a:t>
            </a:r>
          </a:p>
        </p:txBody>
      </p:sp>
      <p:sp>
        <p:nvSpPr>
          <p:cNvPr id="33" name="TextBox 9"/>
          <p:cNvSpPr txBox="1"/>
          <p:nvPr/>
        </p:nvSpPr>
        <p:spPr>
          <a:xfrm>
            <a:off x="6477000" y="2136883"/>
            <a:ext cx="353561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10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Algorithm Approach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6504482" y="2781300"/>
            <a:ext cx="6396109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Vertex-based greedy algorithm that grows MST from a source vertex by selecting minimum weight edges to unvisited vertices.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" name="TextBox 9"/>
          <p:cNvSpPr txBox="1"/>
          <p:nvPr/>
        </p:nvSpPr>
        <p:spPr>
          <a:xfrm>
            <a:off x="6566677" y="4251775"/>
            <a:ext cx="3535613" cy="498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95"/>
              </a:lnSpc>
            </a:pPr>
            <a:r>
              <a:rPr lang="en-US" sz="2800" b="1" dirty="0">
                <a:latin typeface="PT Serif Bold" panose="020B0604020202020204" charset="0"/>
              </a:rPr>
              <a:t>Algorithm Steps:</a:t>
            </a:r>
            <a:endParaRPr lang="en-US" sz="2710" b="1" dirty="0">
              <a:solidFill>
                <a:srgbClr val="020202"/>
              </a:solidFill>
              <a:latin typeface="PT Serif Bold" panose="020B0604020202020204" charset="0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36" name="TextBox 10"/>
          <p:cNvSpPr txBox="1"/>
          <p:nvPr/>
        </p:nvSpPr>
        <p:spPr>
          <a:xfrm>
            <a:off x="6594159" y="4902517"/>
            <a:ext cx="6396109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 smtClean="0"/>
              <a:t>Select </a:t>
            </a:r>
            <a:r>
              <a:rPr lang="en-US" sz="2400" dirty="0"/>
              <a:t>source vertex, add to visited set </a:t>
            </a:r>
            <a:endParaRPr lang="en-US" sz="2400" dirty="0" smtClean="0"/>
          </a:p>
          <a:p>
            <a:pPr marL="457200" indent="-457200">
              <a:buAutoNum type="arabicPeriod"/>
            </a:pPr>
            <a:r>
              <a:rPr lang="en-US" sz="2400" dirty="0" smtClean="0"/>
              <a:t>Add </a:t>
            </a:r>
            <a:r>
              <a:rPr lang="en-US" sz="2400" dirty="0"/>
              <a:t>all edges from source to </a:t>
            </a:r>
            <a:r>
              <a:rPr lang="en-US" sz="2400" dirty="0" err="1"/>
              <a:t>edgesAvailable</a:t>
            </a:r>
            <a:r>
              <a:rPr lang="en-US" sz="2400" dirty="0"/>
              <a:t> </a:t>
            </a:r>
            <a:endParaRPr lang="en-US" sz="2400" dirty="0" smtClean="0"/>
          </a:p>
          <a:p>
            <a:pPr marL="457200" indent="-457200">
              <a:buAutoNum type="arabicPeriod"/>
            </a:pPr>
            <a:r>
              <a:rPr lang="en-US" sz="2400" dirty="0" smtClean="0"/>
              <a:t>While </a:t>
            </a:r>
            <a:r>
              <a:rPr lang="en-US" sz="2400" dirty="0" err="1"/>
              <a:t>visited.size</a:t>
            </a:r>
            <a:r>
              <a:rPr lang="en-US" sz="2400" dirty="0"/>
              <a:t> &lt; V: </a:t>
            </a:r>
            <a:endParaRPr lang="en-US" sz="2400" dirty="0" smtClean="0"/>
          </a:p>
          <a:p>
            <a:pPr lvl="1"/>
            <a:r>
              <a:rPr lang="en-US" sz="2400" dirty="0" smtClean="0"/>
              <a:t>	a</a:t>
            </a:r>
            <a:r>
              <a:rPr lang="en-US" sz="2400" dirty="0"/>
              <a:t>. Sort </a:t>
            </a:r>
            <a:r>
              <a:rPr lang="en-US" sz="2400" dirty="0" err="1"/>
              <a:t>edgesAvailable</a:t>
            </a:r>
            <a:r>
              <a:rPr lang="en-US" sz="2400" dirty="0"/>
              <a:t> by weight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b</a:t>
            </a:r>
            <a:r>
              <a:rPr lang="en-US" sz="2400" dirty="0"/>
              <a:t>. Extract minimum edge (u, v)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c</a:t>
            </a:r>
            <a:r>
              <a:rPr lang="en-US" sz="2400" dirty="0"/>
              <a:t>. If both </a:t>
            </a:r>
            <a:r>
              <a:rPr lang="en-US" sz="2400" dirty="0" err="1"/>
              <a:t>u,v</a:t>
            </a:r>
            <a:r>
              <a:rPr lang="en-US" sz="2400" dirty="0"/>
              <a:t> in visited: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	• </a:t>
            </a:r>
            <a:r>
              <a:rPr lang="en-US" sz="2400" dirty="0"/>
              <a:t>Skip edge (mark RED)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d</a:t>
            </a:r>
            <a:r>
              <a:rPr lang="en-US" sz="2400" dirty="0"/>
              <a:t>. Else: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	• </a:t>
            </a:r>
            <a:r>
              <a:rPr lang="en-US" sz="2400" dirty="0"/>
              <a:t>Add edge to MST (mark GREEN)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	• </a:t>
            </a:r>
            <a:r>
              <a:rPr lang="en-US" sz="2400" dirty="0"/>
              <a:t>Add new vertex to visited </a:t>
            </a:r>
            <a:endParaRPr lang="en-US" sz="2400" dirty="0" smtClean="0"/>
          </a:p>
          <a:p>
            <a:pPr lvl="1"/>
            <a:r>
              <a:rPr lang="en-US" sz="2400" dirty="0"/>
              <a:t>	</a:t>
            </a:r>
            <a:r>
              <a:rPr lang="en-US" sz="2400" dirty="0" smtClean="0"/>
              <a:t>	• </a:t>
            </a:r>
            <a:r>
              <a:rPr lang="en-US" sz="2400" dirty="0"/>
              <a:t>Add its edges to </a:t>
            </a:r>
            <a:r>
              <a:rPr lang="en-US" sz="2400" dirty="0" err="1"/>
              <a:t>edgesAvailable</a:t>
            </a:r>
            <a:r>
              <a:rPr lang="en-US" sz="2400" dirty="0"/>
              <a:t> </a:t>
            </a:r>
            <a:endParaRPr lang="en-US" sz="2400" dirty="0" smtClean="0"/>
          </a:p>
          <a:p>
            <a:pPr lvl="1"/>
            <a:r>
              <a:rPr lang="en-US" sz="2400" dirty="0" smtClean="0"/>
              <a:t>4</a:t>
            </a:r>
            <a:r>
              <a:rPr lang="en-US" sz="2400" dirty="0"/>
              <a:t>. MST complete when all vertices visited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935200" y="9789056"/>
            <a:ext cx="920808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Group No. 7 		</a:t>
            </a:r>
            <a:r>
              <a:rPr lang="en-US" sz="2400" dirty="0"/>
              <a:t>6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3471976" flipH="1" flipV="1">
            <a:off x="11646919" y="-2755363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5780944" y="7633090"/>
                </a:moveTo>
                <a:lnTo>
                  <a:pt x="0" y="7633090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695503">
            <a:off x="-667352" y="-1248037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3998324">
            <a:off x="8132677" y="6983959"/>
            <a:ext cx="3270792" cy="4318716"/>
          </a:xfrm>
          <a:custGeom>
            <a:avLst/>
            <a:gdLst/>
            <a:ahLst/>
            <a:cxnLst/>
            <a:rect l="l" t="t" r="r" b="b"/>
            <a:pathLst>
              <a:path w="3270792" h="4318716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52488" y="904875"/>
            <a:ext cx="9434512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12"/>
              </a:lnSpc>
            </a:pPr>
            <a:r>
              <a:rPr lang="en-US" sz="5640" b="1" dirty="0">
                <a:latin typeface="PT Serif Bold" panose="020B0604020202020204" charset="0"/>
              </a:rPr>
              <a:t>USER INTERFACE DESIGN</a:t>
            </a:r>
            <a:endParaRPr lang="en-US" sz="5640" b="1" dirty="0">
              <a:solidFill>
                <a:srgbClr val="020202"/>
              </a:solidFill>
              <a:latin typeface="PT Serif Bold" panose="020B0604020202020204" charset="0"/>
              <a:ea typeface="PT Serif Bold"/>
              <a:cs typeface="PT Serif Bold"/>
              <a:sym typeface="PT Serif Bold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685800" y="1904730"/>
            <a:ext cx="7705305" cy="4991370"/>
            <a:chOff x="852489" y="3009900"/>
            <a:chExt cx="7705305" cy="4991370"/>
          </a:xfrm>
        </p:grpSpPr>
        <p:grpSp>
          <p:nvGrpSpPr>
            <p:cNvPr id="14" name="Group 14"/>
            <p:cNvGrpSpPr/>
            <p:nvPr/>
          </p:nvGrpSpPr>
          <p:grpSpPr>
            <a:xfrm>
              <a:off x="4343400" y="3086100"/>
              <a:ext cx="28575" cy="1808857"/>
              <a:chOff x="0" y="0"/>
              <a:chExt cx="38100" cy="241181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8100" cy="241185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411857">
                    <a:moveTo>
                      <a:pt x="0" y="19050"/>
                    </a:moveTo>
                    <a:cubicBezTo>
                      <a:pt x="0" y="8509"/>
                      <a:pt x="8509" y="0"/>
                      <a:pt x="19050" y="0"/>
                    </a:cubicBezTo>
                    <a:cubicBezTo>
                      <a:pt x="29591" y="0"/>
                      <a:pt x="38100" y="8509"/>
                      <a:pt x="38100" y="19050"/>
                    </a:cubicBezTo>
                    <a:lnTo>
                      <a:pt x="38100" y="2392807"/>
                    </a:lnTo>
                    <a:cubicBezTo>
                      <a:pt x="38100" y="2403348"/>
                      <a:pt x="29591" y="2411857"/>
                      <a:pt x="19050" y="2411857"/>
                    </a:cubicBezTo>
                    <a:cubicBezTo>
                      <a:pt x="8509" y="2411857"/>
                      <a:pt x="0" y="2403348"/>
                      <a:pt x="0" y="2392807"/>
                    </a:cubicBezTo>
                    <a:close/>
                  </a:path>
                </a:pathLst>
              </a:custGeom>
              <a:solidFill>
                <a:srgbClr val="D8D4D4"/>
              </a:solidFill>
            </p:spPr>
          </p:sp>
        </p:grpSp>
        <p:grpSp>
          <p:nvGrpSpPr>
            <p:cNvPr id="42" name="Group 41"/>
            <p:cNvGrpSpPr/>
            <p:nvPr/>
          </p:nvGrpSpPr>
          <p:grpSpPr>
            <a:xfrm>
              <a:off x="852489" y="3009900"/>
              <a:ext cx="7705305" cy="4991370"/>
              <a:chOff x="852489" y="3009900"/>
              <a:chExt cx="7705305" cy="4991370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852489" y="3009900"/>
                <a:ext cx="3490912" cy="4951607"/>
                <a:chOff x="0" y="0"/>
                <a:chExt cx="6944717" cy="6602142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0" y="0"/>
                  <a:ext cx="6944741" cy="6602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4741" h="6602189">
                      <a:moveTo>
                        <a:pt x="0" y="145666"/>
                      </a:moveTo>
                      <a:cubicBezTo>
                        <a:pt x="0" y="65359"/>
                        <a:pt x="22713" y="0"/>
                        <a:pt x="50621" y="0"/>
                      </a:cubicBezTo>
                      <a:lnTo>
                        <a:pt x="6894119" y="0"/>
                      </a:lnTo>
                      <a:cubicBezTo>
                        <a:pt x="6922027" y="0"/>
                        <a:pt x="6944741" y="65359"/>
                        <a:pt x="6944741" y="145666"/>
                      </a:cubicBezTo>
                      <a:lnTo>
                        <a:pt x="6944741" y="6456605"/>
                      </a:lnTo>
                      <a:cubicBezTo>
                        <a:pt x="6944741" y="6536913"/>
                        <a:pt x="6922027" y="6602189"/>
                        <a:pt x="6894119" y="6602189"/>
                      </a:cubicBezTo>
                      <a:lnTo>
                        <a:pt x="50621" y="6602189"/>
                      </a:lnTo>
                      <a:cubicBezTo>
                        <a:pt x="22713" y="6602189"/>
                        <a:pt x="0" y="6536913"/>
                        <a:pt x="0" y="6456605"/>
                      </a:cubicBezTo>
                      <a:close/>
                    </a:path>
                  </a:pathLst>
                </a:custGeom>
                <a:solidFill>
                  <a:srgbClr val="D8EBFA"/>
                </a:solidFill>
              </p:spPr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4748559" y="3049663"/>
                <a:ext cx="3534375" cy="4951607"/>
                <a:chOff x="0" y="0"/>
                <a:chExt cx="7063978" cy="6602142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0" y="0"/>
                  <a:ext cx="7064003" cy="6602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003" h="6602189">
                      <a:moveTo>
                        <a:pt x="0" y="0"/>
                      </a:moveTo>
                      <a:lnTo>
                        <a:pt x="7064003" y="0"/>
                      </a:lnTo>
                      <a:lnTo>
                        <a:pt x="7064003" y="6602189"/>
                      </a:lnTo>
                      <a:lnTo>
                        <a:pt x="0" y="6602189"/>
                      </a:lnTo>
                      <a:close/>
                    </a:path>
                  </a:pathLst>
                </a:custGeom>
                <a:solidFill>
                  <a:srgbClr val="D8EBFA"/>
                </a:solidFill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118444" y="3256805"/>
                <a:ext cx="3491805" cy="52843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254"/>
                  </a:lnSpc>
                </a:pPr>
                <a:r>
                  <a:rPr lang="en-US" sz="3387" dirty="0" smtClean="0">
                    <a:solidFill>
                      <a:srgbClr val="383838"/>
                    </a:solidFill>
                    <a:latin typeface="PT Serif"/>
                    <a:ea typeface="PT Serif"/>
                    <a:cs typeface="PT Serif"/>
                    <a:sym typeface="PT Serif"/>
                  </a:rPr>
                  <a:t>Graph Area</a:t>
                </a:r>
                <a:endParaRPr lang="en-US" sz="3387" dirty="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89124" y="4123135"/>
                <a:ext cx="2885648" cy="301364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31501" lvl="1" indent="-315751" algn="l">
                  <a:lnSpc>
                    <a:spcPts val="4723"/>
                  </a:lnSpc>
                  <a:buFont typeface="Arial"/>
                  <a:buChar char="•"/>
                </a:pPr>
                <a:r>
                  <a:rPr lang="en-US" sz="2924" dirty="0" smtClean="0">
                    <a:solidFill>
                      <a:srgbClr val="38383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Nodes</a:t>
                </a:r>
                <a:endParaRPr lang="en-US" sz="292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631501" lvl="1" indent="-315751" algn="l">
                  <a:lnSpc>
                    <a:spcPts val="4723"/>
                  </a:lnSpc>
                  <a:buFont typeface="Arial"/>
                  <a:buChar char="•"/>
                </a:pPr>
                <a:r>
                  <a:rPr lang="en-US" sz="2924" dirty="0" smtClean="0">
                    <a:solidFill>
                      <a:srgbClr val="38383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Edges</a:t>
                </a:r>
                <a:endParaRPr lang="en-US" sz="292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631501" lvl="1" indent="-315751" algn="l">
                  <a:lnSpc>
                    <a:spcPts val="4723"/>
                  </a:lnSpc>
                  <a:buFont typeface="Arial"/>
                  <a:buChar char="•"/>
                </a:pPr>
                <a:r>
                  <a:rPr lang="en-US" sz="2924" dirty="0" smtClean="0">
                    <a:solidFill>
                      <a:srgbClr val="38383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Weights </a:t>
                </a:r>
                <a:endParaRPr lang="en-US" sz="292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631501" lvl="1" indent="-315751" algn="l">
                  <a:lnSpc>
                    <a:spcPts val="4723"/>
                  </a:lnSpc>
                  <a:buFont typeface="Arial"/>
                  <a:buChar char="•"/>
                </a:pPr>
                <a:r>
                  <a:rPr lang="en-US" sz="2924" dirty="0" smtClean="0">
                    <a:solidFill>
                      <a:srgbClr val="38383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Visual Feedback </a:t>
                </a:r>
                <a:endParaRPr lang="en-US" sz="292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065989" y="3297792"/>
                <a:ext cx="3491805" cy="52843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254"/>
                  </a:lnSpc>
                </a:pPr>
                <a:r>
                  <a:rPr lang="en-US" sz="3387" dirty="0" smtClean="0">
                    <a:solidFill>
                      <a:srgbClr val="383838"/>
                    </a:solidFill>
                    <a:latin typeface="PT Serif"/>
                    <a:ea typeface="PT Serif"/>
                    <a:cs typeface="PT Serif"/>
                    <a:sym typeface="PT Serif"/>
                  </a:rPr>
                  <a:t>Control Panel</a:t>
                </a:r>
                <a:endParaRPr lang="en-US" sz="3387" dirty="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092801" y="4080095"/>
                <a:ext cx="2778919" cy="301364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31501" lvl="1" indent="-315751" algn="l">
                  <a:lnSpc>
                    <a:spcPts val="4723"/>
                  </a:lnSpc>
                  <a:buFont typeface="Arial"/>
                  <a:buChar char="•"/>
                </a:pPr>
                <a:r>
                  <a:rPr lang="en-US" sz="2924" dirty="0" smtClean="0">
                    <a:solidFill>
                      <a:srgbClr val="38383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Algorithm Selector</a:t>
                </a:r>
                <a:endParaRPr lang="en-US" sz="292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631501" lvl="1" indent="-315751" algn="l">
                  <a:lnSpc>
                    <a:spcPts val="4723"/>
                  </a:lnSpc>
                  <a:buFont typeface="Arial"/>
                  <a:buChar char="•"/>
                </a:pPr>
                <a:r>
                  <a:rPr lang="en-US" sz="2924" dirty="0" smtClean="0">
                    <a:solidFill>
                      <a:srgbClr val="38383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Graph Gen</a:t>
                </a:r>
                <a:endParaRPr lang="en-US" sz="292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631501" lvl="1" indent="-315751" algn="l">
                  <a:lnSpc>
                    <a:spcPts val="4723"/>
                  </a:lnSpc>
                  <a:buFont typeface="Arial"/>
                  <a:buChar char="•"/>
                </a:pPr>
                <a:r>
                  <a:rPr lang="en-US" sz="2924" dirty="0" smtClean="0">
                    <a:solidFill>
                      <a:srgbClr val="38383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Controls</a:t>
                </a:r>
                <a:endParaRPr lang="en-US" sz="292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631501" lvl="1" indent="-315751" algn="l">
                  <a:lnSpc>
                    <a:spcPts val="4724"/>
                  </a:lnSpc>
                  <a:buFont typeface="Arial"/>
                  <a:buChar char="•"/>
                </a:pPr>
                <a:r>
                  <a:rPr lang="en-US" sz="2924" dirty="0" smtClean="0">
                    <a:solidFill>
                      <a:srgbClr val="38383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Step Logger</a:t>
                </a:r>
                <a:endParaRPr lang="en-US" sz="292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8" name="Group 14"/>
            <p:cNvGrpSpPr/>
            <p:nvPr/>
          </p:nvGrpSpPr>
          <p:grpSpPr>
            <a:xfrm>
              <a:off x="8277225" y="3009900"/>
              <a:ext cx="28575" cy="1808857"/>
              <a:chOff x="0" y="0"/>
              <a:chExt cx="38100" cy="2411810"/>
            </a:xfrm>
          </p:grpSpPr>
          <p:sp>
            <p:nvSpPr>
              <p:cNvPr id="39" name="Freeform 15"/>
              <p:cNvSpPr/>
              <p:nvPr/>
            </p:nvSpPr>
            <p:spPr>
              <a:xfrm>
                <a:off x="0" y="0"/>
                <a:ext cx="38100" cy="241185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411857">
                    <a:moveTo>
                      <a:pt x="0" y="19050"/>
                    </a:moveTo>
                    <a:cubicBezTo>
                      <a:pt x="0" y="8509"/>
                      <a:pt x="8509" y="0"/>
                      <a:pt x="19050" y="0"/>
                    </a:cubicBezTo>
                    <a:cubicBezTo>
                      <a:pt x="29591" y="0"/>
                      <a:pt x="38100" y="8509"/>
                      <a:pt x="38100" y="19050"/>
                    </a:cubicBezTo>
                    <a:lnTo>
                      <a:pt x="38100" y="2392807"/>
                    </a:lnTo>
                    <a:cubicBezTo>
                      <a:pt x="38100" y="2403348"/>
                      <a:pt x="29591" y="2411857"/>
                      <a:pt x="19050" y="2411857"/>
                    </a:cubicBezTo>
                    <a:cubicBezTo>
                      <a:pt x="8509" y="2411857"/>
                      <a:pt x="0" y="2403348"/>
                      <a:pt x="0" y="2392807"/>
                    </a:cubicBezTo>
                    <a:close/>
                  </a:path>
                </a:pathLst>
              </a:custGeom>
              <a:solidFill>
                <a:srgbClr val="D8D4D4"/>
              </a:solidFill>
            </p:spPr>
          </p:sp>
        </p:grpSp>
      </p:grpSp>
      <p:sp>
        <p:nvSpPr>
          <p:cNvPr id="40" name="TextBox 9"/>
          <p:cNvSpPr txBox="1"/>
          <p:nvPr/>
        </p:nvSpPr>
        <p:spPr>
          <a:xfrm>
            <a:off x="8686800" y="1808849"/>
            <a:ext cx="3643759" cy="493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10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Design Philosophy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41" name="TextBox 10"/>
          <p:cNvSpPr txBox="1"/>
          <p:nvPr/>
        </p:nvSpPr>
        <p:spPr>
          <a:xfrm>
            <a:off x="8712005" y="2348296"/>
            <a:ext cx="9208084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Students </a:t>
            </a:r>
            <a:r>
              <a:rPr lang="en-US" sz="2400" dirty="0"/>
              <a:t>struggle to understand abstract graph algorithms without visual representation and step-by-step execution flow.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" name="TextBox 9"/>
          <p:cNvSpPr txBox="1"/>
          <p:nvPr/>
        </p:nvSpPr>
        <p:spPr>
          <a:xfrm>
            <a:off x="8686800" y="3472007"/>
            <a:ext cx="3643759" cy="493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10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Key UI Components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45" name="TextBox 10"/>
          <p:cNvSpPr txBox="1"/>
          <p:nvPr/>
        </p:nvSpPr>
        <p:spPr>
          <a:xfrm>
            <a:off x="8712005" y="4011454"/>
            <a:ext cx="9208084" cy="517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 smtClean="0"/>
              <a:t>Graph </a:t>
            </a:r>
            <a:r>
              <a:rPr lang="en-US" sz="2400" dirty="0"/>
              <a:t>Visualization (SVG)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Nodes: Circular (18px radius), blue (#0277bd)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Edges: Lines with weight labels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Color Coding: Green (accepted), Red (rejected)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Interactive: Drag-and-drop edge creation </a:t>
            </a:r>
            <a:endParaRPr lang="en-US" sz="2400" dirty="0" smtClean="0"/>
          </a:p>
          <a:p>
            <a:r>
              <a:rPr lang="en-US" sz="2400" dirty="0" smtClean="0"/>
              <a:t>2</a:t>
            </a:r>
            <a:r>
              <a:rPr lang="en-US" sz="2400" dirty="0"/>
              <a:t>. Control Panel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Algorithm Dropdown: </a:t>
            </a:r>
            <a:r>
              <a:rPr lang="en-US" sz="2400" dirty="0" err="1"/>
              <a:t>Kruskal's</a:t>
            </a:r>
            <a:r>
              <a:rPr lang="en-US" sz="2400" dirty="0"/>
              <a:t> / Prim's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Graph Generation: Random (3-10 nodes, density)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Execution Controls: Run, Pause/Resume, Reset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Real-time Step Display: Scrollable text area </a:t>
            </a:r>
            <a:endParaRPr lang="en-US" sz="2400" dirty="0" smtClean="0"/>
          </a:p>
          <a:p>
            <a:r>
              <a:rPr lang="en-US" sz="2400" dirty="0" smtClean="0"/>
              <a:t>3</a:t>
            </a:r>
            <a:r>
              <a:rPr lang="en-US" sz="2400" dirty="0"/>
              <a:t>. Modal Dialog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Weight Input: Appears on edge creation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Validation: Positive integers only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• </a:t>
            </a:r>
            <a:r>
              <a:rPr lang="en-US" sz="2400" dirty="0"/>
              <a:t>User Feedback: Error messages 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" name="TextBox 9"/>
          <p:cNvSpPr txBox="1"/>
          <p:nvPr/>
        </p:nvSpPr>
        <p:spPr>
          <a:xfrm>
            <a:off x="2209800" y="7230813"/>
            <a:ext cx="3643759" cy="498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5"/>
              </a:lnSpc>
            </a:pPr>
            <a:r>
              <a:rPr lang="en-US" sz="2710" b="1" dirty="0">
                <a:latin typeface="PT Serif Bold" panose="020B0604020202020204" charset="0"/>
              </a:rPr>
              <a:t>Responsive Features</a:t>
            </a:r>
            <a:endParaRPr lang="en-US" sz="2710" b="1" dirty="0">
              <a:solidFill>
                <a:srgbClr val="020202"/>
              </a:solidFill>
              <a:latin typeface="PT Serif Bold" panose="020B0604020202020204" charset="0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47" name="TextBox 10"/>
          <p:cNvSpPr txBox="1"/>
          <p:nvPr/>
        </p:nvSpPr>
        <p:spPr>
          <a:xfrm>
            <a:off x="2235005" y="7770260"/>
            <a:ext cx="506483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✓ Split-panel layout (50-50) </a:t>
            </a:r>
            <a:endParaRPr lang="en-US" sz="2400" dirty="0" smtClean="0"/>
          </a:p>
          <a:p>
            <a:r>
              <a:rPr lang="en-US" sz="2400" dirty="0" smtClean="0"/>
              <a:t>✓ </a:t>
            </a:r>
            <a:r>
              <a:rPr lang="en-US" sz="2400" dirty="0"/>
              <a:t>Smooth transitions and hover effects </a:t>
            </a:r>
            <a:endParaRPr lang="en-US" sz="2400" dirty="0" smtClean="0"/>
          </a:p>
          <a:p>
            <a:r>
              <a:rPr lang="en-US" sz="2400" dirty="0" smtClean="0"/>
              <a:t>✓ </a:t>
            </a:r>
            <a:r>
              <a:rPr lang="en-US" sz="2400" dirty="0"/>
              <a:t>Color-coded feedback (visual + text) </a:t>
            </a:r>
            <a:endParaRPr lang="en-US" sz="2400" dirty="0" smtClean="0"/>
          </a:p>
          <a:p>
            <a:r>
              <a:rPr lang="en-US" sz="2400" dirty="0" smtClean="0"/>
              <a:t>✓ </a:t>
            </a:r>
            <a:r>
              <a:rPr lang="en-US" sz="2400" dirty="0"/>
              <a:t>Auto-scroll for step display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935200" y="9789056"/>
            <a:ext cx="920808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Group No. 7 		</a:t>
            </a:r>
            <a:r>
              <a:rPr lang="en-US" sz="2400" dirty="0"/>
              <a:t>7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/>
          <a:srcRect t="9943" b="6832"/>
          <a:stretch/>
        </p:blipFill>
        <p:spPr>
          <a:xfrm>
            <a:off x="1816685" y="286130"/>
            <a:ext cx="7650156" cy="35814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342900"/>
            <a:ext cx="7567343" cy="3581400"/>
          </a:xfrm>
          <a:prstGeom prst="rect">
            <a:avLst/>
          </a:prstGeom>
        </p:spPr>
      </p:pic>
      <p:sp>
        <p:nvSpPr>
          <p:cNvPr id="29" name="TextBox 10"/>
          <p:cNvSpPr txBox="1"/>
          <p:nvPr/>
        </p:nvSpPr>
        <p:spPr>
          <a:xfrm>
            <a:off x="1762942" y="3984566"/>
            <a:ext cx="775764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Clean dashboard with algorithm selector and controls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TextBox 10"/>
          <p:cNvSpPr txBox="1"/>
          <p:nvPr/>
        </p:nvSpPr>
        <p:spPr>
          <a:xfrm>
            <a:off x="9908498" y="4076700"/>
            <a:ext cx="784610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6-node medium density graph with weighted edges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5795841"/>
            <a:ext cx="7638041" cy="3614859"/>
          </a:xfrm>
          <a:prstGeom prst="rect">
            <a:avLst/>
          </a:prstGeom>
        </p:spPr>
      </p:pic>
      <p:sp>
        <p:nvSpPr>
          <p:cNvPr id="32" name="TextBox 10"/>
          <p:cNvSpPr txBox="1"/>
          <p:nvPr/>
        </p:nvSpPr>
        <p:spPr>
          <a:xfrm>
            <a:off x="1816685" y="4792880"/>
            <a:ext cx="777457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Step-by-step execution showing accepted (green) and rejected (red) edges with real-time logging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5998" y="5753100"/>
            <a:ext cx="7567343" cy="3581400"/>
          </a:xfrm>
          <a:prstGeom prst="rect">
            <a:avLst/>
          </a:prstGeom>
        </p:spPr>
      </p:pic>
      <p:sp>
        <p:nvSpPr>
          <p:cNvPr id="34" name="TextBox 10"/>
          <p:cNvSpPr txBox="1"/>
          <p:nvPr/>
        </p:nvSpPr>
        <p:spPr>
          <a:xfrm>
            <a:off x="9905998" y="5162212"/>
            <a:ext cx="775764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Drag-and-drop edge creation with weight input modal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" name="TextBox 27"/>
          <p:cNvSpPr txBox="1"/>
          <p:nvPr/>
        </p:nvSpPr>
        <p:spPr>
          <a:xfrm>
            <a:off x="685800" y="381352"/>
            <a:ext cx="304800" cy="9592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12"/>
              </a:lnSpc>
            </a:pPr>
            <a:r>
              <a:rPr lang="en-US" sz="5640" b="1" dirty="0" smtClean="0">
                <a:latin typeface="PT Serif Bold" panose="020B0604020202020204" charset="0"/>
              </a:rPr>
              <a:t>SCREENSHOTS</a:t>
            </a:r>
            <a:endParaRPr lang="en-US" sz="5640" b="1" dirty="0">
              <a:solidFill>
                <a:srgbClr val="020202"/>
              </a:solidFill>
              <a:latin typeface="PT Serif Bold" panose="020B0604020202020204" charset="0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935200" y="9789056"/>
            <a:ext cx="920808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Group No. 7 		</a:t>
            </a:r>
            <a:r>
              <a:rPr lang="en-US" sz="2400" dirty="0"/>
              <a:t>8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2339688">
            <a:off x="11749101" y="4133095"/>
            <a:ext cx="6643732" cy="8772307"/>
          </a:xfrm>
          <a:custGeom>
            <a:avLst/>
            <a:gdLst/>
            <a:ahLst/>
            <a:cxnLst/>
            <a:rect l="l" t="t" r="r" b="b"/>
            <a:pathLst>
              <a:path w="6643732" h="8772307">
                <a:moveTo>
                  <a:pt x="0" y="0"/>
                </a:moveTo>
                <a:lnTo>
                  <a:pt x="6643732" y="0"/>
                </a:lnTo>
                <a:lnTo>
                  <a:pt x="6643732" y="8772306"/>
                </a:lnTo>
                <a:lnTo>
                  <a:pt x="0" y="877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948988">
            <a:off x="-82136" y="-2787845"/>
            <a:ext cx="5780943" cy="7633090"/>
          </a:xfrm>
          <a:custGeom>
            <a:avLst/>
            <a:gdLst/>
            <a:ahLst/>
            <a:cxnLst/>
            <a:rect l="l" t="t" r="r" b="b"/>
            <a:pathLst>
              <a:path w="5780943" h="7633090">
                <a:moveTo>
                  <a:pt x="0" y="0"/>
                </a:moveTo>
                <a:lnTo>
                  <a:pt x="5780944" y="0"/>
                </a:lnTo>
                <a:lnTo>
                  <a:pt x="5780944" y="7633090"/>
                </a:lnTo>
                <a:lnTo>
                  <a:pt x="0" y="76330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/>
          <p:cNvSpPr txBox="1"/>
          <p:nvPr/>
        </p:nvSpPr>
        <p:spPr>
          <a:xfrm>
            <a:off x="965395" y="794053"/>
            <a:ext cx="3643759" cy="493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10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Key Achievements</a:t>
            </a:r>
            <a:endParaRPr lang="en-US" sz="271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600" y="1333500"/>
            <a:ext cx="9208084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/>
              <a:t>✅ Successfully implemented two MST algorithms with visualization </a:t>
            </a:r>
            <a:endParaRPr lang="en-US" sz="2400" dirty="0" smtClean="0"/>
          </a:p>
          <a:p>
            <a:r>
              <a:rPr lang="en-US" sz="2400" dirty="0" smtClean="0"/>
              <a:t>✅ </a:t>
            </a:r>
            <a:r>
              <a:rPr lang="en-US" sz="2400" dirty="0"/>
              <a:t>Modular ES6 architecture with 9 separate modules </a:t>
            </a:r>
            <a:endParaRPr lang="en-US" sz="2400" dirty="0" smtClean="0"/>
          </a:p>
          <a:p>
            <a:r>
              <a:rPr lang="en-US" sz="2400" dirty="0" smtClean="0"/>
              <a:t>✅ </a:t>
            </a:r>
            <a:r>
              <a:rPr lang="en-US" sz="2400" dirty="0"/>
              <a:t>Interactive graph creation with drag-and-drop </a:t>
            </a:r>
            <a:endParaRPr lang="en-US" sz="2400" dirty="0" smtClean="0"/>
          </a:p>
          <a:p>
            <a:r>
              <a:rPr lang="en-US" sz="2400" dirty="0" smtClean="0"/>
              <a:t>✅ </a:t>
            </a:r>
            <a:r>
              <a:rPr lang="en-US" sz="2400" dirty="0"/>
              <a:t>Real-time step-by-step algorithm execution </a:t>
            </a:r>
            <a:endParaRPr lang="en-US" sz="2400" dirty="0" smtClean="0"/>
          </a:p>
          <a:p>
            <a:r>
              <a:rPr lang="en-US" sz="2400" dirty="0" smtClean="0"/>
              <a:t>✅ </a:t>
            </a:r>
            <a:r>
              <a:rPr lang="en-US" sz="2400" dirty="0"/>
              <a:t>No external dependencies - pure vanilla JavaScript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5395" y="3680255"/>
            <a:ext cx="3643759" cy="498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5"/>
              </a:lnSpc>
            </a:pPr>
            <a:r>
              <a:rPr lang="en-US" sz="2800" b="1" dirty="0">
                <a:latin typeface="PT Serif Bold" panose="020B0604020202020204" charset="0"/>
              </a:rPr>
              <a:t>Technical Metrics</a:t>
            </a:r>
            <a:endParaRPr lang="en-US" sz="2710" b="1" dirty="0">
              <a:solidFill>
                <a:srgbClr val="020202"/>
              </a:solidFill>
              <a:latin typeface="PT Serif Bold" panose="020B0604020202020204" charset="0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0600" y="4219702"/>
            <a:ext cx="920808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 smtClean="0"/>
              <a:t>Lines </a:t>
            </a:r>
            <a:r>
              <a:rPr lang="en-US" sz="2400" dirty="0"/>
              <a:t>of Code</a:t>
            </a:r>
            <a:r>
              <a:rPr lang="en-US" sz="2400"/>
              <a:t>: </a:t>
            </a:r>
            <a:r>
              <a:rPr lang="en-US" sz="2400" smtClean="0"/>
              <a:t>~500</a:t>
            </a:r>
            <a:endParaRPr lang="en-US" sz="2400" dirty="0" smtClean="0"/>
          </a:p>
          <a:p>
            <a:pPr marL="342900" indent="-342900">
              <a:buFontTx/>
              <a:buChar char="-"/>
            </a:pPr>
            <a:r>
              <a:rPr lang="en-US" sz="2400" dirty="0" smtClean="0"/>
              <a:t>Modules</a:t>
            </a:r>
            <a:r>
              <a:rPr lang="en-US" sz="2400" dirty="0"/>
              <a:t>: 9 (state, DOM, drawing, interactions, algorithms, etc.) </a:t>
            </a:r>
            <a:endParaRPr lang="en-US" sz="2400" dirty="0" smtClean="0"/>
          </a:p>
          <a:p>
            <a:pPr marL="342900" indent="-342900">
              <a:buFontTx/>
              <a:buChar char="-"/>
            </a:pPr>
            <a:r>
              <a:rPr lang="en-US" sz="2400" dirty="0" smtClean="0"/>
              <a:t>Algorithms</a:t>
            </a:r>
            <a:r>
              <a:rPr lang="en-US" sz="2400" dirty="0"/>
              <a:t>: 2 (</a:t>
            </a:r>
            <a:r>
              <a:rPr lang="en-US" sz="2400" dirty="0" err="1"/>
              <a:t>Kruskal's</a:t>
            </a:r>
            <a:r>
              <a:rPr lang="en-US" sz="2400" dirty="0"/>
              <a:t> &amp; Prim's) </a:t>
            </a:r>
          </a:p>
          <a:p>
            <a:pPr marL="342900" indent="-342900">
              <a:buFontTx/>
              <a:buChar char="-"/>
            </a:pPr>
            <a:r>
              <a:rPr lang="en-US" sz="2400" dirty="0" smtClean="0"/>
              <a:t>Time </a:t>
            </a:r>
            <a:r>
              <a:rPr lang="en-US" sz="2400" dirty="0"/>
              <a:t>Complexity: O(E log E) and O(E log V)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198684" y="794053"/>
            <a:ext cx="289083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95"/>
              </a:lnSpc>
            </a:pPr>
            <a:r>
              <a:rPr lang="en-US" sz="2800" b="1" dirty="0" smtClean="0">
                <a:latin typeface="PT Serif Bold" panose="020B0604020202020204" charset="0"/>
              </a:rPr>
              <a:t>References</a:t>
            </a:r>
            <a:endParaRPr lang="en-US" sz="2710" b="1" dirty="0">
              <a:solidFill>
                <a:srgbClr val="020202"/>
              </a:solidFill>
              <a:latin typeface="PT Serif Bold" panose="020B0604020202020204" charset="0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23889" y="1333500"/>
            <a:ext cx="6552379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📚 Algorithm Resources: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[</a:t>
            </a:r>
            <a:r>
              <a:rPr lang="en-US" sz="2400" dirty="0"/>
              <a:t>1] </a:t>
            </a:r>
            <a:r>
              <a:rPr lang="en-US" sz="2400" dirty="0" err="1"/>
              <a:t>Cormen</a:t>
            </a:r>
            <a:r>
              <a:rPr lang="en-US" sz="2400" dirty="0"/>
              <a:t>, T. H., et al. (2009). "Introduction to Algorithms" (3rd ed.). MIT Press. Chapter 23: Minimum Spanning Trees.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[</a:t>
            </a:r>
            <a:r>
              <a:rPr lang="en-US" sz="2400" dirty="0"/>
              <a:t>2] Sedgewick, R., &amp; Wayne, K. (2011). "Algorithms" (4th ed.). Addison-Wesley. Section 4.3: Minimum Spanning Trees. 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🌐 </a:t>
            </a:r>
            <a:r>
              <a:rPr lang="en-US" sz="2400" dirty="0"/>
              <a:t>Web Technologies: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[</a:t>
            </a:r>
            <a:r>
              <a:rPr lang="en-US" sz="2400" dirty="0"/>
              <a:t>3] MDN Web Docs - SVG Documentation </a:t>
            </a:r>
            <a:r>
              <a:rPr lang="en-US" sz="2400" dirty="0">
                <a:hlinkClick r:id="rId7"/>
              </a:rPr>
              <a:t>https://developer.mozilla.org/en-US/docs/Web/SVG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[</a:t>
            </a:r>
            <a:r>
              <a:rPr lang="en-US" sz="2400" dirty="0"/>
              <a:t>4] MDN Web Docs - ES6 Modules </a:t>
            </a:r>
            <a:r>
              <a:rPr lang="en-US" sz="2400" dirty="0">
                <a:hlinkClick r:id="rId8"/>
              </a:rPr>
              <a:t>https://</a:t>
            </a:r>
            <a:r>
              <a:rPr lang="en-US" sz="2400" dirty="0" smtClean="0">
                <a:hlinkClick r:id="rId8"/>
              </a:rPr>
              <a:t>developer.mozilla.org/en-US/docs/Web/JavaScript/Guide/Modules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</a:t>
            </a:r>
          </a:p>
          <a:p>
            <a:r>
              <a:rPr lang="en-US" sz="2400" dirty="0" smtClean="0"/>
              <a:t>🎨 </a:t>
            </a:r>
            <a:r>
              <a:rPr lang="en-US" sz="2400" dirty="0"/>
              <a:t>Design Inspiration: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[</a:t>
            </a:r>
            <a:r>
              <a:rPr lang="en-US" sz="2400" dirty="0"/>
              <a:t>5] </a:t>
            </a:r>
            <a:r>
              <a:rPr lang="en-US" sz="2400" dirty="0" err="1"/>
              <a:t>VisuAlgo</a:t>
            </a:r>
            <a:r>
              <a:rPr lang="en-US" sz="2400" dirty="0"/>
              <a:t> - Algorithm Visualizations </a:t>
            </a:r>
            <a:r>
              <a:rPr lang="en-US" sz="2400" dirty="0">
                <a:hlinkClick r:id="rId9"/>
              </a:rPr>
              <a:t>https://visualgo.net/en/mst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[</a:t>
            </a:r>
            <a:r>
              <a:rPr lang="en-US" sz="2400" dirty="0"/>
              <a:t>6] D3.js Graph Visualization Examples </a:t>
            </a:r>
            <a:r>
              <a:rPr lang="en-US" sz="2400" dirty="0">
                <a:hlinkClick r:id="rId10"/>
              </a:rPr>
              <a:t>https://d3js.org/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5395" y="8450833"/>
            <a:ext cx="364375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4000" b="1" dirty="0" smtClean="0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Thank You!</a:t>
            </a:r>
            <a:endParaRPr lang="en-US" sz="4000" b="1" dirty="0">
              <a:solidFill>
                <a:srgbClr val="020202"/>
              </a:solidFill>
              <a:latin typeface="PT Serif Bold"/>
              <a:ea typeface="PT Serif Bold"/>
              <a:cs typeface="PT Serif Bold"/>
              <a:sym typeface="PT Serif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5805" y="8989442"/>
            <a:ext cx="920808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/>
              <a:t>Group No. 7</a:t>
            </a:r>
            <a:endParaRPr lang="en-US" sz="2120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663</Words>
  <Application>Microsoft Office PowerPoint</Application>
  <PresentationFormat>Custom</PresentationFormat>
  <Paragraphs>184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DM Sans</vt:lpstr>
      <vt:lpstr>PT Serif</vt:lpstr>
      <vt:lpstr>DM Sans Bold</vt:lpstr>
      <vt:lpstr>Arial</vt:lpstr>
      <vt:lpstr>PT Serif Bold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MST-Visualizer.pptx</dc:title>
  <cp:lastModifiedBy>user</cp:lastModifiedBy>
  <cp:revision>12</cp:revision>
  <dcterms:created xsi:type="dcterms:W3CDTF">2006-08-16T00:00:00Z</dcterms:created>
  <dcterms:modified xsi:type="dcterms:W3CDTF">2025-11-11T10:31:16Z</dcterms:modified>
  <dc:identifier>DAG4TaHXYGc</dc:identifier>
</cp:coreProperties>
</file>