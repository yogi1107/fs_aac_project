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288000" cy="10287000"/>
  <p:notesSz cx="6858000" cy="9144000"/>
  <p:embeddedFontLst>
    <p:embeddedFont>
      <p:font typeface="PT Serif Bold" panose="020B0604020202020204" charset="0"/>
      <p:regular r:id="rId10"/>
    </p:embeddedFont>
    <p:embeddedFont>
      <p:font typeface="DM Sans Italics" panose="020B0604020202020204" charset="0"/>
      <p:regular r:id="rId11"/>
    </p:embeddedFont>
    <p:embeddedFont>
      <p:font typeface="PT Serif" panose="020B0604020202020204" charset="0"/>
      <p:regular r:id="rId12"/>
    </p:embeddedFon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DM Sans Bold" panose="020B0604020202020204" charset="0"/>
      <p:regular r:id="rId17"/>
    </p:embeddedFont>
    <p:embeddedFont>
      <p:font typeface="DM Sans" panose="020B0604020202020204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3" d="100"/>
          <a:sy n="43" d="100"/>
        </p:scale>
        <p:origin x="740" y="6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11.11.2025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https://gamma.app/?utm_source=made-with-gamma" TargetMode="External"/><Relationship Id="rId7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Relationship Id="rId9" Type="http://schemas.openxmlformats.org/officeDocument/2006/relationships/image" Target="../media/image6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4.png"/><Relationship Id="rId4" Type="http://schemas.openxmlformats.org/officeDocument/2006/relationships/image" Target="../media/image4.svg"/><Relationship Id="rId9" Type="http://schemas.openxmlformats.org/officeDocument/2006/relationships/image" Target="../media/image10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3.png"/><Relationship Id="rId7" Type="http://schemas.openxmlformats.org/officeDocument/2006/relationships/hyperlink" Target="https://gamma.app/?utm_source=made-with-gamma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4.png"/><Relationship Id="rId4" Type="http://schemas.openxmlformats.org/officeDocument/2006/relationships/image" Target="../media/image4.sv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4.png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4.png"/><Relationship Id="rId4" Type="http://schemas.openxmlformats.org/officeDocument/2006/relationships/image" Target="../media/image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AFAFA"/>
            </a:solidFill>
          </p:spPr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049019" y="9686925"/>
            <a:ext cx="2153256" cy="514350"/>
            <a:chOff x="0" y="0"/>
            <a:chExt cx="2871008" cy="685800"/>
          </a:xfrm>
        </p:grpSpPr>
        <p:sp>
          <p:nvSpPr>
            <p:cNvPr id="5" name="Freeform 5" descr="preencoded.png">
              <a:hlinkClick r:id="rId3" tooltip="https://gamma.app/?utm_source=made-with-gamma"/>
            </p:cNvPr>
            <p:cNvSpPr/>
            <p:nvPr/>
          </p:nvSpPr>
          <p:spPr>
            <a:xfrm>
              <a:off x="0" y="0"/>
              <a:ext cx="2870962" cy="685800"/>
            </a:xfrm>
            <a:custGeom>
              <a:avLst/>
              <a:gdLst/>
              <a:ahLst/>
              <a:cxnLst/>
              <a:rect l="l" t="t" r="r" b="b"/>
              <a:pathLst>
                <a:path w="2870962" h="685800">
                  <a:moveTo>
                    <a:pt x="0" y="0"/>
                  </a:moveTo>
                  <a:lnTo>
                    <a:pt x="2870962" y="0"/>
                  </a:lnTo>
                  <a:lnTo>
                    <a:pt x="2870962" y="685800"/>
                  </a:lnTo>
                  <a:lnTo>
                    <a:pt x="0" y="685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-1"/>
              </a:stretch>
            </a:blipFill>
          </p:spPr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1344275" y="0"/>
            <a:ext cx="6858000" cy="10287000"/>
            <a:chOff x="0" y="0"/>
            <a:chExt cx="9144000" cy="13716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0832" r="-29791"/>
              </a:stretch>
            </a:blipFill>
          </p:spPr>
        </p:sp>
      </p:grpSp>
      <p:sp>
        <p:nvSpPr>
          <p:cNvPr id="8" name="Freeform 8"/>
          <p:cNvSpPr/>
          <p:nvPr/>
        </p:nvSpPr>
        <p:spPr>
          <a:xfrm rot="3998324">
            <a:off x="8132677" y="6983959"/>
            <a:ext cx="3270792" cy="4318716"/>
          </a:xfrm>
          <a:custGeom>
            <a:avLst/>
            <a:gdLst/>
            <a:ahLst/>
            <a:cxnLst/>
            <a:rect l="l" t="t" r="r" b="b"/>
            <a:pathLst>
              <a:path w="3270792" h="4318716">
                <a:moveTo>
                  <a:pt x="0" y="0"/>
                </a:moveTo>
                <a:lnTo>
                  <a:pt x="3270792" y="0"/>
                </a:lnTo>
                <a:lnTo>
                  <a:pt x="3270792" y="4318716"/>
                </a:lnTo>
                <a:lnTo>
                  <a:pt x="0" y="431871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rot="1695503">
            <a:off x="-667352" y="-1248037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0" y="0"/>
                </a:moveTo>
                <a:lnTo>
                  <a:pt x="5780944" y="0"/>
                </a:lnTo>
                <a:lnTo>
                  <a:pt x="5780944" y="7633091"/>
                </a:lnTo>
                <a:lnTo>
                  <a:pt x="0" y="763309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815303" y="1799080"/>
            <a:ext cx="8151762" cy="11828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451"/>
              </a:lnSpc>
            </a:pPr>
            <a:r>
              <a:rPr lang="en-US" sz="7512" b="1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MST Visualizer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805778" y="3039082"/>
            <a:ext cx="8151762" cy="914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7"/>
              </a:lnSpc>
            </a:pPr>
            <a:r>
              <a:rPr lang="en-US" sz="3039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Interactive Minimum Spanning Tree Algorithm Visualizer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805778" y="4161956"/>
            <a:ext cx="8630032" cy="2258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05"/>
              </a:lnSpc>
            </a:pPr>
            <a:r>
              <a:rPr lang="en-US" sz="6279" b="1">
                <a:solidFill>
                  <a:srgbClr val="383838"/>
                </a:solidFill>
                <a:latin typeface="PT Serif Bold"/>
                <a:ea typeface="PT Serif Bold"/>
                <a:cs typeface="PT Serif Bold"/>
                <a:sym typeface="PT Serif Bold"/>
              </a:rPr>
              <a:t>Kruskal's &amp; Prim's Algorithms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804970" y="1250408"/>
            <a:ext cx="4115278" cy="5867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80"/>
              </a:lnSpc>
            </a:pPr>
            <a:r>
              <a:rPr lang="en-US" sz="3058" b="1">
                <a:solidFill>
                  <a:srgbClr val="383838"/>
                </a:solidFill>
                <a:latin typeface="DM Sans Bold"/>
                <a:ea typeface="DM Sans Bold"/>
                <a:cs typeface="DM Sans Bold"/>
                <a:sym typeface="DM Sans Bold"/>
              </a:rPr>
              <a:t>CSC-520 : Practical 1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3230799" y="6923024"/>
            <a:ext cx="5320769" cy="2335276"/>
            <a:chOff x="0" y="0"/>
            <a:chExt cx="7094359" cy="3113701"/>
          </a:xfrm>
        </p:grpSpPr>
        <p:sp>
          <p:nvSpPr>
            <p:cNvPr id="15" name="TextBox 15"/>
            <p:cNvSpPr txBox="1"/>
            <p:nvPr/>
          </p:nvSpPr>
          <p:spPr>
            <a:xfrm>
              <a:off x="0" y="900312"/>
              <a:ext cx="7094359" cy="6594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003"/>
                </a:lnSpc>
              </a:pPr>
              <a:r>
                <a:rPr lang="en-US" sz="3174">
                  <a:solidFill>
                    <a:srgbClr val="020202"/>
                  </a:solidFill>
                  <a:latin typeface="PT Serif"/>
                  <a:ea typeface="PT Serif"/>
                  <a:cs typeface="PT Serif"/>
                  <a:sym typeface="PT Serif"/>
                </a:rPr>
                <a:t>Abhishek Jaiswar - 256201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902860" y="-123825"/>
              <a:ext cx="3288639" cy="7400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980"/>
                </a:lnSpc>
              </a:pPr>
              <a:r>
                <a:rPr lang="en-US" sz="3058" b="1">
                  <a:solidFill>
                    <a:srgbClr val="383838"/>
                  </a:solidFill>
                  <a:latin typeface="DM Sans Bold"/>
                  <a:ea typeface="DM Sans Bold"/>
                  <a:cs typeface="DM Sans Bold"/>
                  <a:sym typeface="DM Sans Bold"/>
                </a:rPr>
                <a:t>Group No. 7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1677294"/>
              <a:ext cx="7094359" cy="6594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003"/>
                </a:lnSpc>
              </a:pPr>
              <a:r>
                <a:rPr lang="en-US" sz="3174">
                  <a:solidFill>
                    <a:srgbClr val="020202"/>
                  </a:solidFill>
                  <a:latin typeface="PT Serif"/>
                  <a:ea typeface="PT Serif"/>
                  <a:cs typeface="PT Serif"/>
                  <a:sym typeface="PT Serif"/>
                </a:rPr>
                <a:t>Yogiraj Bhilare - 256228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2454277"/>
              <a:ext cx="7094359" cy="6594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003"/>
                </a:lnSpc>
              </a:pPr>
              <a:r>
                <a:rPr lang="en-US" sz="3174">
                  <a:solidFill>
                    <a:srgbClr val="020202"/>
                  </a:solidFill>
                  <a:latin typeface="PT Serif"/>
                  <a:ea typeface="PT Serif"/>
                  <a:cs typeface="PT Serif"/>
                  <a:sym typeface="PT Serif"/>
                </a:rPr>
                <a:t>Tejas Patare - 256259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AFAFA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6" name="Freeform 6"/>
          <p:cNvSpPr/>
          <p:nvPr/>
        </p:nvSpPr>
        <p:spPr>
          <a:xfrm rot="3998324">
            <a:off x="8132677" y="6983959"/>
            <a:ext cx="3270792" cy="4318716"/>
          </a:xfrm>
          <a:custGeom>
            <a:avLst/>
            <a:gdLst/>
            <a:ahLst/>
            <a:cxnLst/>
            <a:rect l="l" t="t" r="r" b="b"/>
            <a:pathLst>
              <a:path w="3270792" h="4318716">
                <a:moveTo>
                  <a:pt x="0" y="0"/>
                </a:moveTo>
                <a:lnTo>
                  <a:pt x="3270792" y="0"/>
                </a:lnTo>
                <a:lnTo>
                  <a:pt x="3270792" y="4318716"/>
                </a:lnTo>
                <a:lnTo>
                  <a:pt x="0" y="43187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629832" y="2169335"/>
            <a:ext cx="7156705" cy="6870436"/>
          </a:xfrm>
          <a:custGeom>
            <a:avLst/>
            <a:gdLst/>
            <a:ahLst/>
            <a:cxnLst/>
            <a:rect l="l" t="t" r="r" b="b"/>
            <a:pathLst>
              <a:path w="7156705" h="6870436">
                <a:moveTo>
                  <a:pt x="0" y="0"/>
                </a:moveTo>
                <a:lnTo>
                  <a:pt x="7156704" y="0"/>
                </a:lnTo>
                <a:lnTo>
                  <a:pt x="7156704" y="6870436"/>
                </a:lnTo>
                <a:lnTo>
                  <a:pt x="0" y="68704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971550" y="734765"/>
            <a:ext cx="8577673" cy="885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124"/>
              </a:lnSpc>
            </a:pPr>
            <a:r>
              <a:rPr lang="en-US" sz="5687" b="1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What is MST Visualizer?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298866" y="2111432"/>
            <a:ext cx="3643759" cy="514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5"/>
              </a:lnSpc>
            </a:pPr>
            <a:r>
              <a:rPr lang="en-US" sz="3312" b="1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Purpose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98866" y="2654548"/>
            <a:ext cx="9208084" cy="21700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08"/>
              </a:lnSpc>
            </a:pPr>
            <a:r>
              <a:rPr lang="en-US" sz="2724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An interactive web application that visualizes Minimum Spanning Tree algorithms with step-by-step execution, helping students understand complex graph algorithms through real-time visual demonstration.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298866" y="5262736"/>
            <a:ext cx="3643759" cy="514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5"/>
              </a:lnSpc>
            </a:pPr>
            <a:r>
              <a:rPr lang="en-US" sz="3312" b="1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Key Features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8069373" y="5970315"/>
            <a:ext cx="9437577" cy="2427708"/>
            <a:chOff x="0" y="0"/>
            <a:chExt cx="12583437" cy="3236944"/>
          </a:xfrm>
        </p:grpSpPr>
        <p:sp>
          <p:nvSpPr>
            <p:cNvPr id="13" name="TextBox 13"/>
            <p:cNvSpPr txBox="1"/>
            <p:nvPr/>
          </p:nvSpPr>
          <p:spPr>
            <a:xfrm>
              <a:off x="0" y="-104775"/>
              <a:ext cx="12583437" cy="648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410963" lvl="1" indent="-205481" algn="l">
                <a:lnSpc>
                  <a:spcPts val="4408"/>
                </a:lnSpc>
                <a:buFont typeface="Arial"/>
                <a:buChar char="•"/>
              </a:pPr>
              <a:r>
                <a:rPr lang="en-US" sz="2724">
                  <a:solidFill>
                    <a:srgbClr val="383838"/>
                  </a:solidFill>
                  <a:latin typeface="DM Sans"/>
                  <a:ea typeface="DM Sans"/>
                  <a:cs typeface="DM Sans"/>
                  <a:sym typeface="DM Sans"/>
                </a:rPr>
                <a:t>Interactive drag-and-drop graph creation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568489"/>
              <a:ext cx="12583437" cy="648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410963" lvl="1" indent="-205481" algn="l">
                <a:lnSpc>
                  <a:spcPts val="4408"/>
                </a:lnSpc>
                <a:buFont typeface="Arial"/>
                <a:buChar char="•"/>
              </a:pPr>
              <a:r>
                <a:rPr lang="en-US" sz="2724">
                  <a:solidFill>
                    <a:srgbClr val="383838"/>
                  </a:solidFill>
                  <a:latin typeface="DM Sans"/>
                  <a:ea typeface="DM Sans"/>
                  <a:cs typeface="DM Sans"/>
                  <a:sym typeface="DM Sans"/>
                </a:rPr>
                <a:t>Random graph generation with configurable density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1241754"/>
              <a:ext cx="12583437" cy="648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410963" lvl="1" indent="-205481" algn="l">
                <a:lnSpc>
                  <a:spcPts val="4408"/>
                </a:lnSpc>
                <a:buFont typeface="Arial"/>
                <a:buChar char="•"/>
              </a:pPr>
              <a:r>
                <a:rPr lang="en-US" sz="2724">
                  <a:solidFill>
                    <a:srgbClr val="383838"/>
                  </a:solidFill>
                  <a:latin typeface="DM Sans"/>
                  <a:ea typeface="DM Sans"/>
                  <a:cs typeface="DM Sans"/>
                  <a:sym typeface="DM Sans"/>
                </a:rPr>
                <a:t>Step-by-step algorithm visualization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1915018"/>
              <a:ext cx="12583437" cy="648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410963" lvl="1" indent="-205481" algn="l">
                <a:lnSpc>
                  <a:spcPts val="4408"/>
                </a:lnSpc>
                <a:buFont typeface="Arial"/>
                <a:buChar char="•"/>
              </a:pPr>
              <a:r>
                <a:rPr lang="en-US" sz="2724">
                  <a:solidFill>
                    <a:srgbClr val="383838"/>
                  </a:solidFill>
                  <a:latin typeface="DM Sans"/>
                  <a:ea typeface="DM Sans"/>
                  <a:cs typeface="DM Sans"/>
                  <a:sym typeface="DM Sans"/>
                </a:rPr>
                <a:t>Support for both Kruskal's and Prim's algorithms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2588284"/>
              <a:ext cx="12583437" cy="64865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410963" lvl="1" indent="-205481" algn="l">
                <a:lnSpc>
                  <a:spcPts val="4408"/>
                </a:lnSpc>
                <a:buFont typeface="Arial"/>
                <a:buChar char="•"/>
              </a:pPr>
              <a:r>
                <a:rPr lang="en-US" sz="2724">
                  <a:solidFill>
                    <a:srgbClr val="383838"/>
                  </a:solidFill>
                  <a:latin typeface="DM Sans"/>
                  <a:ea typeface="DM Sans"/>
                  <a:cs typeface="DM Sans"/>
                  <a:sym typeface="DM Sans"/>
                </a:rPr>
                <a:t>Pause/Resume control and real-time metrics</a:t>
              </a:r>
            </a:p>
          </p:txBody>
        </p:sp>
      </p:grpSp>
      <p:sp>
        <p:nvSpPr>
          <p:cNvPr id="18" name="Freeform 18"/>
          <p:cNvSpPr/>
          <p:nvPr/>
        </p:nvSpPr>
        <p:spPr>
          <a:xfrm rot="3471976" flipH="1" flipV="1">
            <a:off x="11646919" y="-2755363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5780944" y="7633090"/>
                </a:moveTo>
                <a:lnTo>
                  <a:pt x="0" y="7633090"/>
                </a:lnTo>
                <a:lnTo>
                  <a:pt x="0" y="0"/>
                </a:lnTo>
                <a:lnTo>
                  <a:pt x="5780944" y="0"/>
                </a:lnTo>
                <a:lnTo>
                  <a:pt x="5780944" y="763309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9" name="TextBox 18"/>
          <p:cNvSpPr txBox="1"/>
          <p:nvPr/>
        </p:nvSpPr>
        <p:spPr>
          <a:xfrm>
            <a:off x="14935200" y="9791700"/>
            <a:ext cx="9208084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400" dirty="0" smtClean="0"/>
              <a:t>Group No. 7 		2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AFAFA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-15240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6" name="Freeform 6"/>
          <p:cNvSpPr/>
          <p:nvPr/>
        </p:nvSpPr>
        <p:spPr>
          <a:xfrm rot="3471976" flipH="1" flipV="1">
            <a:off x="11646919" y="-2755363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5780944" y="7633090"/>
                </a:moveTo>
                <a:lnTo>
                  <a:pt x="0" y="7633090"/>
                </a:lnTo>
                <a:lnTo>
                  <a:pt x="0" y="0"/>
                </a:lnTo>
                <a:lnTo>
                  <a:pt x="5780944" y="0"/>
                </a:lnTo>
                <a:lnTo>
                  <a:pt x="5780944" y="763309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1695503">
            <a:off x="-667352" y="-1248037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0" y="0"/>
                </a:moveTo>
                <a:lnTo>
                  <a:pt x="5780944" y="0"/>
                </a:lnTo>
                <a:lnTo>
                  <a:pt x="5780944" y="7633091"/>
                </a:lnTo>
                <a:lnTo>
                  <a:pt x="0" y="763309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852487" y="3025527"/>
            <a:ext cx="16425862" cy="1808857"/>
            <a:chOff x="0" y="0"/>
            <a:chExt cx="21901150" cy="241181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901150" cy="2411857"/>
            </a:xfrm>
            <a:custGeom>
              <a:avLst/>
              <a:gdLst/>
              <a:ahLst/>
              <a:cxnLst/>
              <a:rect l="l" t="t" r="r" b="b"/>
              <a:pathLst>
                <a:path w="21901150" h="2411857">
                  <a:moveTo>
                    <a:pt x="0" y="53213"/>
                  </a:moveTo>
                  <a:cubicBezTo>
                    <a:pt x="0" y="23876"/>
                    <a:pt x="23876" y="0"/>
                    <a:pt x="53213" y="0"/>
                  </a:cubicBezTo>
                  <a:lnTo>
                    <a:pt x="21847938" y="0"/>
                  </a:lnTo>
                  <a:cubicBezTo>
                    <a:pt x="21877275" y="0"/>
                    <a:pt x="21901150" y="23876"/>
                    <a:pt x="21901150" y="53213"/>
                  </a:cubicBezTo>
                  <a:lnTo>
                    <a:pt x="21901150" y="2358644"/>
                  </a:lnTo>
                  <a:cubicBezTo>
                    <a:pt x="21901150" y="2387981"/>
                    <a:pt x="21877275" y="2411857"/>
                    <a:pt x="21847938" y="2411857"/>
                  </a:cubicBezTo>
                  <a:lnTo>
                    <a:pt x="53213" y="2411857"/>
                  </a:lnTo>
                  <a:cubicBezTo>
                    <a:pt x="23876" y="2411857"/>
                    <a:pt x="0" y="2387981"/>
                    <a:pt x="0" y="2358644"/>
                  </a:cubicBezTo>
                  <a:close/>
                </a:path>
              </a:pathLst>
            </a:custGeom>
            <a:solidFill>
              <a:srgbClr val="D8EBFA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852488" y="3025527"/>
            <a:ext cx="5208537" cy="4951607"/>
            <a:chOff x="0" y="0"/>
            <a:chExt cx="6944717" cy="66021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44741" cy="6602189"/>
            </a:xfrm>
            <a:custGeom>
              <a:avLst/>
              <a:gdLst/>
              <a:ahLst/>
              <a:cxnLst/>
              <a:rect l="l" t="t" r="r" b="b"/>
              <a:pathLst>
                <a:path w="6944741" h="6602189">
                  <a:moveTo>
                    <a:pt x="0" y="145666"/>
                  </a:moveTo>
                  <a:cubicBezTo>
                    <a:pt x="0" y="65359"/>
                    <a:pt x="22713" y="0"/>
                    <a:pt x="50621" y="0"/>
                  </a:cubicBezTo>
                  <a:lnTo>
                    <a:pt x="6894119" y="0"/>
                  </a:lnTo>
                  <a:cubicBezTo>
                    <a:pt x="6922027" y="0"/>
                    <a:pt x="6944741" y="65359"/>
                    <a:pt x="6944741" y="145666"/>
                  </a:cubicBezTo>
                  <a:lnTo>
                    <a:pt x="6944741" y="6456605"/>
                  </a:lnTo>
                  <a:cubicBezTo>
                    <a:pt x="6944741" y="6536913"/>
                    <a:pt x="6922027" y="6602189"/>
                    <a:pt x="6894119" y="6602189"/>
                  </a:cubicBezTo>
                  <a:lnTo>
                    <a:pt x="50621" y="6602189"/>
                  </a:lnTo>
                  <a:cubicBezTo>
                    <a:pt x="22713" y="6602189"/>
                    <a:pt x="0" y="6536913"/>
                    <a:pt x="0" y="6456605"/>
                  </a:cubicBezTo>
                  <a:close/>
                </a:path>
              </a:pathLst>
            </a:custGeom>
            <a:solidFill>
              <a:srgbClr val="D8EBFA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6416427" y="3025527"/>
            <a:ext cx="5297984" cy="4951607"/>
            <a:chOff x="0" y="0"/>
            <a:chExt cx="7063978" cy="6602142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7064003" cy="6602189"/>
            </a:xfrm>
            <a:custGeom>
              <a:avLst/>
              <a:gdLst/>
              <a:ahLst/>
              <a:cxnLst/>
              <a:rect l="l" t="t" r="r" b="b"/>
              <a:pathLst>
                <a:path w="7064003" h="6602189">
                  <a:moveTo>
                    <a:pt x="0" y="0"/>
                  </a:moveTo>
                  <a:lnTo>
                    <a:pt x="7064003" y="0"/>
                  </a:lnTo>
                  <a:lnTo>
                    <a:pt x="7064003" y="6602189"/>
                  </a:lnTo>
                  <a:lnTo>
                    <a:pt x="0" y="6602189"/>
                  </a:lnTo>
                  <a:close/>
                </a:path>
              </a:pathLst>
            </a:custGeom>
            <a:solidFill>
              <a:srgbClr val="D8EBFA"/>
            </a:solidFill>
          </p:spPr>
        </p:sp>
      </p:grpSp>
      <p:grpSp>
        <p:nvGrpSpPr>
          <p:cNvPr id="14" name="Group 14"/>
          <p:cNvGrpSpPr/>
          <p:nvPr/>
        </p:nvGrpSpPr>
        <p:grpSpPr>
          <a:xfrm>
            <a:off x="6327725" y="3025527"/>
            <a:ext cx="28575" cy="1808857"/>
            <a:chOff x="0" y="0"/>
            <a:chExt cx="38100" cy="241181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8100" cy="2411857"/>
            </a:xfrm>
            <a:custGeom>
              <a:avLst/>
              <a:gdLst/>
              <a:ahLst/>
              <a:cxnLst/>
              <a:rect l="l" t="t" r="r" b="b"/>
              <a:pathLst>
                <a:path w="38100" h="2411857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2392807"/>
                  </a:lnTo>
                  <a:cubicBezTo>
                    <a:pt x="38100" y="2403348"/>
                    <a:pt x="29591" y="2411857"/>
                    <a:pt x="19050" y="2411857"/>
                  </a:cubicBezTo>
                  <a:cubicBezTo>
                    <a:pt x="8509" y="2411857"/>
                    <a:pt x="0" y="2403348"/>
                    <a:pt x="0" y="2392807"/>
                  </a:cubicBezTo>
                  <a:close/>
                </a:path>
              </a:pathLst>
            </a:custGeom>
            <a:solidFill>
              <a:srgbClr val="D8D4D4"/>
            </a:solidFill>
          </p:spPr>
        </p:sp>
      </p:grpSp>
      <p:grpSp>
        <p:nvGrpSpPr>
          <p:cNvPr id="16" name="Group 16"/>
          <p:cNvGrpSpPr/>
          <p:nvPr/>
        </p:nvGrpSpPr>
        <p:grpSpPr>
          <a:xfrm>
            <a:off x="12012514" y="3025527"/>
            <a:ext cx="5168205" cy="4951607"/>
            <a:chOff x="0" y="0"/>
            <a:chExt cx="6890940" cy="66021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890896" cy="6602189"/>
            </a:xfrm>
            <a:custGeom>
              <a:avLst/>
              <a:gdLst/>
              <a:ahLst/>
              <a:cxnLst/>
              <a:rect l="l" t="t" r="r" b="b"/>
              <a:pathLst>
                <a:path w="6890896" h="6602189">
                  <a:moveTo>
                    <a:pt x="0" y="0"/>
                  </a:moveTo>
                  <a:lnTo>
                    <a:pt x="6890896" y="0"/>
                  </a:lnTo>
                  <a:lnTo>
                    <a:pt x="6890896" y="6602189"/>
                  </a:lnTo>
                  <a:lnTo>
                    <a:pt x="0" y="6602189"/>
                  </a:lnTo>
                  <a:close/>
                </a:path>
              </a:pathLst>
            </a:custGeom>
            <a:solidFill>
              <a:srgbClr val="D8EBFA"/>
            </a:solidFill>
          </p:spPr>
        </p:sp>
      </p:grpSp>
      <p:grpSp>
        <p:nvGrpSpPr>
          <p:cNvPr id="18" name="Group 18"/>
          <p:cNvGrpSpPr/>
          <p:nvPr/>
        </p:nvGrpSpPr>
        <p:grpSpPr>
          <a:xfrm>
            <a:off x="11802964" y="3025527"/>
            <a:ext cx="28575" cy="1808857"/>
            <a:chOff x="0" y="0"/>
            <a:chExt cx="38100" cy="241181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8100" cy="2411857"/>
            </a:xfrm>
            <a:custGeom>
              <a:avLst/>
              <a:gdLst/>
              <a:ahLst/>
              <a:cxnLst/>
              <a:rect l="l" t="t" r="r" b="b"/>
              <a:pathLst>
                <a:path w="38100" h="2411857">
                  <a:moveTo>
                    <a:pt x="0" y="19050"/>
                  </a:moveTo>
                  <a:cubicBezTo>
                    <a:pt x="0" y="8509"/>
                    <a:pt x="8509" y="0"/>
                    <a:pt x="19050" y="0"/>
                  </a:cubicBezTo>
                  <a:cubicBezTo>
                    <a:pt x="29591" y="0"/>
                    <a:pt x="38100" y="8509"/>
                    <a:pt x="38100" y="19050"/>
                  </a:cubicBezTo>
                  <a:lnTo>
                    <a:pt x="38100" y="2392807"/>
                  </a:lnTo>
                  <a:cubicBezTo>
                    <a:pt x="38100" y="2403348"/>
                    <a:pt x="29591" y="2411857"/>
                    <a:pt x="19050" y="2411857"/>
                  </a:cubicBezTo>
                  <a:cubicBezTo>
                    <a:pt x="8509" y="2411857"/>
                    <a:pt x="0" y="2403348"/>
                    <a:pt x="0" y="2392807"/>
                  </a:cubicBezTo>
                  <a:close/>
                </a:path>
              </a:pathLst>
            </a:custGeom>
            <a:solidFill>
              <a:srgbClr val="D8D4D4"/>
            </a:solidFill>
          </p:spPr>
        </p:sp>
      </p:grpSp>
      <p:grpSp>
        <p:nvGrpSpPr>
          <p:cNvPr id="20" name="Group 20"/>
          <p:cNvGrpSpPr/>
          <p:nvPr/>
        </p:nvGrpSpPr>
        <p:grpSpPr>
          <a:xfrm>
            <a:off x="852487" y="8290024"/>
            <a:ext cx="5297984" cy="968276"/>
            <a:chOff x="0" y="0"/>
            <a:chExt cx="7063978" cy="129103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7063994" cy="1291082"/>
            </a:xfrm>
            <a:custGeom>
              <a:avLst/>
              <a:gdLst/>
              <a:ahLst/>
              <a:cxnLst/>
              <a:rect l="l" t="t" r="r" b="b"/>
              <a:pathLst>
                <a:path w="7063994" h="1291082">
                  <a:moveTo>
                    <a:pt x="0" y="53213"/>
                  </a:moveTo>
                  <a:cubicBezTo>
                    <a:pt x="0" y="23876"/>
                    <a:pt x="23876" y="0"/>
                    <a:pt x="53213" y="0"/>
                  </a:cubicBezTo>
                  <a:lnTo>
                    <a:pt x="7010781" y="0"/>
                  </a:lnTo>
                  <a:cubicBezTo>
                    <a:pt x="7040118" y="0"/>
                    <a:pt x="7063994" y="23876"/>
                    <a:pt x="7063994" y="53213"/>
                  </a:cubicBezTo>
                  <a:lnTo>
                    <a:pt x="7063994" y="1237869"/>
                  </a:lnTo>
                  <a:cubicBezTo>
                    <a:pt x="7063994" y="1267206"/>
                    <a:pt x="7040118" y="1291082"/>
                    <a:pt x="7010781" y="1291082"/>
                  </a:cubicBezTo>
                  <a:lnTo>
                    <a:pt x="53213" y="1291082"/>
                  </a:lnTo>
                  <a:cubicBezTo>
                    <a:pt x="23876" y="1291082"/>
                    <a:pt x="0" y="1267206"/>
                    <a:pt x="0" y="1237869"/>
                  </a:cubicBezTo>
                  <a:close/>
                </a:path>
              </a:pathLst>
            </a:custGeom>
            <a:solidFill>
              <a:srgbClr val="0B74BA"/>
            </a:solidFill>
          </p:spPr>
        </p:sp>
      </p:grpSp>
      <p:sp>
        <p:nvSpPr>
          <p:cNvPr id="22" name="Freeform 22"/>
          <p:cNvSpPr/>
          <p:nvPr/>
        </p:nvSpPr>
        <p:spPr>
          <a:xfrm rot="3998324">
            <a:off x="8132677" y="6983959"/>
            <a:ext cx="3270792" cy="4318716"/>
          </a:xfrm>
          <a:custGeom>
            <a:avLst/>
            <a:gdLst/>
            <a:ahLst/>
            <a:cxnLst/>
            <a:rect l="l" t="t" r="r" b="b"/>
            <a:pathLst>
              <a:path w="3270792" h="4318716">
                <a:moveTo>
                  <a:pt x="0" y="0"/>
                </a:moveTo>
                <a:lnTo>
                  <a:pt x="3270792" y="0"/>
                </a:lnTo>
                <a:lnTo>
                  <a:pt x="3270792" y="4318716"/>
                </a:lnTo>
                <a:lnTo>
                  <a:pt x="0" y="431871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23" name="Group 23"/>
          <p:cNvGrpSpPr/>
          <p:nvPr/>
        </p:nvGrpSpPr>
        <p:grpSpPr>
          <a:xfrm>
            <a:off x="6416427" y="8290024"/>
            <a:ext cx="5297984" cy="968276"/>
            <a:chOff x="0" y="0"/>
            <a:chExt cx="7063978" cy="1291035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063994" cy="1291082"/>
            </a:xfrm>
            <a:custGeom>
              <a:avLst/>
              <a:gdLst/>
              <a:ahLst/>
              <a:cxnLst/>
              <a:rect l="l" t="t" r="r" b="b"/>
              <a:pathLst>
                <a:path w="7063994" h="1291082">
                  <a:moveTo>
                    <a:pt x="0" y="53213"/>
                  </a:moveTo>
                  <a:cubicBezTo>
                    <a:pt x="0" y="23876"/>
                    <a:pt x="23876" y="0"/>
                    <a:pt x="53213" y="0"/>
                  </a:cubicBezTo>
                  <a:lnTo>
                    <a:pt x="7010781" y="0"/>
                  </a:lnTo>
                  <a:cubicBezTo>
                    <a:pt x="7040118" y="0"/>
                    <a:pt x="7063994" y="23876"/>
                    <a:pt x="7063994" y="53213"/>
                  </a:cubicBezTo>
                  <a:lnTo>
                    <a:pt x="7063994" y="1237869"/>
                  </a:lnTo>
                  <a:cubicBezTo>
                    <a:pt x="7063994" y="1267206"/>
                    <a:pt x="7040118" y="1291082"/>
                    <a:pt x="7010781" y="1291082"/>
                  </a:cubicBezTo>
                  <a:lnTo>
                    <a:pt x="53213" y="1291082"/>
                  </a:lnTo>
                  <a:cubicBezTo>
                    <a:pt x="23876" y="1291082"/>
                    <a:pt x="0" y="1267206"/>
                    <a:pt x="0" y="1237869"/>
                  </a:cubicBezTo>
                  <a:close/>
                </a:path>
              </a:pathLst>
            </a:custGeom>
            <a:solidFill>
              <a:srgbClr val="0B74BA"/>
            </a:solidFill>
          </p:spPr>
        </p:sp>
      </p:grpSp>
      <p:grpSp>
        <p:nvGrpSpPr>
          <p:cNvPr id="25" name="Group 25"/>
          <p:cNvGrpSpPr/>
          <p:nvPr/>
        </p:nvGrpSpPr>
        <p:grpSpPr>
          <a:xfrm>
            <a:off x="11980366" y="8290024"/>
            <a:ext cx="5297984" cy="968276"/>
            <a:chOff x="0" y="0"/>
            <a:chExt cx="7063978" cy="1291035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7063994" cy="1291082"/>
            </a:xfrm>
            <a:custGeom>
              <a:avLst/>
              <a:gdLst/>
              <a:ahLst/>
              <a:cxnLst/>
              <a:rect l="l" t="t" r="r" b="b"/>
              <a:pathLst>
                <a:path w="7063994" h="1291082">
                  <a:moveTo>
                    <a:pt x="0" y="53213"/>
                  </a:moveTo>
                  <a:cubicBezTo>
                    <a:pt x="0" y="23876"/>
                    <a:pt x="23876" y="0"/>
                    <a:pt x="53213" y="0"/>
                  </a:cubicBezTo>
                  <a:lnTo>
                    <a:pt x="7010781" y="0"/>
                  </a:lnTo>
                  <a:cubicBezTo>
                    <a:pt x="7040118" y="0"/>
                    <a:pt x="7063994" y="23876"/>
                    <a:pt x="7063994" y="53213"/>
                  </a:cubicBezTo>
                  <a:lnTo>
                    <a:pt x="7063994" y="1237869"/>
                  </a:lnTo>
                  <a:cubicBezTo>
                    <a:pt x="7063994" y="1267206"/>
                    <a:pt x="7040118" y="1291082"/>
                    <a:pt x="7010781" y="1291082"/>
                  </a:cubicBezTo>
                  <a:lnTo>
                    <a:pt x="53213" y="1291082"/>
                  </a:lnTo>
                  <a:cubicBezTo>
                    <a:pt x="23876" y="1291082"/>
                    <a:pt x="0" y="1267206"/>
                    <a:pt x="0" y="1237869"/>
                  </a:cubicBezTo>
                  <a:close/>
                </a:path>
              </a:pathLst>
            </a:custGeom>
            <a:solidFill>
              <a:srgbClr val="0B74BA"/>
            </a:solidFill>
          </p:spPr>
        </p:sp>
      </p:grpSp>
      <p:sp>
        <p:nvSpPr>
          <p:cNvPr id="27" name="TextBox 27"/>
          <p:cNvSpPr txBox="1"/>
          <p:nvPr/>
        </p:nvSpPr>
        <p:spPr>
          <a:xfrm>
            <a:off x="852488" y="904875"/>
            <a:ext cx="8635459" cy="849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12"/>
              </a:lnSpc>
            </a:pPr>
            <a:r>
              <a:rPr lang="en-US" sz="5437" b="1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Modular Project Structure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73919" y="1901577"/>
            <a:ext cx="148070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4"/>
              </a:lnSpc>
            </a:pPr>
            <a:r>
              <a:rPr lang="en-US" sz="2762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Clean separation of concerns across three architectural layers ensures maintainability, scalability, and efficient code organization.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18444" y="3272432"/>
            <a:ext cx="3491805" cy="528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54"/>
              </a:lnSpc>
            </a:pPr>
            <a:r>
              <a:rPr lang="en-US" sz="3387">
                <a:solidFill>
                  <a:srgbClr val="383838"/>
                </a:solidFill>
                <a:latin typeface="PT Serif"/>
                <a:ea typeface="PT Serif"/>
                <a:cs typeface="PT Serif"/>
                <a:sym typeface="PT Serif"/>
              </a:rPr>
              <a:t>UI Layer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89124" y="4123135"/>
            <a:ext cx="4943326" cy="29032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31501" lvl="1" indent="-315751" algn="l">
              <a:lnSpc>
                <a:spcPts val="4723"/>
              </a:lnSpc>
              <a:buFont typeface="Arial"/>
              <a:buChar char="•"/>
            </a:pPr>
            <a:r>
              <a:rPr lang="en-US" sz="2924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index.html</a:t>
            </a:r>
          </a:p>
          <a:p>
            <a:pPr marL="631501" lvl="1" indent="-315751" algn="l">
              <a:lnSpc>
                <a:spcPts val="4723"/>
              </a:lnSpc>
              <a:buFont typeface="Arial"/>
              <a:buChar char="•"/>
            </a:pPr>
            <a:r>
              <a:rPr lang="en-US" sz="2924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style.css </a:t>
            </a:r>
          </a:p>
          <a:p>
            <a:pPr marL="631501" lvl="1" indent="-315751" algn="l">
              <a:lnSpc>
                <a:spcPts val="4723"/>
              </a:lnSpc>
              <a:buFont typeface="Arial"/>
              <a:buChar char="•"/>
            </a:pPr>
            <a:r>
              <a:rPr lang="en-US" sz="2924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dom.js </a:t>
            </a:r>
          </a:p>
          <a:p>
            <a:pPr marL="631501" lvl="1" indent="-315751" algn="l">
              <a:lnSpc>
                <a:spcPts val="4723"/>
              </a:lnSpc>
              <a:buFont typeface="Arial"/>
              <a:buChar char="•"/>
            </a:pPr>
            <a:r>
              <a:rPr lang="en-US" sz="2924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graphDrawing.js </a:t>
            </a:r>
          </a:p>
          <a:p>
            <a:pPr marL="631501" lvl="1" indent="-315751" algn="l">
              <a:lnSpc>
                <a:spcPts val="4724"/>
              </a:lnSpc>
              <a:buFont typeface="Arial"/>
              <a:buChar char="•"/>
            </a:pPr>
            <a:r>
              <a:rPr lang="en-US" sz="2924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modal.js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593681" y="3272432"/>
            <a:ext cx="3491805" cy="528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54"/>
              </a:lnSpc>
            </a:pPr>
            <a:r>
              <a:rPr lang="en-US" sz="3387">
                <a:solidFill>
                  <a:srgbClr val="383838"/>
                </a:solidFill>
                <a:latin typeface="PT Serif"/>
                <a:ea typeface="PT Serif"/>
                <a:cs typeface="PT Serif"/>
                <a:sym typeface="PT Serif"/>
              </a:rPr>
              <a:t>Logic Layer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593681" y="4123135"/>
            <a:ext cx="4943326" cy="2312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31501" lvl="1" indent="-315751" algn="l">
              <a:lnSpc>
                <a:spcPts val="4723"/>
              </a:lnSpc>
              <a:buFont typeface="Arial"/>
              <a:buChar char="•"/>
            </a:pPr>
            <a:r>
              <a:rPr lang="en-US" sz="2924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state.js</a:t>
            </a:r>
          </a:p>
          <a:p>
            <a:pPr marL="631501" lvl="1" indent="-315751" algn="l">
              <a:lnSpc>
                <a:spcPts val="4723"/>
              </a:lnSpc>
              <a:buFont typeface="Arial"/>
              <a:buChar char="•"/>
            </a:pPr>
            <a:r>
              <a:rPr lang="en-US" sz="2924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interactions.js</a:t>
            </a:r>
          </a:p>
          <a:p>
            <a:pPr marL="631501" lvl="1" indent="-315751" algn="l">
              <a:lnSpc>
                <a:spcPts val="4723"/>
              </a:lnSpc>
              <a:buFont typeface="Arial"/>
              <a:buChar char="•"/>
            </a:pPr>
            <a:r>
              <a:rPr lang="en-US" sz="2924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graphGeneration.js</a:t>
            </a:r>
          </a:p>
          <a:p>
            <a:pPr marL="631501" lvl="1" indent="-315751" algn="l">
              <a:lnSpc>
                <a:spcPts val="4724"/>
              </a:lnSpc>
              <a:buFont typeface="Arial"/>
              <a:buChar char="•"/>
            </a:pPr>
            <a:r>
              <a:rPr lang="en-US" sz="2924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utils.js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2068919" y="3272432"/>
            <a:ext cx="3491805" cy="528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54"/>
              </a:lnSpc>
            </a:pPr>
            <a:r>
              <a:rPr lang="en-US" sz="3387">
                <a:solidFill>
                  <a:srgbClr val="383838"/>
                </a:solidFill>
                <a:latin typeface="PT Serif"/>
                <a:ea typeface="PT Serif"/>
                <a:cs typeface="PT Serif"/>
                <a:sym typeface="PT Serif"/>
              </a:rPr>
              <a:t>Algorithm Layer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2126814" y="4123135"/>
            <a:ext cx="4943475" cy="11316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31501" lvl="1" indent="-315751" algn="l">
              <a:lnSpc>
                <a:spcPts val="4723"/>
              </a:lnSpc>
              <a:buFont typeface="Arial"/>
              <a:buChar char="•"/>
            </a:pPr>
            <a:r>
              <a:rPr lang="en-US" sz="2924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algorithms.js</a:t>
            </a:r>
          </a:p>
          <a:p>
            <a:pPr marL="631501" lvl="1" indent="-315751" algn="l">
              <a:lnSpc>
                <a:spcPts val="4724"/>
              </a:lnSpc>
              <a:buFont typeface="Arial"/>
              <a:buChar char="•"/>
            </a:pPr>
            <a:r>
              <a:rPr lang="en-US" sz="2924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uiControls.js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18444" y="8536930"/>
            <a:ext cx="3604618" cy="4554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687">
                <a:solidFill>
                  <a:srgbClr val="FFFFFF"/>
                </a:solidFill>
                <a:latin typeface="PT Serif"/>
                <a:ea typeface="PT Serif"/>
                <a:cs typeface="PT Serif"/>
                <a:sym typeface="PT Serif"/>
              </a:rPr>
              <a:t>Separation of Concerns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682382" y="8536930"/>
            <a:ext cx="3491805" cy="4554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687">
                <a:solidFill>
                  <a:srgbClr val="FFFFFF"/>
                </a:solidFill>
                <a:latin typeface="PT Serif"/>
                <a:ea typeface="PT Serif"/>
                <a:cs typeface="PT Serif"/>
                <a:sym typeface="PT Serif"/>
              </a:rPr>
              <a:t>Maintainable Code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2246322" y="8536930"/>
            <a:ext cx="3491805" cy="4554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74"/>
              </a:lnSpc>
            </a:pPr>
            <a:r>
              <a:rPr lang="en-US" sz="2687">
                <a:solidFill>
                  <a:srgbClr val="FFFFFF"/>
                </a:solidFill>
                <a:latin typeface="PT Serif"/>
                <a:ea typeface="PT Serif"/>
                <a:cs typeface="PT Serif"/>
                <a:sym typeface="PT Serif"/>
              </a:rPr>
              <a:t>Scalable Design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935200" y="9789056"/>
            <a:ext cx="9208084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400" dirty="0" smtClean="0"/>
              <a:t>Group No. 7 		</a:t>
            </a:r>
            <a:r>
              <a:rPr lang="en-US" sz="2400" dirty="0" smtClean="0"/>
              <a:t>3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AFAFA"/>
            </a:solidFill>
          </p:spPr>
        </p:sp>
      </p:grpSp>
      <p:sp>
        <p:nvSpPr>
          <p:cNvPr id="4" name="Freeform 4"/>
          <p:cNvSpPr/>
          <p:nvPr/>
        </p:nvSpPr>
        <p:spPr>
          <a:xfrm rot="3998324">
            <a:off x="8132677" y="6983959"/>
            <a:ext cx="3270792" cy="4318716"/>
          </a:xfrm>
          <a:custGeom>
            <a:avLst/>
            <a:gdLst/>
            <a:ahLst/>
            <a:cxnLst/>
            <a:rect l="l" t="t" r="r" b="b"/>
            <a:pathLst>
              <a:path w="3270792" h="4318716">
                <a:moveTo>
                  <a:pt x="0" y="0"/>
                </a:moveTo>
                <a:lnTo>
                  <a:pt x="3270792" y="0"/>
                </a:lnTo>
                <a:lnTo>
                  <a:pt x="3270792" y="4318716"/>
                </a:lnTo>
                <a:lnTo>
                  <a:pt x="0" y="43187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1695503">
            <a:off x="-667352" y="-1248037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0" y="0"/>
                </a:moveTo>
                <a:lnTo>
                  <a:pt x="5780944" y="0"/>
                </a:lnTo>
                <a:lnTo>
                  <a:pt x="5780944" y="7633091"/>
                </a:lnTo>
                <a:lnTo>
                  <a:pt x="0" y="763309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0" y="-1254807"/>
            <a:ext cx="7450187" cy="11175281"/>
            <a:chOff x="0" y="0"/>
            <a:chExt cx="9144000" cy="137160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7850237" y="2799309"/>
            <a:ext cx="4580930" cy="38100"/>
            <a:chOff x="0" y="0"/>
            <a:chExt cx="6107907" cy="50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107938" cy="50800"/>
            </a:xfrm>
            <a:custGeom>
              <a:avLst/>
              <a:gdLst/>
              <a:ahLst/>
              <a:cxnLst/>
              <a:rect l="l" t="t" r="r" b="b"/>
              <a:pathLst>
                <a:path w="6107938" h="50800">
                  <a:moveTo>
                    <a:pt x="0" y="0"/>
                  </a:moveTo>
                  <a:lnTo>
                    <a:pt x="6107938" y="0"/>
                  </a:lnTo>
                  <a:lnTo>
                    <a:pt x="6107938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415E87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12714685" y="2799309"/>
            <a:ext cx="4581079" cy="38100"/>
            <a:chOff x="0" y="0"/>
            <a:chExt cx="6108105" cy="50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108065" cy="50800"/>
            </a:xfrm>
            <a:custGeom>
              <a:avLst/>
              <a:gdLst/>
              <a:ahLst/>
              <a:cxnLst/>
              <a:rect l="l" t="t" r="r" b="b"/>
              <a:pathLst>
                <a:path w="6108065" h="50800">
                  <a:moveTo>
                    <a:pt x="0" y="0"/>
                  </a:moveTo>
                  <a:lnTo>
                    <a:pt x="6108065" y="0"/>
                  </a:lnTo>
                  <a:lnTo>
                    <a:pt x="6108065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415E87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7991922" y="7044333"/>
            <a:ext cx="9445526" cy="38100"/>
            <a:chOff x="0" y="0"/>
            <a:chExt cx="12594035" cy="50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2594082" cy="50800"/>
            </a:xfrm>
            <a:custGeom>
              <a:avLst/>
              <a:gdLst/>
              <a:ahLst/>
              <a:cxnLst/>
              <a:rect l="l" t="t" r="r" b="b"/>
              <a:pathLst>
                <a:path w="12594082" h="50800">
                  <a:moveTo>
                    <a:pt x="0" y="0"/>
                  </a:moveTo>
                  <a:lnTo>
                    <a:pt x="12594082" y="0"/>
                  </a:lnTo>
                  <a:lnTo>
                    <a:pt x="12594082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415E87"/>
            </a:solidFill>
          </p:spPr>
        </p:sp>
      </p:grpSp>
      <p:sp>
        <p:nvSpPr>
          <p:cNvPr id="14" name="Freeform 14"/>
          <p:cNvSpPr/>
          <p:nvPr/>
        </p:nvSpPr>
        <p:spPr>
          <a:xfrm rot="4229768">
            <a:off x="110895" y="4288800"/>
            <a:ext cx="1075497" cy="995324"/>
          </a:xfrm>
          <a:custGeom>
            <a:avLst/>
            <a:gdLst/>
            <a:ahLst/>
            <a:cxnLst/>
            <a:rect l="l" t="t" r="r" b="b"/>
            <a:pathLst>
              <a:path w="1075497" h="995324">
                <a:moveTo>
                  <a:pt x="0" y="0"/>
                </a:moveTo>
                <a:lnTo>
                  <a:pt x="1075498" y="0"/>
                </a:lnTo>
                <a:lnTo>
                  <a:pt x="1075498" y="995324"/>
                </a:lnTo>
                <a:lnTo>
                  <a:pt x="0" y="99532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 rot="3471976" flipH="1" flipV="1">
            <a:off x="11646919" y="-2755363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5780944" y="7633090"/>
                </a:moveTo>
                <a:lnTo>
                  <a:pt x="0" y="7633090"/>
                </a:lnTo>
                <a:lnTo>
                  <a:pt x="0" y="0"/>
                </a:lnTo>
                <a:lnTo>
                  <a:pt x="5780944" y="0"/>
                </a:lnTo>
                <a:lnTo>
                  <a:pt x="5780944" y="763309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7850237" y="961876"/>
            <a:ext cx="7724835" cy="919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312"/>
              </a:lnSpc>
            </a:pPr>
            <a:r>
              <a:rPr lang="en-US" sz="5812" b="1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User Interaction Flow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991922" y="2269777"/>
            <a:ext cx="553862" cy="4143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83838"/>
                </a:solidFill>
                <a:latin typeface="PT Serif"/>
                <a:ea typeface="PT Serif"/>
                <a:cs typeface="PT Serif"/>
                <a:sym typeface="PT Serif"/>
              </a:rPr>
              <a:t>01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991922" y="2998142"/>
            <a:ext cx="3721299" cy="484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lang="en-US" sz="2874">
                <a:solidFill>
                  <a:srgbClr val="383838"/>
                </a:solidFill>
                <a:latin typeface="PT Serif"/>
                <a:ea typeface="PT Serif"/>
                <a:cs typeface="PT Serif"/>
                <a:sym typeface="PT Serif"/>
              </a:rPr>
              <a:t>Create Graph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991922" y="3557141"/>
            <a:ext cx="4580930" cy="23633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Choose between random generation (select node count and density) or interactive mode (drag nodes to connect and set edge weights).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714685" y="2269777"/>
            <a:ext cx="418690" cy="4143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83838"/>
                </a:solidFill>
                <a:latin typeface="PT Serif"/>
                <a:ea typeface="PT Serif"/>
                <a:cs typeface="PT Serif"/>
                <a:sym typeface="PT Serif"/>
              </a:rPr>
              <a:t>02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2714685" y="2998142"/>
            <a:ext cx="3721299" cy="484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lang="en-US" sz="2874">
                <a:solidFill>
                  <a:srgbClr val="383838"/>
                </a:solidFill>
                <a:latin typeface="PT Serif"/>
                <a:ea typeface="PT Serif"/>
                <a:cs typeface="PT Serif"/>
                <a:sym typeface="PT Serif"/>
              </a:rPr>
              <a:t>Select Algorithm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714685" y="3557141"/>
            <a:ext cx="4581079" cy="1456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Pick Kruskal's or Prim's algorithm. For Prim's, specify your source vertex to begin tree construction.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991922" y="6514803"/>
            <a:ext cx="553862" cy="4143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83838"/>
                </a:solidFill>
                <a:latin typeface="PT Serif"/>
                <a:ea typeface="PT Serif"/>
                <a:cs typeface="PT Serif"/>
                <a:sym typeface="PT Serif"/>
              </a:rPr>
              <a:t>03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991922" y="7243168"/>
            <a:ext cx="3721299" cy="484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lang="en-US" sz="2874">
                <a:solidFill>
                  <a:srgbClr val="383838"/>
                </a:solidFill>
                <a:latin typeface="PT Serif"/>
                <a:ea typeface="PT Serif"/>
                <a:cs typeface="PT Serif"/>
                <a:sym typeface="PT Serif"/>
              </a:rPr>
              <a:t>Visualize Execution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991922" y="7802165"/>
            <a:ext cx="9445526" cy="1456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Run the algorithm step-by-step with pause/resume control. Monitor real-time metrics, edge selections, and tree growth as the algorithm progresses.</a:t>
            </a:r>
          </a:p>
        </p:txBody>
      </p:sp>
      <p:sp>
        <p:nvSpPr>
          <p:cNvPr id="26" name="Freeform 26"/>
          <p:cNvSpPr/>
          <p:nvPr/>
        </p:nvSpPr>
        <p:spPr>
          <a:xfrm rot="6286086" flipV="1">
            <a:off x="6636319" y="6967864"/>
            <a:ext cx="1075497" cy="995324"/>
          </a:xfrm>
          <a:custGeom>
            <a:avLst/>
            <a:gdLst/>
            <a:ahLst/>
            <a:cxnLst/>
            <a:rect l="l" t="t" r="r" b="b"/>
            <a:pathLst>
              <a:path w="1075497" h="995324">
                <a:moveTo>
                  <a:pt x="0" y="995324"/>
                </a:moveTo>
                <a:lnTo>
                  <a:pt x="1075497" y="995324"/>
                </a:lnTo>
                <a:lnTo>
                  <a:pt x="1075497" y="0"/>
                </a:lnTo>
                <a:lnTo>
                  <a:pt x="0" y="0"/>
                </a:lnTo>
                <a:lnTo>
                  <a:pt x="0" y="995324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27" name="TextBox 26"/>
          <p:cNvSpPr txBox="1"/>
          <p:nvPr/>
        </p:nvSpPr>
        <p:spPr>
          <a:xfrm>
            <a:off x="14935200" y="9789056"/>
            <a:ext cx="9208084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400" dirty="0" smtClean="0"/>
              <a:t>Group No. 7 		</a:t>
            </a:r>
            <a:r>
              <a:rPr lang="en-US" sz="2400" dirty="0"/>
              <a:t>4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AFAFA"/>
            </a:solidFill>
          </p:spPr>
        </p:sp>
      </p:grpSp>
      <p:sp>
        <p:nvSpPr>
          <p:cNvPr id="4" name="Freeform 4"/>
          <p:cNvSpPr/>
          <p:nvPr/>
        </p:nvSpPr>
        <p:spPr>
          <a:xfrm rot="3998324">
            <a:off x="8132677" y="6983959"/>
            <a:ext cx="3270792" cy="4318716"/>
          </a:xfrm>
          <a:custGeom>
            <a:avLst/>
            <a:gdLst/>
            <a:ahLst/>
            <a:cxnLst/>
            <a:rect l="l" t="t" r="r" b="b"/>
            <a:pathLst>
              <a:path w="3270792" h="4318716">
                <a:moveTo>
                  <a:pt x="0" y="0"/>
                </a:moveTo>
                <a:lnTo>
                  <a:pt x="3270792" y="0"/>
                </a:lnTo>
                <a:lnTo>
                  <a:pt x="3270792" y="4318716"/>
                </a:lnTo>
                <a:lnTo>
                  <a:pt x="0" y="43187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1695503">
            <a:off x="-667352" y="-1248037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0" y="0"/>
                </a:moveTo>
                <a:lnTo>
                  <a:pt x="5780944" y="0"/>
                </a:lnTo>
                <a:lnTo>
                  <a:pt x="5780944" y="7633091"/>
                </a:lnTo>
                <a:lnTo>
                  <a:pt x="0" y="763309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16049019" y="9686925"/>
            <a:ext cx="2153256" cy="514350"/>
            <a:chOff x="0" y="0"/>
            <a:chExt cx="2871008" cy="685800"/>
          </a:xfrm>
        </p:grpSpPr>
        <p:sp>
          <p:nvSpPr>
            <p:cNvPr id="7" name="Freeform 7" descr="preencoded.png">
              <a:hlinkClick r:id="rId7" tooltip="https://gamma.app/?utm_source=made-with-gamma"/>
            </p:cNvPr>
            <p:cNvSpPr/>
            <p:nvPr/>
          </p:nvSpPr>
          <p:spPr>
            <a:xfrm>
              <a:off x="0" y="0"/>
              <a:ext cx="2870962" cy="685800"/>
            </a:xfrm>
            <a:custGeom>
              <a:avLst/>
              <a:gdLst/>
              <a:ahLst/>
              <a:cxnLst/>
              <a:rect l="l" t="t" r="r" b="b"/>
              <a:pathLst>
                <a:path w="2870962" h="685800">
                  <a:moveTo>
                    <a:pt x="0" y="0"/>
                  </a:moveTo>
                  <a:lnTo>
                    <a:pt x="2870962" y="0"/>
                  </a:lnTo>
                  <a:lnTo>
                    <a:pt x="2870962" y="685800"/>
                  </a:lnTo>
                  <a:lnTo>
                    <a:pt x="0" y="685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r="-1"/>
              </a:stretch>
            </a:blipFill>
          </p:spPr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-12965" r="-36617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7415334" y="2444800"/>
            <a:ext cx="4014666" cy="3121863"/>
            <a:chOff x="0" y="0"/>
            <a:chExt cx="4866680" cy="378440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866767" cy="3784473"/>
            </a:xfrm>
            <a:custGeom>
              <a:avLst/>
              <a:gdLst/>
              <a:ahLst/>
              <a:cxnLst/>
              <a:rect l="l" t="t" r="r" b="b"/>
              <a:pathLst>
                <a:path w="4866767" h="3784473">
                  <a:moveTo>
                    <a:pt x="0" y="43307"/>
                  </a:moveTo>
                  <a:cubicBezTo>
                    <a:pt x="0" y="19304"/>
                    <a:pt x="19304" y="0"/>
                    <a:pt x="43307" y="0"/>
                  </a:cubicBezTo>
                  <a:lnTo>
                    <a:pt x="4823460" y="0"/>
                  </a:lnTo>
                  <a:cubicBezTo>
                    <a:pt x="4847336" y="0"/>
                    <a:pt x="4866767" y="19304"/>
                    <a:pt x="4866767" y="43307"/>
                  </a:cubicBezTo>
                  <a:lnTo>
                    <a:pt x="4866767" y="3741166"/>
                  </a:lnTo>
                  <a:cubicBezTo>
                    <a:pt x="4866767" y="3765042"/>
                    <a:pt x="4847463" y="3784473"/>
                    <a:pt x="4823460" y="3784473"/>
                  </a:cubicBezTo>
                  <a:lnTo>
                    <a:pt x="43307" y="3784473"/>
                  </a:lnTo>
                  <a:cubicBezTo>
                    <a:pt x="19431" y="3784473"/>
                    <a:pt x="0" y="3765169"/>
                    <a:pt x="0" y="3741166"/>
                  </a:cubicBezTo>
                  <a:close/>
                </a:path>
              </a:pathLst>
            </a:custGeom>
            <a:solidFill>
              <a:srgbClr val="A2C7EF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7415334" y="5834144"/>
            <a:ext cx="4014666" cy="3207314"/>
            <a:chOff x="0" y="0"/>
            <a:chExt cx="4866680" cy="388798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866640" cy="3887978"/>
            </a:xfrm>
            <a:custGeom>
              <a:avLst/>
              <a:gdLst/>
              <a:ahLst/>
              <a:cxnLst/>
              <a:rect l="l" t="t" r="r" b="b"/>
              <a:pathLst>
                <a:path w="4866640" h="3887978">
                  <a:moveTo>
                    <a:pt x="0" y="43180"/>
                  </a:moveTo>
                  <a:cubicBezTo>
                    <a:pt x="0" y="19304"/>
                    <a:pt x="19304" y="0"/>
                    <a:pt x="43180" y="0"/>
                  </a:cubicBezTo>
                  <a:lnTo>
                    <a:pt x="4823460" y="0"/>
                  </a:lnTo>
                  <a:cubicBezTo>
                    <a:pt x="4847336" y="0"/>
                    <a:pt x="4866640" y="19304"/>
                    <a:pt x="4866640" y="43180"/>
                  </a:cubicBezTo>
                  <a:lnTo>
                    <a:pt x="4866640" y="3844798"/>
                  </a:lnTo>
                  <a:cubicBezTo>
                    <a:pt x="4866640" y="3868674"/>
                    <a:pt x="4847336" y="3887978"/>
                    <a:pt x="4823460" y="3887978"/>
                  </a:cubicBezTo>
                  <a:lnTo>
                    <a:pt x="43180" y="3887978"/>
                  </a:lnTo>
                  <a:cubicBezTo>
                    <a:pt x="19304" y="3887978"/>
                    <a:pt x="0" y="3868674"/>
                    <a:pt x="0" y="3844798"/>
                  </a:cubicBezTo>
                  <a:close/>
                </a:path>
              </a:pathLst>
            </a:custGeom>
            <a:solidFill>
              <a:srgbClr val="A2C7EF"/>
            </a:solidFill>
          </p:spPr>
        </p:sp>
      </p:grpSp>
      <p:sp>
        <p:nvSpPr>
          <p:cNvPr id="14" name="TextBox 14"/>
          <p:cNvSpPr txBox="1"/>
          <p:nvPr/>
        </p:nvSpPr>
        <p:spPr>
          <a:xfrm>
            <a:off x="756791" y="873394"/>
            <a:ext cx="7062639" cy="88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66"/>
              </a:lnSpc>
            </a:pPr>
            <a:r>
              <a:rPr lang="en-US" sz="5637" b="1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Kruskal's Algorithm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6791" y="2225415"/>
            <a:ext cx="5738813" cy="5278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58"/>
              </a:lnSpc>
            </a:pPr>
            <a:r>
              <a:rPr lang="en-US" sz="3387">
                <a:solidFill>
                  <a:srgbClr val="020202"/>
                </a:solidFill>
                <a:latin typeface="PT Serif"/>
                <a:ea typeface="PT Serif"/>
                <a:cs typeface="PT Serif"/>
                <a:sym typeface="PT Serif"/>
              </a:rPr>
              <a:t>Edge-Based Greedy Approach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6791" y="3016827"/>
            <a:ext cx="5738812" cy="1485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84"/>
              </a:lnSpc>
            </a:pPr>
            <a:r>
              <a:rPr lang="en-US" sz="2487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Kruskal's algorithm processes edges in ascending order by weight, building the MST by selectively adding edges that don't create cycles.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6791" y="5038797"/>
            <a:ext cx="3190763" cy="5278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58"/>
              </a:lnSpc>
            </a:pPr>
            <a:r>
              <a:rPr lang="en-US" sz="3387">
                <a:solidFill>
                  <a:srgbClr val="020202"/>
                </a:solidFill>
                <a:latin typeface="PT Serif"/>
                <a:ea typeface="PT Serif"/>
                <a:cs typeface="PT Serif"/>
                <a:sym typeface="PT Serif"/>
              </a:rPr>
              <a:t>Algorithm Steps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09141" y="5827465"/>
            <a:ext cx="6275784" cy="428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3868" lvl="1" indent="-246934" algn="l">
              <a:lnSpc>
                <a:spcPts val="3643"/>
              </a:lnSpc>
              <a:buFont typeface="Arial"/>
              <a:buChar char="•"/>
            </a:pPr>
            <a:r>
              <a:rPr lang="en-US" sz="2287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Sort all edges by weight (ascending order)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09141" y="6248946"/>
            <a:ext cx="5738812" cy="428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3868" lvl="1" indent="-246934" algn="l">
              <a:lnSpc>
                <a:spcPts val="3643"/>
              </a:lnSpc>
              <a:buFont typeface="Arial"/>
              <a:buChar char="•"/>
            </a:pPr>
            <a:r>
              <a:rPr lang="en-US" sz="2287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Examine each edge sequentially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09141" y="6670427"/>
            <a:ext cx="5738812" cy="428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3868" lvl="1" indent="-246934" algn="l">
              <a:lnSpc>
                <a:spcPts val="3643"/>
              </a:lnSpc>
              <a:buFont typeface="Arial"/>
              <a:buChar char="•"/>
            </a:pPr>
            <a:r>
              <a:rPr lang="en-US" sz="2287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Use Union-Find to detect cycles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09141" y="7091908"/>
            <a:ext cx="5738812" cy="428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3868" lvl="1" indent="-246934" algn="l">
              <a:lnSpc>
                <a:spcPts val="3643"/>
              </a:lnSpc>
              <a:buFont typeface="Arial"/>
              <a:buChar char="•"/>
            </a:pPr>
            <a:r>
              <a:rPr lang="en-US" sz="2287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Add edge to MST if no cycle (GREEN)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09141" y="7513390"/>
            <a:ext cx="5738812" cy="428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3868" lvl="1" indent="-246934" algn="l">
              <a:lnSpc>
                <a:spcPts val="3643"/>
              </a:lnSpc>
              <a:buFont typeface="Arial"/>
              <a:buChar char="•"/>
            </a:pPr>
            <a:r>
              <a:rPr lang="en-US" sz="2287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Skip edge if cycle detected (RED)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09141" y="7932737"/>
            <a:ext cx="6056162" cy="428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3868" lvl="1" indent="-246934" algn="l">
              <a:lnSpc>
                <a:spcPts val="3643"/>
              </a:lnSpc>
              <a:buFont typeface="Arial"/>
              <a:buChar char="•"/>
            </a:pPr>
            <a:r>
              <a:rPr lang="en-US" sz="2287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Continue until all vertices are connected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819430" y="2743757"/>
            <a:ext cx="2944040" cy="8097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76"/>
              </a:lnSpc>
            </a:pPr>
            <a:r>
              <a:rPr lang="en-US" sz="2606" b="1">
                <a:solidFill>
                  <a:srgbClr val="000000"/>
                </a:solidFill>
                <a:latin typeface="PT Serif Bold"/>
                <a:ea typeface="PT Serif Bold"/>
                <a:cs typeface="PT Serif Bold"/>
                <a:sym typeface="PT Serif Bold"/>
              </a:rPr>
              <a:t>Union-Find Data Structure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819430" y="3683577"/>
            <a:ext cx="3372883" cy="792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10084" lvl="1" indent="-155042" algn="l">
              <a:lnSpc>
                <a:spcPts val="3274"/>
              </a:lnSpc>
              <a:buFont typeface="Arial"/>
              <a:buChar char="•"/>
            </a:pPr>
            <a:r>
              <a:rPr lang="en-US" sz="2056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find(x):</a:t>
            </a:r>
            <a:r>
              <a:rPr lang="en-US" sz="2056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Locates set with path compression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819430" y="4441477"/>
            <a:ext cx="2911513" cy="792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10084" lvl="1" indent="-155042" algn="l">
              <a:lnSpc>
                <a:spcPts val="3274"/>
              </a:lnSpc>
              <a:buFont typeface="Arial"/>
              <a:buChar char="•"/>
            </a:pPr>
            <a:r>
              <a:rPr lang="en-US" sz="2056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union(a,b):</a:t>
            </a:r>
            <a:r>
              <a:rPr lang="en-US" sz="2056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Connects two disjoint sets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695313" y="6112203"/>
            <a:ext cx="3497000" cy="3825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4"/>
              </a:lnSpc>
            </a:pPr>
            <a:r>
              <a:rPr lang="en-US" sz="2406" b="1">
                <a:solidFill>
                  <a:srgbClr val="000000"/>
                </a:solidFill>
                <a:latin typeface="PT Serif Bold"/>
                <a:ea typeface="PT Serif Bold"/>
                <a:cs typeface="PT Serif Bold"/>
                <a:sym typeface="PT Serif Bold"/>
              </a:rPr>
              <a:t>Complexity Analysis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695313" y="6592212"/>
            <a:ext cx="2911513" cy="383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43909" lvl="1" indent="-221955" algn="l">
              <a:lnSpc>
                <a:spcPts val="3274"/>
              </a:lnSpc>
              <a:buFont typeface="Arial"/>
              <a:buChar char="•"/>
            </a:pPr>
            <a:r>
              <a:rPr lang="en-US" sz="2056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Time:</a:t>
            </a:r>
            <a:r>
              <a:rPr lang="en-US" sz="2056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O(E log E)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688243" y="6976907"/>
            <a:ext cx="2911513" cy="383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43909" lvl="1" indent="-221955" algn="l">
              <a:lnSpc>
                <a:spcPts val="3274"/>
              </a:lnSpc>
              <a:buFont typeface="Arial"/>
              <a:buChar char="•"/>
            </a:pPr>
            <a:r>
              <a:rPr lang="en-US" sz="2056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Space:</a:t>
            </a:r>
            <a:r>
              <a:rPr lang="en-US" sz="2056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O(V)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665720" y="7361601"/>
            <a:ext cx="3097750" cy="1202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43909" lvl="1" indent="-221955" algn="l">
              <a:lnSpc>
                <a:spcPts val="3274"/>
              </a:lnSpc>
              <a:buFont typeface="Arial"/>
              <a:buChar char="•"/>
            </a:pPr>
            <a:r>
              <a:rPr lang="en-US" sz="2056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Best For:</a:t>
            </a:r>
            <a:r>
              <a:rPr lang="en-US" sz="2056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Sparse graphs with fewer edges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935200" y="9789056"/>
            <a:ext cx="9208084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400" dirty="0" smtClean="0"/>
              <a:t>Group No. 7 		</a:t>
            </a:r>
            <a:r>
              <a:rPr lang="en-US" sz="2400" dirty="0" smtClean="0"/>
              <a:t>5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AFAFA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-15240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6" name="Freeform 6"/>
          <p:cNvSpPr/>
          <p:nvPr/>
        </p:nvSpPr>
        <p:spPr>
          <a:xfrm rot="3998324">
            <a:off x="8132677" y="6983959"/>
            <a:ext cx="3270792" cy="4318716"/>
          </a:xfrm>
          <a:custGeom>
            <a:avLst/>
            <a:gdLst/>
            <a:ahLst/>
            <a:cxnLst/>
            <a:rect l="l" t="t" r="r" b="b"/>
            <a:pathLst>
              <a:path w="3270792" h="4318716">
                <a:moveTo>
                  <a:pt x="0" y="0"/>
                </a:moveTo>
                <a:lnTo>
                  <a:pt x="3270792" y="0"/>
                </a:lnTo>
                <a:lnTo>
                  <a:pt x="3270792" y="4318716"/>
                </a:lnTo>
                <a:lnTo>
                  <a:pt x="0" y="431871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1695503">
            <a:off x="-667352" y="-1248037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0" y="0"/>
                </a:moveTo>
                <a:lnTo>
                  <a:pt x="5780944" y="0"/>
                </a:lnTo>
                <a:lnTo>
                  <a:pt x="5780944" y="7633091"/>
                </a:lnTo>
                <a:lnTo>
                  <a:pt x="0" y="763309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0" y="0"/>
            <a:ext cx="6858000" cy="10287000"/>
            <a:chOff x="0" y="0"/>
            <a:chExt cx="9144000" cy="13716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47802" r="-5279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3492020" y="2041475"/>
            <a:ext cx="3934405" cy="3417391"/>
            <a:chOff x="0" y="0"/>
            <a:chExt cx="5245873" cy="455652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5245904" cy="4556505"/>
            </a:xfrm>
            <a:custGeom>
              <a:avLst/>
              <a:gdLst/>
              <a:ahLst/>
              <a:cxnLst/>
              <a:rect l="l" t="t" r="r" b="b"/>
              <a:pathLst>
                <a:path w="5245904" h="4556505">
                  <a:moveTo>
                    <a:pt x="0" y="45320"/>
                  </a:moveTo>
                  <a:cubicBezTo>
                    <a:pt x="0" y="20249"/>
                    <a:pt x="19955" y="0"/>
                    <a:pt x="44662" y="0"/>
                  </a:cubicBezTo>
                  <a:lnTo>
                    <a:pt x="5201245" y="0"/>
                  </a:lnTo>
                  <a:cubicBezTo>
                    <a:pt x="5225951" y="0"/>
                    <a:pt x="5245904" y="20249"/>
                    <a:pt x="5245904" y="45320"/>
                  </a:cubicBezTo>
                  <a:lnTo>
                    <a:pt x="5245904" y="4511185"/>
                  </a:lnTo>
                  <a:cubicBezTo>
                    <a:pt x="5245904" y="4536256"/>
                    <a:pt x="5225951" y="4556505"/>
                    <a:pt x="5201245" y="4556505"/>
                  </a:cubicBezTo>
                  <a:lnTo>
                    <a:pt x="44662" y="4556505"/>
                  </a:lnTo>
                  <a:cubicBezTo>
                    <a:pt x="19955" y="4556505"/>
                    <a:pt x="0" y="4536256"/>
                    <a:pt x="0" y="4511185"/>
                  </a:cubicBezTo>
                  <a:close/>
                </a:path>
              </a:pathLst>
            </a:custGeom>
            <a:solidFill>
              <a:srgbClr val="A2C7EF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13492020" y="5668416"/>
            <a:ext cx="3934405" cy="2818359"/>
            <a:chOff x="0" y="0"/>
            <a:chExt cx="5245873" cy="3757812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5245904" cy="3757803"/>
            </a:xfrm>
            <a:custGeom>
              <a:avLst/>
              <a:gdLst/>
              <a:ahLst/>
              <a:cxnLst/>
              <a:rect l="l" t="t" r="r" b="b"/>
              <a:pathLst>
                <a:path w="5245904" h="3757803">
                  <a:moveTo>
                    <a:pt x="0" y="41783"/>
                  </a:moveTo>
                  <a:cubicBezTo>
                    <a:pt x="0" y="18669"/>
                    <a:pt x="19955" y="0"/>
                    <a:pt x="44662" y="0"/>
                  </a:cubicBezTo>
                  <a:lnTo>
                    <a:pt x="5201245" y="0"/>
                  </a:lnTo>
                  <a:cubicBezTo>
                    <a:pt x="5225951" y="0"/>
                    <a:pt x="5245904" y="18669"/>
                    <a:pt x="5245904" y="41783"/>
                  </a:cubicBezTo>
                  <a:lnTo>
                    <a:pt x="5245904" y="3716020"/>
                  </a:lnTo>
                  <a:cubicBezTo>
                    <a:pt x="5245904" y="3739134"/>
                    <a:pt x="5225951" y="3757803"/>
                    <a:pt x="5201245" y="3757803"/>
                  </a:cubicBezTo>
                  <a:lnTo>
                    <a:pt x="44662" y="3757803"/>
                  </a:lnTo>
                  <a:cubicBezTo>
                    <a:pt x="19955" y="3757803"/>
                    <a:pt x="0" y="3739134"/>
                    <a:pt x="0" y="3716020"/>
                  </a:cubicBezTo>
                  <a:close/>
                </a:path>
              </a:pathLst>
            </a:custGeom>
            <a:solidFill>
              <a:srgbClr val="A2C7EF"/>
            </a:solidFill>
          </p:spPr>
        </p:sp>
      </p:grpSp>
      <p:sp>
        <p:nvSpPr>
          <p:cNvPr id="14" name="Freeform 14"/>
          <p:cNvSpPr/>
          <p:nvPr/>
        </p:nvSpPr>
        <p:spPr>
          <a:xfrm rot="3471976" flipH="1" flipV="1">
            <a:off x="11075260" y="-3473120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5780944" y="7633091"/>
                </a:moveTo>
                <a:lnTo>
                  <a:pt x="0" y="7633091"/>
                </a:lnTo>
                <a:lnTo>
                  <a:pt x="0" y="0"/>
                </a:lnTo>
                <a:lnTo>
                  <a:pt x="5780944" y="0"/>
                </a:lnTo>
                <a:lnTo>
                  <a:pt x="5780944" y="7633091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6858000" y="1000125"/>
            <a:ext cx="6056971" cy="881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29"/>
              </a:lnSpc>
            </a:pPr>
            <a:r>
              <a:rPr lang="en-US" sz="5640" b="1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Prim's Algorithm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58000" y="2182145"/>
            <a:ext cx="6056971" cy="5341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87"/>
              </a:lnSpc>
            </a:pPr>
            <a:r>
              <a:rPr lang="en-US" sz="3390">
                <a:solidFill>
                  <a:srgbClr val="020202"/>
                </a:solidFill>
                <a:latin typeface="PT Serif"/>
                <a:ea typeface="PT Serif"/>
                <a:cs typeface="PT Serif"/>
                <a:sym typeface="PT Serif"/>
              </a:rPr>
              <a:t>Vertex-Based Greedy Approach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998401" y="2879229"/>
            <a:ext cx="5776169" cy="1485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88"/>
              </a:lnSpc>
            </a:pPr>
            <a:r>
              <a:rPr lang="en-US" sz="2490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Prim's algorithm grows the MST from a source vertex, continuously adding minimum-weight edges connecting visited and unvisited vertices.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002884" y="4687045"/>
            <a:ext cx="3313771" cy="5341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87"/>
              </a:lnSpc>
            </a:pPr>
            <a:r>
              <a:rPr lang="en-US" sz="3390">
                <a:solidFill>
                  <a:srgbClr val="020202"/>
                </a:solidFill>
                <a:latin typeface="PT Serif"/>
                <a:ea typeface="PT Serif"/>
                <a:cs typeface="PT Serif"/>
                <a:sym typeface="PT Serif"/>
              </a:rPr>
              <a:t>Algorithm Steps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858000" y="5354512"/>
            <a:ext cx="5776169" cy="4316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4410" lvl="1" indent="-247205" algn="l">
              <a:lnSpc>
                <a:spcPts val="3699"/>
              </a:lnSpc>
              <a:buFont typeface="Arial"/>
              <a:buChar char="•"/>
            </a:pPr>
            <a:r>
              <a:rPr lang="en-US" sz="2289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Start from designated source vertex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58000" y="5772724"/>
            <a:ext cx="5776169" cy="4316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4410" lvl="1" indent="-247205" algn="l">
              <a:lnSpc>
                <a:spcPts val="3699"/>
              </a:lnSpc>
              <a:buFont typeface="Arial"/>
              <a:buChar char="•"/>
            </a:pPr>
            <a:r>
              <a:rPr lang="en-US" sz="2289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Add source to visited set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858000" y="6164823"/>
            <a:ext cx="5776169" cy="4316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4410" lvl="1" indent="-247205" algn="l">
              <a:lnSpc>
                <a:spcPts val="3699"/>
              </a:lnSpc>
              <a:buFont typeface="Arial"/>
              <a:buChar char="•"/>
            </a:pPr>
            <a:r>
              <a:rPr lang="en-US" sz="2289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Examine all edges from visited vertices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858000" y="6672667"/>
            <a:ext cx="6056971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4410" lvl="1" indent="-247205" algn="l">
              <a:lnSpc>
                <a:spcPts val="2747"/>
              </a:lnSpc>
              <a:buFont typeface="Arial"/>
              <a:buChar char="•"/>
            </a:pPr>
            <a:r>
              <a:rPr lang="en-US" sz="2289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Select minimum weight edge to unvisited vertex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858000" y="7434667"/>
            <a:ext cx="5776169" cy="685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4410" lvl="1" indent="-247205" algn="l">
              <a:lnSpc>
                <a:spcPts val="2747"/>
              </a:lnSpc>
              <a:buFont typeface="Arial"/>
              <a:buChar char="•"/>
            </a:pPr>
            <a:r>
              <a:rPr lang="en-US" sz="2289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Add edge to MST (GREEN) and mark vertex as visited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858000" y="8110942"/>
            <a:ext cx="5776169" cy="4316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4410" lvl="1" indent="-247205" algn="l">
              <a:lnSpc>
                <a:spcPts val="3699"/>
              </a:lnSpc>
              <a:buFont typeface="Arial"/>
              <a:buChar char="•"/>
            </a:pPr>
            <a:r>
              <a:rPr lang="en-US" sz="2289">
                <a:solidFill>
                  <a:srgbClr val="383838"/>
                </a:solidFill>
                <a:latin typeface="DM Sans"/>
                <a:ea typeface="DM Sans"/>
                <a:cs typeface="DM Sans"/>
                <a:sym typeface="DM Sans"/>
              </a:rPr>
              <a:t>Repeat until all vertices are visited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965732" y="2330664"/>
            <a:ext cx="2986982" cy="835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lang="en-US" sz="2610" b="1">
                <a:solidFill>
                  <a:srgbClr val="000000"/>
                </a:solidFill>
                <a:latin typeface="PT Serif Bold"/>
                <a:ea typeface="PT Serif Bold"/>
                <a:cs typeface="PT Serif Bold"/>
                <a:sym typeface="PT Serif Bold"/>
              </a:rPr>
              <a:t>Priority Queue Structure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3965732" y="3326010"/>
            <a:ext cx="2711054" cy="609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10674" lvl="1" indent="-155337" algn="l">
              <a:lnSpc>
                <a:spcPts val="2472"/>
              </a:lnSpc>
              <a:buFont typeface="Arial"/>
              <a:buChar char="•"/>
            </a:pPr>
            <a:r>
              <a:rPr lang="en-US" sz="206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Maintains available edges efficiently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3965732" y="4067621"/>
            <a:ext cx="3084614" cy="304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10674" lvl="1" indent="-155337" algn="l">
              <a:lnSpc>
                <a:spcPts val="2472"/>
              </a:lnSpc>
              <a:buFont typeface="Arial"/>
              <a:buChar char="•"/>
            </a:pPr>
            <a:r>
              <a:rPr lang="en-US" sz="206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Sorted by edge weight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965732" y="4474964"/>
            <a:ext cx="2711054" cy="609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10674" lvl="1" indent="-155337" algn="l">
              <a:lnSpc>
                <a:spcPts val="2472"/>
              </a:lnSpc>
              <a:buFont typeface="Arial"/>
              <a:buChar char="•"/>
            </a:pPr>
            <a:r>
              <a:rPr lang="en-US" sz="206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Enables quick minimum selection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965732" y="6001791"/>
            <a:ext cx="2711054" cy="3159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87"/>
              </a:lnSpc>
            </a:pPr>
            <a:r>
              <a:rPr lang="en-US" sz="2125" b="1">
                <a:solidFill>
                  <a:srgbClr val="000000"/>
                </a:solidFill>
                <a:latin typeface="PT Serif Bold"/>
                <a:ea typeface="PT Serif Bold"/>
                <a:cs typeface="PT Serif Bold"/>
                <a:sym typeface="PT Serif Bold"/>
              </a:rPr>
              <a:t>Complexity Analysis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3851432" y="6420742"/>
            <a:ext cx="2711054" cy="396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44755" lvl="1" indent="-222377" algn="l">
              <a:lnSpc>
                <a:spcPts val="3327"/>
              </a:lnSpc>
              <a:buFont typeface="Arial"/>
              <a:buChar char="•"/>
            </a:pPr>
            <a:r>
              <a:rPr lang="en-US" sz="206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Time:</a:t>
            </a:r>
            <a:r>
              <a:rPr lang="en-US" sz="206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O(E log V)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3841907" y="6835944"/>
            <a:ext cx="2711054" cy="396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44755" lvl="1" indent="-222377" algn="l">
              <a:lnSpc>
                <a:spcPts val="3327"/>
              </a:lnSpc>
              <a:buFont typeface="Arial"/>
              <a:buChar char="•"/>
            </a:pPr>
            <a:r>
              <a:rPr lang="en-US" sz="206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Space:</a:t>
            </a:r>
            <a:r>
              <a:rPr lang="en-US" sz="206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O(V)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3841907" y="7251146"/>
            <a:ext cx="3417393" cy="8152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44755" lvl="1" indent="-222377" algn="l">
              <a:lnSpc>
                <a:spcPts val="3327"/>
              </a:lnSpc>
              <a:buFont typeface="Arial"/>
              <a:buChar char="•"/>
            </a:pPr>
            <a:r>
              <a:rPr lang="en-US" sz="2060" b="1">
                <a:solidFill>
                  <a:srgbClr val="000000"/>
                </a:solidFill>
                <a:latin typeface="DM Sans Bold"/>
                <a:ea typeface="DM Sans Bold"/>
                <a:cs typeface="DM Sans Bold"/>
                <a:sym typeface="DM Sans Bold"/>
              </a:rPr>
              <a:t>Best For:</a:t>
            </a:r>
            <a:r>
              <a:rPr lang="en-US" sz="206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Dense graphs with many edges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935200" y="9789056"/>
            <a:ext cx="9208084" cy="3693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400" dirty="0" smtClean="0"/>
              <a:t>Group No. 7 		</a:t>
            </a:r>
            <a:r>
              <a:rPr lang="en-US" sz="2400" dirty="0" smtClean="0"/>
              <a:t>6</a:t>
            </a:r>
            <a:endParaRPr lang="en-US" sz="2120" dirty="0">
              <a:solidFill>
                <a:srgbClr val="383838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AFAFA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6" name="Freeform 6"/>
          <p:cNvSpPr/>
          <p:nvPr/>
        </p:nvSpPr>
        <p:spPr>
          <a:xfrm rot="2339688">
            <a:off x="11749101" y="4133095"/>
            <a:ext cx="6643732" cy="8772307"/>
          </a:xfrm>
          <a:custGeom>
            <a:avLst/>
            <a:gdLst/>
            <a:ahLst/>
            <a:cxnLst/>
            <a:rect l="l" t="t" r="r" b="b"/>
            <a:pathLst>
              <a:path w="6643732" h="8772307">
                <a:moveTo>
                  <a:pt x="0" y="0"/>
                </a:moveTo>
                <a:lnTo>
                  <a:pt x="6643732" y="0"/>
                </a:lnTo>
                <a:lnTo>
                  <a:pt x="6643732" y="8772306"/>
                </a:lnTo>
                <a:lnTo>
                  <a:pt x="0" y="877230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-8948988">
            <a:off x="-82136" y="-2787845"/>
            <a:ext cx="5780943" cy="7633090"/>
          </a:xfrm>
          <a:custGeom>
            <a:avLst/>
            <a:gdLst/>
            <a:ahLst/>
            <a:cxnLst/>
            <a:rect l="l" t="t" r="r" b="b"/>
            <a:pathLst>
              <a:path w="5780943" h="7633090">
                <a:moveTo>
                  <a:pt x="0" y="0"/>
                </a:moveTo>
                <a:lnTo>
                  <a:pt x="5780944" y="0"/>
                </a:lnTo>
                <a:lnTo>
                  <a:pt x="5780944" y="7633090"/>
                </a:lnTo>
                <a:lnTo>
                  <a:pt x="0" y="763309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5068119" y="3960648"/>
            <a:ext cx="8151762" cy="11828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451"/>
              </a:lnSpc>
            </a:pPr>
            <a:r>
              <a:rPr lang="en-US" sz="7512" b="1">
                <a:solidFill>
                  <a:srgbClr val="020202"/>
                </a:solidFill>
                <a:latin typeface="PT Serif Bold"/>
                <a:ea typeface="PT Serif Bold"/>
                <a:cs typeface="PT Serif Bold"/>
                <a:sym typeface="PT Serif Bold"/>
              </a:rPr>
              <a:t>Thank you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068119" y="5330266"/>
            <a:ext cx="8151762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7"/>
              </a:lnSpc>
            </a:pPr>
            <a:r>
              <a:rPr lang="en-US" sz="3039" i="1">
                <a:solidFill>
                  <a:srgbClr val="383838"/>
                </a:solidFill>
                <a:latin typeface="DM Sans Italics"/>
                <a:ea typeface="DM Sans Italics"/>
                <a:cs typeface="DM Sans Italics"/>
                <a:sym typeface="DM Sans Italics"/>
              </a:rPr>
              <a:t>Group No.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469</Words>
  <Application>Microsoft Office PowerPoint</Application>
  <PresentationFormat>Custom</PresentationFormat>
  <Paragraphs>109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Arial</vt:lpstr>
      <vt:lpstr>PT Serif Bold</vt:lpstr>
      <vt:lpstr>DM Sans Italics</vt:lpstr>
      <vt:lpstr>PT Serif</vt:lpstr>
      <vt:lpstr>Calibri</vt:lpstr>
      <vt:lpstr>DM Sans Bold</vt:lpstr>
      <vt:lpstr>DM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MST-Visualizer.pptx</dc:title>
  <cp:lastModifiedBy>user</cp:lastModifiedBy>
  <cp:revision>2</cp:revision>
  <dcterms:created xsi:type="dcterms:W3CDTF">2006-08-16T00:00:00Z</dcterms:created>
  <dcterms:modified xsi:type="dcterms:W3CDTF">2025-11-11T04:55:31Z</dcterms:modified>
  <dc:identifier>DAG4TaHXYGc</dc:identifier>
</cp:coreProperties>
</file>