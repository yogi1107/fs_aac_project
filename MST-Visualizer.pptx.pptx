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T Serif Bold" charset="1" panose="020A0703040505020204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  <p:embeddedFont>
      <p:font typeface="PT Serif" charset="1" panose="020A0603040505020204"/>
      <p:regular r:id="rId19"/>
    </p:embeddedFont>
    <p:embeddedFont>
      <p:font typeface="DM Sans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https://gamma.app/?utm_source=made-with-gamma" TargetMode="External" Type="http://schemas.openxmlformats.org/officeDocument/2006/relationships/hyperlink"/><Relationship Id="rId8" Target="../media/image1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344275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832" t="0" r="-2979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3998324">
            <a:off x="8132677" y="6983959"/>
            <a:ext cx="3270792" cy="4318716"/>
          </a:xfrm>
          <a:custGeom>
            <a:avLst/>
            <a:gdLst/>
            <a:ahLst/>
            <a:cxnLst/>
            <a:rect r="r" b="b" t="t" l="l"/>
            <a:pathLst>
              <a:path h="4318716" w="3270792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95503">
            <a:off x="-667352" y="-1248037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15303" y="1799080"/>
            <a:ext cx="8151762" cy="11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1"/>
              </a:lnSpc>
            </a:pPr>
            <a:r>
              <a:rPr lang="en-US" sz="7512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MST Visualizer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5778" y="3039082"/>
            <a:ext cx="81517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303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Interactive Minimum Spanning Tree Algorithm Visualizer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5778" y="4161956"/>
            <a:ext cx="8630032" cy="225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5"/>
              </a:lnSpc>
            </a:pPr>
            <a:r>
              <a:rPr lang="en-US" sz="6279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Kruskal's &amp; Prim's Algorithms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4970" y="1250408"/>
            <a:ext cx="4115278" cy="58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0"/>
              </a:lnSpc>
            </a:pPr>
            <a:r>
              <a:rPr lang="en-US" sz="3058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CSC-520 : Practical 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230799" y="6923024"/>
            <a:ext cx="5320769" cy="2335276"/>
            <a:chOff x="0" y="0"/>
            <a:chExt cx="7094359" cy="311370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00312"/>
              <a:ext cx="7094359" cy="65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3"/>
                </a:lnSpc>
              </a:pPr>
              <a:r>
                <a:rPr lang="en-US" sz="31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Abhishek Jaiswar - 256201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02860" y="-123825"/>
              <a:ext cx="3288639" cy="740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0"/>
                </a:lnSpc>
              </a:pPr>
              <a:r>
                <a:rPr lang="en-US" sz="3058" b="true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 No. 7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677294"/>
              <a:ext cx="7094359" cy="65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3"/>
                </a:lnSpc>
              </a:pPr>
              <a:r>
                <a:rPr lang="en-US" sz="31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Yogiraj Bhilare - 256228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454277"/>
              <a:ext cx="7094359" cy="65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3"/>
                </a:lnSpc>
              </a:pPr>
              <a:r>
                <a:rPr lang="en-US" sz="31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Tejas Patare - 256259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3998324">
            <a:off x="8132677" y="6983959"/>
            <a:ext cx="3270792" cy="4318716"/>
          </a:xfrm>
          <a:custGeom>
            <a:avLst/>
            <a:gdLst/>
            <a:ahLst/>
            <a:cxnLst/>
            <a:rect r="r" b="b" t="t" l="l"/>
            <a:pathLst>
              <a:path h="4318716" w="3270792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9832" y="2169335"/>
            <a:ext cx="7156705" cy="6870436"/>
          </a:xfrm>
          <a:custGeom>
            <a:avLst/>
            <a:gdLst/>
            <a:ahLst/>
            <a:cxnLst/>
            <a:rect r="r" b="b" t="t" l="l"/>
            <a:pathLst>
              <a:path h="6870436" w="7156705">
                <a:moveTo>
                  <a:pt x="0" y="0"/>
                </a:moveTo>
                <a:lnTo>
                  <a:pt x="7156704" y="0"/>
                </a:lnTo>
                <a:lnTo>
                  <a:pt x="7156704" y="6870436"/>
                </a:lnTo>
                <a:lnTo>
                  <a:pt x="0" y="6870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1550" y="734765"/>
            <a:ext cx="857767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5687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What is MST Visualizer?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98866" y="2111432"/>
            <a:ext cx="3643759" cy="51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312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Purpose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98866" y="2654548"/>
            <a:ext cx="9208084" cy="217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sz="27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An interactive web application that visualizes Minimum Spanning Tree algorithms with step-by-step execution, helping students understand complex graph algorithms through real-time visual demonstration.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8866" y="5262736"/>
            <a:ext cx="3643759" cy="51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312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Key Features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69373" y="5970315"/>
            <a:ext cx="9437577" cy="2427708"/>
            <a:chOff x="0" y="0"/>
            <a:chExt cx="12583437" cy="323694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12583437" cy="64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963" indent="-205481" lvl="1">
                <a:lnSpc>
                  <a:spcPts val="4408"/>
                </a:lnSpc>
                <a:buFont typeface="Arial"/>
                <a:buChar char="•"/>
              </a:pPr>
              <a:r>
                <a:rPr lang="en-US" sz="27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Interactive drag-and-drop graph creation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68489"/>
              <a:ext cx="12583437" cy="64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963" indent="-205481" lvl="1">
                <a:lnSpc>
                  <a:spcPts val="4408"/>
                </a:lnSpc>
                <a:buFont typeface="Arial"/>
                <a:buChar char="•"/>
              </a:pPr>
              <a:r>
                <a:rPr lang="en-US" sz="27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Random graph generation with configurable density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241754"/>
              <a:ext cx="12583437" cy="64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963" indent="-205481" lvl="1">
                <a:lnSpc>
                  <a:spcPts val="4408"/>
                </a:lnSpc>
                <a:buFont typeface="Arial"/>
                <a:buChar char="•"/>
              </a:pPr>
              <a:r>
                <a:rPr lang="en-US" sz="27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Step-by-step algorithm visualization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915018"/>
              <a:ext cx="12583437" cy="64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963" indent="-205481" lvl="1">
                <a:lnSpc>
                  <a:spcPts val="4408"/>
                </a:lnSpc>
                <a:buFont typeface="Arial"/>
                <a:buChar char="•"/>
              </a:pPr>
              <a:r>
                <a:rPr lang="en-US" sz="27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Support for both Kruskal's and Prim's algorithms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588284"/>
              <a:ext cx="12583437" cy="64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963" indent="-205481" lvl="1">
                <a:lnSpc>
                  <a:spcPts val="4408"/>
                </a:lnSpc>
                <a:buFont typeface="Arial"/>
                <a:buChar char="•"/>
              </a:pPr>
              <a:r>
                <a:rPr lang="en-US" sz="27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Pause/Resume control and real-time metrics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true" flipV="true" rot="3471976">
            <a:off x="11646919" y="-2755363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true" flipV="true" rot="3471976">
            <a:off x="11646919" y="-2755363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95503">
            <a:off x="-667352" y="-1248037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2487" y="3025527"/>
            <a:ext cx="16425862" cy="1808857"/>
            <a:chOff x="0" y="0"/>
            <a:chExt cx="21901150" cy="2411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1150" cy="2411857"/>
            </a:xfrm>
            <a:custGeom>
              <a:avLst/>
              <a:gdLst/>
              <a:ahLst/>
              <a:cxnLst/>
              <a:rect r="r" b="b" t="t" l="l"/>
              <a:pathLst>
                <a:path h="2411857" w="21901150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21847938" y="0"/>
                  </a:lnTo>
                  <a:cubicBezTo>
                    <a:pt x="21877275" y="0"/>
                    <a:pt x="21901150" y="23876"/>
                    <a:pt x="21901150" y="53213"/>
                  </a:cubicBezTo>
                  <a:lnTo>
                    <a:pt x="21901150" y="2358644"/>
                  </a:lnTo>
                  <a:cubicBezTo>
                    <a:pt x="21901150" y="2387981"/>
                    <a:pt x="21877275" y="2411857"/>
                    <a:pt x="21847938" y="2411857"/>
                  </a:cubicBezTo>
                  <a:lnTo>
                    <a:pt x="53213" y="2411857"/>
                  </a:lnTo>
                  <a:cubicBezTo>
                    <a:pt x="23876" y="2411857"/>
                    <a:pt x="0" y="2387981"/>
                    <a:pt x="0" y="2358644"/>
                  </a:cubicBez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2488" y="3025527"/>
            <a:ext cx="5208537" cy="4951607"/>
            <a:chOff x="0" y="0"/>
            <a:chExt cx="6944717" cy="66021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4741" cy="6602189"/>
            </a:xfrm>
            <a:custGeom>
              <a:avLst/>
              <a:gdLst/>
              <a:ahLst/>
              <a:cxnLst/>
              <a:rect r="r" b="b" t="t" l="l"/>
              <a:pathLst>
                <a:path h="6602189" w="6944741">
                  <a:moveTo>
                    <a:pt x="0" y="145666"/>
                  </a:moveTo>
                  <a:cubicBezTo>
                    <a:pt x="0" y="65359"/>
                    <a:pt x="22713" y="0"/>
                    <a:pt x="50621" y="0"/>
                  </a:cubicBezTo>
                  <a:lnTo>
                    <a:pt x="6894119" y="0"/>
                  </a:lnTo>
                  <a:cubicBezTo>
                    <a:pt x="6922027" y="0"/>
                    <a:pt x="6944741" y="65359"/>
                    <a:pt x="6944741" y="145666"/>
                  </a:cubicBezTo>
                  <a:lnTo>
                    <a:pt x="6944741" y="6456605"/>
                  </a:lnTo>
                  <a:cubicBezTo>
                    <a:pt x="6944741" y="6536913"/>
                    <a:pt x="6922027" y="6602189"/>
                    <a:pt x="6894119" y="6602189"/>
                  </a:cubicBezTo>
                  <a:lnTo>
                    <a:pt x="50621" y="6602189"/>
                  </a:lnTo>
                  <a:cubicBezTo>
                    <a:pt x="22713" y="6602189"/>
                    <a:pt x="0" y="6536913"/>
                    <a:pt x="0" y="6456605"/>
                  </a:cubicBez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16427" y="3025527"/>
            <a:ext cx="5297984" cy="4951607"/>
            <a:chOff x="0" y="0"/>
            <a:chExt cx="7063978" cy="66021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4003" cy="6602189"/>
            </a:xfrm>
            <a:custGeom>
              <a:avLst/>
              <a:gdLst/>
              <a:ahLst/>
              <a:cxnLst/>
              <a:rect r="r" b="b" t="t" l="l"/>
              <a:pathLst>
                <a:path h="6602189" w="7064003">
                  <a:moveTo>
                    <a:pt x="0" y="0"/>
                  </a:moveTo>
                  <a:lnTo>
                    <a:pt x="7064003" y="0"/>
                  </a:lnTo>
                  <a:lnTo>
                    <a:pt x="7064003" y="6602189"/>
                  </a:lnTo>
                  <a:lnTo>
                    <a:pt x="0" y="6602189"/>
                  </a:ln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27725" y="3025527"/>
            <a:ext cx="28575" cy="1808857"/>
            <a:chOff x="0" y="0"/>
            <a:chExt cx="38100" cy="2411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" cy="2411857"/>
            </a:xfrm>
            <a:custGeom>
              <a:avLst/>
              <a:gdLst/>
              <a:ahLst/>
              <a:cxnLst/>
              <a:rect r="r" b="b" t="t" l="l"/>
              <a:pathLst>
                <a:path h="241185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392807"/>
                  </a:lnTo>
                  <a:cubicBezTo>
                    <a:pt x="38100" y="2403348"/>
                    <a:pt x="29591" y="2411857"/>
                    <a:pt x="19050" y="2411857"/>
                  </a:cubicBezTo>
                  <a:cubicBezTo>
                    <a:pt x="8509" y="2411857"/>
                    <a:pt x="0" y="2403348"/>
                    <a:pt x="0" y="23928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012514" y="3025527"/>
            <a:ext cx="5168205" cy="4951607"/>
            <a:chOff x="0" y="0"/>
            <a:chExt cx="6890940" cy="66021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90896" cy="6602189"/>
            </a:xfrm>
            <a:custGeom>
              <a:avLst/>
              <a:gdLst/>
              <a:ahLst/>
              <a:cxnLst/>
              <a:rect r="r" b="b" t="t" l="l"/>
              <a:pathLst>
                <a:path h="6602189" w="6890896">
                  <a:moveTo>
                    <a:pt x="0" y="0"/>
                  </a:moveTo>
                  <a:lnTo>
                    <a:pt x="6890896" y="0"/>
                  </a:lnTo>
                  <a:lnTo>
                    <a:pt x="6890896" y="6602189"/>
                  </a:lnTo>
                  <a:lnTo>
                    <a:pt x="0" y="6602189"/>
                  </a:lnTo>
                  <a:close/>
                </a:path>
              </a:pathLst>
            </a:custGeom>
            <a:solidFill>
              <a:srgbClr val="D8EBF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802964" y="3025527"/>
            <a:ext cx="28575" cy="1808857"/>
            <a:chOff x="0" y="0"/>
            <a:chExt cx="38100" cy="24118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2411857"/>
            </a:xfrm>
            <a:custGeom>
              <a:avLst/>
              <a:gdLst/>
              <a:ahLst/>
              <a:cxnLst/>
              <a:rect r="r" b="b" t="t" l="l"/>
              <a:pathLst>
                <a:path h="241185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392807"/>
                  </a:lnTo>
                  <a:cubicBezTo>
                    <a:pt x="38100" y="2403348"/>
                    <a:pt x="29591" y="2411857"/>
                    <a:pt x="19050" y="2411857"/>
                  </a:cubicBezTo>
                  <a:cubicBezTo>
                    <a:pt x="8509" y="2411857"/>
                    <a:pt x="0" y="2403348"/>
                    <a:pt x="0" y="23928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2487" y="8290024"/>
            <a:ext cx="5297984" cy="968276"/>
            <a:chOff x="0" y="0"/>
            <a:chExt cx="7063978" cy="12910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3994" cy="1291082"/>
            </a:xfrm>
            <a:custGeom>
              <a:avLst/>
              <a:gdLst/>
              <a:ahLst/>
              <a:cxnLst/>
              <a:rect r="r" b="b" t="t" l="l"/>
              <a:pathLst>
                <a:path h="1291082" w="7063994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7010781" y="0"/>
                  </a:lnTo>
                  <a:cubicBezTo>
                    <a:pt x="7040118" y="0"/>
                    <a:pt x="7063994" y="23876"/>
                    <a:pt x="7063994" y="53213"/>
                  </a:cubicBezTo>
                  <a:lnTo>
                    <a:pt x="7063994" y="1237869"/>
                  </a:lnTo>
                  <a:cubicBezTo>
                    <a:pt x="7063994" y="1267206"/>
                    <a:pt x="7040118" y="1291082"/>
                    <a:pt x="7010781" y="1291082"/>
                  </a:cubicBezTo>
                  <a:lnTo>
                    <a:pt x="53213" y="1291082"/>
                  </a:lnTo>
                  <a:cubicBezTo>
                    <a:pt x="23876" y="1291082"/>
                    <a:pt x="0" y="1267206"/>
                    <a:pt x="0" y="1237869"/>
                  </a:cubicBezTo>
                  <a:close/>
                </a:path>
              </a:pathLst>
            </a:custGeom>
            <a:solidFill>
              <a:srgbClr val="0B74BA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3998324">
            <a:off x="8132677" y="6983959"/>
            <a:ext cx="3270792" cy="4318716"/>
          </a:xfrm>
          <a:custGeom>
            <a:avLst/>
            <a:gdLst/>
            <a:ahLst/>
            <a:cxnLst/>
            <a:rect r="r" b="b" t="t" l="l"/>
            <a:pathLst>
              <a:path h="4318716" w="3270792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416427" y="8290024"/>
            <a:ext cx="5297984" cy="968276"/>
            <a:chOff x="0" y="0"/>
            <a:chExt cx="7063978" cy="12910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3994" cy="1291082"/>
            </a:xfrm>
            <a:custGeom>
              <a:avLst/>
              <a:gdLst/>
              <a:ahLst/>
              <a:cxnLst/>
              <a:rect r="r" b="b" t="t" l="l"/>
              <a:pathLst>
                <a:path h="1291082" w="7063994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7010781" y="0"/>
                  </a:lnTo>
                  <a:cubicBezTo>
                    <a:pt x="7040118" y="0"/>
                    <a:pt x="7063994" y="23876"/>
                    <a:pt x="7063994" y="53213"/>
                  </a:cubicBezTo>
                  <a:lnTo>
                    <a:pt x="7063994" y="1237869"/>
                  </a:lnTo>
                  <a:cubicBezTo>
                    <a:pt x="7063994" y="1267206"/>
                    <a:pt x="7040118" y="1291082"/>
                    <a:pt x="7010781" y="1291082"/>
                  </a:cubicBezTo>
                  <a:lnTo>
                    <a:pt x="53213" y="1291082"/>
                  </a:lnTo>
                  <a:cubicBezTo>
                    <a:pt x="23876" y="1291082"/>
                    <a:pt x="0" y="1267206"/>
                    <a:pt x="0" y="1237869"/>
                  </a:cubicBezTo>
                  <a:close/>
                </a:path>
              </a:pathLst>
            </a:custGeom>
            <a:solidFill>
              <a:srgbClr val="0B74B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980366" y="8290024"/>
            <a:ext cx="5297984" cy="968276"/>
            <a:chOff x="0" y="0"/>
            <a:chExt cx="7063978" cy="12910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63994" cy="1291082"/>
            </a:xfrm>
            <a:custGeom>
              <a:avLst/>
              <a:gdLst/>
              <a:ahLst/>
              <a:cxnLst/>
              <a:rect r="r" b="b" t="t" l="l"/>
              <a:pathLst>
                <a:path h="1291082" w="7063994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7010781" y="0"/>
                  </a:lnTo>
                  <a:cubicBezTo>
                    <a:pt x="7040118" y="0"/>
                    <a:pt x="7063994" y="23876"/>
                    <a:pt x="7063994" y="53213"/>
                  </a:cubicBezTo>
                  <a:lnTo>
                    <a:pt x="7063994" y="1237869"/>
                  </a:lnTo>
                  <a:cubicBezTo>
                    <a:pt x="7063994" y="1267206"/>
                    <a:pt x="7040118" y="1291082"/>
                    <a:pt x="7010781" y="1291082"/>
                  </a:cubicBezTo>
                  <a:lnTo>
                    <a:pt x="53213" y="1291082"/>
                  </a:lnTo>
                  <a:cubicBezTo>
                    <a:pt x="23876" y="1291082"/>
                    <a:pt x="0" y="1267206"/>
                    <a:pt x="0" y="1237869"/>
                  </a:cubicBezTo>
                  <a:close/>
                </a:path>
              </a:pathLst>
            </a:custGeom>
            <a:solidFill>
              <a:srgbClr val="0B74B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52488" y="904875"/>
            <a:ext cx="8635459" cy="84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Modular Project Structure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3919" y="1901577"/>
            <a:ext cx="1480705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Clean separation of concerns across three architectural layers ensures maintainability, scalability, and efficient code organization.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8444" y="3272432"/>
            <a:ext cx="3491805" cy="52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3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UI Layer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9124" y="4123135"/>
            <a:ext cx="4943326" cy="290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index.html</a:t>
            </a:r>
          </a:p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style.css </a:t>
            </a:r>
          </a:p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dom.js </a:t>
            </a:r>
          </a:p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graphDrawing.js </a:t>
            </a:r>
          </a:p>
          <a:p>
            <a:pPr algn="l" marL="631501" indent="-315751" lvl="1">
              <a:lnSpc>
                <a:spcPts val="4724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modal.js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93681" y="3272432"/>
            <a:ext cx="3491805" cy="52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3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Logic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93681" y="4123135"/>
            <a:ext cx="4943326" cy="231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state.js</a:t>
            </a:r>
          </a:p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interactions.js</a:t>
            </a:r>
          </a:p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graphGeneration.js</a:t>
            </a:r>
          </a:p>
          <a:p>
            <a:pPr algn="l" marL="631501" indent="-315751" lvl="1">
              <a:lnSpc>
                <a:spcPts val="4724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utils.js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68919" y="3272432"/>
            <a:ext cx="3491805" cy="52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3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Algorithm Layer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26814" y="4123135"/>
            <a:ext cx="4943475" cy="113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501" indent="-315751" lvl="1">
              <a:lnSpc>
                <a:spcPts val="4723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algorithms.js</a:t>
            </a:r>
          </a:p>
          <a:p>
            <a:pPr algn="l" marL="631501" indent="-315751" lvl="1">
              <a:lnSpc>
                <a:spcPts val="4724"/>
              </a:lnSpc>
              <a:buFont typeface="Arial"/>
              <a:buChar char="•"/>
            </a:pPr>
            <a:r>
              <a:rPr lang="en-US" sz="292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uiControls.js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8444" y="8536930"/>
            <a:ext cx="3604618" cy="45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Separation of Concerns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82382" y="8536930"/>
            <a:ext cx="3491805" cy="45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Maintainable Code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46322" y="8536930"/>
            <a:ext cx="3491805" cy="45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Scalable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3998324">
            <a:off x="8132677" y="6983959"/>
            <a:ext cx="3270792" cy="4318716"/>
          </a:xfrm>
          <a:custGeom>
            <a:avLst/>
            <a:gdLst/>
            <a:ahLst/>
            <a:cxnLst/>
            <a:rect r="r" b="b" t="t" l="l"/>
            <a:pathLst>
              <a:path h="4318716" w="3270792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95503">
            <a:off x="-667352" y="-1248037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-1254807"/>
            <a:ext cx="7450187" cy="11175281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7" y="2799309"/>
            <a:ext cx="4580930" cy="38100"/>
            <a:chOff x="0" y="0"/>
            <a:chExt cx="6107907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07938" cy="50800"/>
            </a:xfrm>
            <a:custGeom>
              <a:avLst/>
              <a:gdLst/>
              <a:ahLst/>
              <a:cxnLst/>
              <a:rect r="r" b="b" t="t" l="l"/>
              <a:pathLst>
                <a:path h="50800" w="6107938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15E8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4685" y="2799309"/>
            <a:ext cx="4581079" cy="38100"/>
            <a:chOff x="0" y="0"/>
            <a:chExt cx="6108105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8065" cy="50800"/>
            </a:xfrm>
            <a:custGeom>
              <a:avLst/>
              <a:gdLst/>
              <a:ahLst/>
              <a:cxnLst/>
              <a:rect r="r" b="b" t="t" l="l"/>
              <a:pathLst>
                <a:path h="50800" w="6108065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15E8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91922" y="7044333"/>
            <a:ext cx="9445526" cy="38100"/>
            <a:chOff x="0" y="0"/>
            <a:chExt cx="12594035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15E8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4229768">
            <a:off x="110895" y="4288800"/>
            <a:ext cx="1075497" cy="995324"/>
          </a:xfrm>
          <a:custGeom>
            <a:avLst/>
            <a:gdLst/>
            <a:ahLst/>
            <a:cxnLst/>
            <a:rect r="r" b="b" t="t" l="l"/>
            <a:pathLst>
              <a:path h="995324" w="1075497">
                <a:moveTo>
                  <a:pt x="0" y="0"/>
                </a:moveTo>
                <a:lnTo>
                  <a:pt x="1075498" y="0"/>
                </a:lnTo>
                <a:lnTo>
                  <a:pt x="1075498" y="995324"/>
                </a:lnTo>
                <a:lnTo>
                  <a:pt x="0" y="9953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3471976">
            <a:off x="11646919" y="-2755363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5780944" y="7633090"/>
                </a:moveTo>
                <a:lnTo>
                  <a:pt x="0" y="7633090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50237" y="961876"/>
            <a:ext cx="7724835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User Interaction 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91922" y="2269777"/>
            <a:ext cx="553862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91922" y="2998142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Create Graph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91922" y="3557141"/>
            <a:ext cx="4580930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Choose between random generation (select node count and density) or interactive mode (drag nodes to connect and set edge weights).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14685" y="2269777"/>
            <a:ext cx="418690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14685" y="2998142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Select Algorithm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14685" y="3557141"/>
            <a:ext cx="4581079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Pick Kruskal's or Prim's algorithm. For Prim's, specify your source vertex to begin tree construction.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91922" y="6514803"/>
            <a:ext cx="553862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91922" y="7243168"/>
            <a:ext cx="3721299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Visualize Execution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91922" y="7802165"/>
            <a:ext cx="944552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Run the algorithm step-by-step with pause/resume control. Monitor real-time metrics, edge selections, and tree growth as the algorithm progresses.</a:t>
            </a:r>
          </a:p>
        </p:txBody>
      </p:sp>
      <p:sp>
        <p:nvSpPr>
          <p:cNvPr name="Freeform 26" id="26"/>
          <p:cNvSpPr/>
          <p:nvPr/>
        </p:nvSpPr>
        <p:spPr>
          <a:xfrm flipH="false" flipV="true" rot="6286086">
            <a:off x="6636319" y="6967864"/>
            <a:ext cx="1075497" cy="995324"/>
          </a:xfrm>
          <a:custGeom>
            <a:avLst/>
            <a:gdLst/>
            <a:ahLst/>
            <a:cxnLst/>
            <a:rect r="r" b="b" t="t" l="l"/>
            <a:pathLst>
              <a:path h="995324" w="1075497">
                <a:moveTo>
                  <a:pt x="0" y="995324"/>
                </a:moveTo>
                <a:lnTo>
                  <a:pt x="1075497" y="995324"/>
                </a:lnTo>
                <a:lnTo>
                  <a:pt x="1075497" y="0"/>
                </a:lnTo>
                <a:lnTo>
                  <a:pt x="0" y="0"/>
                </a:lnTo>
                <a:lnTo>
                  <a:pt x="0" y="99532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3998324">
            <a:off x="8132677" y="6983959"/>
            <a:ext cx="3270792" cy="4318716"/>
          </a:xfrm>
          <a:custGeom>
            <a:avLst/>
            <a:gdLst/>
            <a:ahLst/>
            <a:cxnLst/>
            <a:rect r="r" b="b" t="t" l="l"/>
            <a:pathLst>
              <a:path h="4318716" w="3270792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95503">
            <a:off x="-667352" y="-1248037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965" t="0" r="-366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15334" y="2444800"/>
            <a:ext cx="4014666" cy="3121863"/>
            <a:chOff x="0" y="0"/>
            <a:chExt cx="4866680" cy="3784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6767" cy="3784473"/>
            </a:xfrm>
            <a:custGeom>
              <a:avLst/>
              <a:gdLst/>
              <a:ahLst/>
              <a:cxnLst/>
              <a:rect r="r" b="b" t="t" l="l"/>
              <a:pathLst>
                <a:path h="3784473" w="4866767">
                  <a:moveTo>
                    <a:pt x="0" y="43307"/>
                  </a:moveTo>
                  <a:cubicBezTo>
                    <a:pt x="0" y="19304"/>
                    <a:pt x="19304" y="0"/>
                    <a:pt x="43307" y="0"/>
                  </a:cubicBezTo>
                  <a:lnTo>
                    <a:pt x="4823460" y="0"/>
                  </a:lnTo>
                  <a:cubicBezTo>
                    <a:pt x="4847336" y="0"/>
                    <a:pt x="4866767" y="19304"/>
                    <a:pt x="4866767" y="43307"/>
                  </a:cubicBezTo>
                  <a:lnTo>
                    <a:pt x="4866767" y="3741166"/>
                  </a:lnTo>
                  <a:cubicBezTo>
                    <a:pt x="4866767" y="3765042"/>
                    <a:pt x="4847463" y="3784473"/>
                    <a:pt x="4823460" y="3784473"/>
                  </a:cubicBezTo>
                  <a:lnTo>
                    <a:pt x="43307" y="3784473"/>
                  </a:lnTo>
                  <a:cubicBezTo>
                    <a:pt x="19431" y="3784473"/>
                    <a:pt x="0" y="3765169"/>
                    <a:pt x="0" y="3741166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15334" y="5834144"/>
            <a:ext cx="4014666" cy="3207314"/>
            <a:chOff x="0" y="0"/>
            <a:chExt cx="4866680" cy="3887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66640" cy="3887978"/>
            </a:xfrm>
            <a:custGeom>
              <a:avLst/>
              <a:gdLst/>
              <a:ahLst/>
              <a:cxnLst/>
              <a:rect r="r" b="b" t="t" l="l"/>
              <a:pathLst>
                <a:path h="3887978" w="486664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4823460" y="0"/>
                  </a:lnTo>
                  <a:cubicBezTo>
                    <a:pt x="4847336" y="0"/>
                    <a:pt x="4866640" y="19304"/>
                    <a:pt x="4866640" y="43180"/>
                  </a:cubicBezTo>
                  <a:lnTo>
                    <a:pt x="4866640" y="3844798"/>
                  </a:lnTo>
                  <a:cubicBezTo>
                    <a:pt x="4866640" y="3868674"/>
                    <a:pt x="4847336" y="3887978"/>
                    <a:pt x="4823460" y="3887978"/>
                  </a:cubicBezTo>
                  <a:lnTo>
                    <a:pt x="43180" y="3887978"/>
                  </a:lnTo>
                  <a:cubicBezTo>
                    <a:pt x="19304" y="3887978"/>
                    <a:pt x="0" y="3868674"/>
                    <a:pt x="0" y="3844798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56791" y="873394"/>
            <a:ext cx="7062639" cy="88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6"/>
              </a:lnSpc>
            </a:pPr>
            <a:r>
              <a:rPr lang="en-US" sz="5637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Kruskal's Algorithm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791" y="2225415"/>
            <a:ext cx="5738813" cy="52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3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Edge-Based Greedy Approach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6791" y="3016827"/>
            <a:ext cx="5738812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24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Kruskal's algorithm processes edges in ascending order by weight, building the MST by selectively adding edges that don't create cycles.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6791" y="5038797"/>
            <a:ext cx="3190763" cy="52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3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Algorithm Steps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9141" y="5827465"/>
            <a:ext cx="6275784" cy="42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68" indent="-246934" lvl="1">
              <a:lnSpc>
                <a:spcPts val="3643"/>
              </a:lnSpc>
              <a:buFont typeface="Arial"/>
              <a:buChar char="•"/>
            </a:pPr>
            <a:r>
              <a:rPr lang="en-US" sz="22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Sort all edges by weight (ascending order)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9141" y="6248946"/>
            <a:ext cx="5738812" cy="42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68" indent="-246934" lvl="1">
              <a:lnSpc>
                <a:spcPts val="3643"/>
              </a:lnSpc>
              <a:buFont typeface="Arial"/>
              <a:buChar char="•"/>
            </a:pPr>
            <a:r>
              <a:rPr lang="en-US" sz="22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Examine each edge sequentially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9141" y="6670427"/>
            <a:ext cx="5738812" cy="42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68" indent="-246934" lvl="1">
              <a:lnSpc>
                <a:spcPts val="3643"/>
              </a:lnSpc>
              <a:buFont typeface="Arial"/>
              <a:buChar char="•"/>
            </a:pPr>
            <a:r>
              <a:rPr lang="en-US" sz="22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Use Union-Find to detect cycles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9141" y="7091908"/>
            <a:ext cx="5738812" cy="42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68" indent="-246934" lvl="1">
              <a:lnSpc>
                <a:spcPts val="3643"/>
              </a:lnSpc>
              <a:buFont typeface="Arial"/>
              <a:buChar char="•"/>
            </a:pPr>
            <a:r>
              <a:rPr lang="en-US" sz="22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Add edge to MST if no cycle (GREEN)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9141" y="7513390"/>
            <a:ext cx="5738812" cy="42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68" indent="-246934" lvl="1">
              <a:lnSpc>
                <a:spcPts val="3643"/>
              </a:lnSpc>
              <a:buFont typeface="Arial"/>
              <a:buChar char="•"/>
            </a:pPr>
            <a:r>
              <a:rPr lang="en-US" sz="22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Skip edge if cycle detected (RED)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9141" y="7932737"/>
            <a:ext cx="6056162" cy="42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68" indent="-246934" lvl="1">
              <a:lnSpc>
                <a:spcPts val="3643"/>
              </a:lnSpc>
              <a:buFont typeface="Arial"/>
              <a:buChar char="•"/>
            </a:pPr>
            <a:r>
              <a:rPr lang="en-US" sz="22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Continue until all vertices are connected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19430" y="2743757"/>
            <a:ext cx="2944040" cy="80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06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Union-Find Data Structure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19430" y="3683577"/>
            <a:ext cx="3372883" cy="7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084" indent="-155042" lvl="1">
              <a:lnSpc>
                <a:spcPts val="3274"/>
              </a:lnSpc>
              <a:buFont typeface="Arial"/>
              <a:buChar char="•"/>
            </a:pPr>
            <a:r>
              <a:rPr lang="en-US" b="true" sz="205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find(x):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Locates set with path compression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19430" y="4441477"/>
            <a:ext cx="2911513" cy="7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084" indent="-155042" lvl="1">
              <a:lnSpc>
                <a:spcPts val="3274"/>
              </a:lnSpc>
              <a:buFont typeface="Arial"/>
              <a:buChar char="•"/>
            </a:pPr>
            <a:r>
              <a:rPr lang="en-US" b="true" sz="205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union(a,b):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Connects two disjoint sets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95313" y="6112203"/>
            <a:ext cx="3497000" cy="38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6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Complexity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95313" y="6592212"/>
            <a:ext cx="2911513" cy="3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909" indent="-221955" lvl="1">
              <a:lnSpc>
                <a:spcPts val="3274"/>
              </a:lnSpc>
              <a:buFont typeface="Arial"/>
              <a:buChar char="•"/>
            </a:pPr>
            <a:r>
              <a:rPr lang="en-US" b="true" sz="205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O(E log E)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88243" y="6976907"/>
            <a:ext cx="2911513" cy="3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909" indent="-221955" lvl="1">
              <a:lnSpc>
                <a:spcPts val="3274"/>
              </a:lnSpc>
              <a:buFont typeface="Arial"/>
              <a:buChar char="•"/>
            </a:pPr>
            <a:r>
              <a:rPr lang="en-US" b="true" sz="205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Space: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O(V)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65720" y="7361601"/>
            <a:ext cx="3097750" cy="120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909" indent="-221955" lvl="1">
              <a:lnSpc>
                <a:spcPts val="3274"/>
              </a:lnSpc>
              <a:buFont typeface="Arial"/>
              <a:buChar char="•"/>
            </a:pPr>
            <a:r>
              <a:rPr lang="en-US" b="true" sz="205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Best For:</a:t>
            </a:r>
            <a:r>
              <a:rPr lang="en-US" sz="20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Sparse graphs with fewer edges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3998324">
            <a:off x="8132677" y="6983959"/>
            <a:ext cx="3270792" cy="4318716"/>
          </a:xfrm>
          <a:custGeom>
            <a:avLst/>
            <a:gdLst/>
            <a:ahLst/>
            <a:cxnLst/>
            <a:rect r="r" b="b" t="t" l="l"/>
            <a:pathLst>
              <a:path h="4318716" w="3270792">
                <a:moveTo>
                  <a:pt x="0" y="0"/>
                </a:moveTo>
                <a:lnTo>
                  <a:pt x="3270792" y="0"/>
                </a:lnTo>
                <a:lnTo>
                  <a:pt x="3270792" y="4318716"/>
                </a:lnTo>
                <a:lnTo>
                  <a:pt x="0" y="4318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95503">
            <a:off x="-667352" y="-1248037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0" y="0"/>
                </a:moveTo>
                <a:lnTo>
                  <a:pt x="5780944" y="0"/>
                </a:lnTo>
                <a:lnTo>
                  <a:pt x="5780944" y="7633091"/>
                </a:lnTo>
                <a:lnTo>
                  <a:pt x="0" y="763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7802" t="0" r="-527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92020" y="2041475"/>
            <a:ext cx="3934405" cy="3417391"/>
            <a:chOff x="0" y="0"/>
            <a:chExt cx="5245873" cy="4556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45904" cy="4556505"/>
            </a:xfrm>
            <a:custGeom>
              <a:avLst/>
              <a:gdLst/>
              <a:ahLst/>
              <a:cxnLst/>
              <a:rect r="r" b="b" t="t" l="l"/>
              <a:pathLst>
                <a:path h="4556505" w="5245904">
                  <a:moveTo>
                    <a:pt x="0" y="45320"/>
                  </a:moveTo>
                  <a:cubicBezTo>
                    <a:pt x="0" y="20249"/>
                    <a:pt x="19955" y="0"/>
                    <a:pt x="44662" y="0"/>
                  </a:cubicBezTo>
                  <a:lnTo>
                    <a:pt x="5201245" y="0"/>
                  </a:lnTo>
                  <a:cubicBezTo>
                    <a:pt x="5225951" y="0"/>
                    <a:pt x="5245904" y="20249"/>
                    <a:pt x="5245904" y="45320"/>
                  </a:cubicBezTo>
                  <a:lnTo>
                    <a:pt x="5245904" y="4511185"/>
                  </a:lnTo>
                  <a:cubicBezTo>
                    <a:pt x="5245904" y="4536256"/>
                    <a:pt x="5225951" y="4556505"/>
                    <a:pt x="5201245" y="4556505"/>
                  </a:cubicBezTo>
                  <a:lnTo>
                    <a:pt x="44662" y="4556505"/>
                  </a:lnTo>
                  <a:cubicBezTo>
                    <a:pt x="19955" y="4556505"/>
                    <a:pt x="0" y="4536256"/>
                    <a:pt x="0" y="4511185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92020" y="5668416"/>
            <a:ext cx="3934405" cy="2818359"/>
            <a:chOff x="0" y="0"/>
            <a:chExt cx="5245873" cy="37578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45904" cy="3757803"/>
            </a:xfrm>
            <a:custGeom>
              <a:avLst/>
              <a:gdLst/>
              <a:ahLst/>
              <a:cxnLst/>
              <a:rect r="r" b="b" t="t" l="l"/>
              <a:pathLst>
                <a:path h="3757803" w="5245904">
                  <a:moveTo>
                    <a:pt x="0" y="41783"/>
                  </a:moveTo>
                  <a:cubicBezTo>
                    <a:pt x="0" y="18669"/>
                    <a:pt x="19955" y="0"/>
                    <a:pt x="44662" y="0"/>
                  </a:cubicBezTo>
                  <a:lnTo>
                    <a:pt x="5201245" y="0"/>
                  </a:lnTo>
                  <a:cubicBezTo>
                    <a:pt x="5225951" y="0"/>
                    <a:pt x="5245904" y="18669"/>
                    <a:pt x="5245904" y="41783"/>
                  </a:cubicBezTo>
                  <a:lnTo>
                    <a:pt x="5245904" y="3716020"/>
                  </a:lnTo>
                  <a:cubicBezTo>
                    <a:pt x="5245904" y="3739134"/>
                    <a:pt x="5225951" y="3757803"/>
                    <a:pt x="5201245" y="3757803"/>
                  </a:cubicBezTo>
                  <a:lnTo>
                    <a:pt x="44662" y="3757803"/>
                  </a:lnTo>
                  <a:cubicBezTo>
                    <a:pt x="19955" y="3757803"/>
                    <a:pt x="0" y="3739134"/>
                    <a:pt x="0" y="3716020"/>
                  </a:cubicBezTo>
                  <a:close/>
                </a:path>
              </a:pathLst>
            </a:custGeom>
            <a:solidFill>
              <a:srgbClr val="A2C7EF"/>
            </a:solidFill>
          </p:spPr>
        </p:sp>
      </p:grpSp>
      <p:sp>
        <p:nvSpPr>
          <p:cNvPr name="Freeform 14" id="14"/>
          <p:cNvSpPr/>
          <p:nvPr/>
        </p:nvSpPr>
        <p:spPr>
          <a:xfrm flipH="true" flipV="true" rot="3471976">
            <a:off x="11075260" y="-3473120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5780944" y="7633091"/>
                </a:moveTo>
                <a:lnTo>
                  <a:pt x="0" y="7633091"/>
                </a:lnTo>
                <a:lnTo>
                  <a:pt x="0" y="0"/>
                </a:lnTo>
                <a:lnTo>
                  <a:pt x="5780944" y="0"/>
                </a:lnTo>
                <a:lnTo>
                  <a:pt x="5780944" y="763309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58000" y="1000125"/>
            <a:ext cx="6056971" cy="88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9"/>
              </a:lnSpc>
            </a:pPr>
            <a:r>
              <a:rPr lang="en-US" sz="5640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Prim's Algorithm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0" y="2182145"/>
            <a:ext cx="6056971" cy="53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39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Vertex-Based Greedy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98401" y="2879229"/>
            <a:ext cx="5776169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49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Prim's algorithm grows the MST from a source vertex, continuously adding minimum-weight edges connecting visited and unvisited vertices.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2884" y="4687045"/>
            <a:ext cx="3313771" cy="53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39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Algorithm Steps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000" y="5354512"/>
            <a:ext cx="5776169" cy="43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10" indent="-247205" lvl="1">
              <a:lnSpc>
                <a:spcPts val="3699"/>
              </a:lnSpc>
              <a:buFont typeface="Arial"/>
              <a:buChar char="•"/>
            </a:pPr>
            <a:r>
              <a:rPr lang="en-US" sz="228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Start from designated source vertex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8000" y="5772724"/>
            <a:ext cx="5776169" cy="43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10" indent="-247205" lvl="1">
              <a:lnSpc>
                <a:spcPts val="3699"/>
              </a:lnSpc>
              <a:buFont typeface="Arial"/>
              <a:buChar char="•"/>
            </a:pPr>
            <a:r>
              <a:rPr lang="en-US" sz="228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Add source to visited set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0" y="6164823"/>
            <a:ext cx="5776169" cy="43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10" indent="-247205" lvl="1">
              <a:lnSpc>
                <a:spcPts val="3699"/>
              </a:lnSpc>
              <a:buFont typeface="Arial"/>
              <a:buChar char="•"/>
            </a:pPr>
            <a:r>
              <a:rPr lang="en-US" sz="228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Examine all edges from visited vertices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58000" y="6672667"/>
            <a:ext cx="605697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10" indent="-247205" lvl="1">
              <a:lnSpc>
                <a:spcPts val="2747"/>
              </a:lnSpc>
              <a:buFont typeface="Arial"/>
              <a:buChar char="•"/>
            </a:pPr>
            <a:r>
              <a:rPr lang="en-US" sz="228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Select minimum weight edge to unvisited vertex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8000" y="7434667"/>
            <a:ext cx="577616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10" indent="-247205" lvl="1">
              <a:lnSpc>
                <a:spcPts val="2747"/>
              </a:lnSpc>
              <a:buFont typeface="Arial"/>
              <a:buChar char="•"/>
            </a:pPr>
            <a:r>
              <a:rPr lang="en-US" sz="228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Add edge to MST (GREEN) and mark vertex as visited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58000" y="8110942"/>
            <a:ext cx="5776169" cy="43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410" indent="-247205" lvl="1">
              <a:lnSpc>
                <a:spcPts val="3699"/>
              </a:lnSpc>
              <a:buFont typeface="Arial"/>
              <a:buChar char="•"/>
            </a:pPr>
            <a:r>
              <a:rPr lang="en-US" sz="228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Repeat until all vertices are visited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65732" y="2330664"/>
            <a:ext cx="2986982" cy="83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10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Priority Queue Structure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65732" y="3326010"/>
            <a:ext cx="271105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674" indent="-155337" lvl="1">
              <a:lnSpc>
                <a:spcPts val="2472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Maintains available edges efficiently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65732" y="4067621"/>
            <a:ext cx="308461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674" indent="-155337" lvl="1">
              <a:lnSpc>
                <a:spcPts val="2472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Sorted by edge weight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65732" y="4474964"/>
            <a:ext cx="271105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674" indent="-155337" lvl="1">
              <a:lnSpc>
                <a:spcPts val="2472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Enables quick minimum selection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65732" y="6001791"/>
            <a:ext cx="2711054" cy="31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Complexity Analysis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51432" y="6420742"/>
            <a:ext cx="2711054" cy="39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755" indent="-222377" lvl="1">
              <a:lnSpc>
                <a:spcPts val="3327"/>
              </a:lnSpc>
              <a:buFont typeface="Arial"/>
              <a:buChar char="•"/>
            </a:pPr>
            <a:r>
              <a:rPr lang="en-US" b="true" sz="206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Time:</a:t>
            </a: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O(E log V)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1907" y="6835944"/>
            <a:ext cx="2711054" cy="39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755" indent="-222377" lvl="1">
              <a:lnSpc>
                <a:spcPts val="3327"/>
              </a:lnSpc>
              <a:buFont typeface="Arial"/>
              <a:buChar char="•"/>
            </a:pPr>
            <a:r>
              <a:rPr lang="en-US" b="true" sz="206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Space:</a:t>
            </a: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O(V)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1907" y="7251146"/>
            <a:ext cx="3417393" cy="81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755" indent="-222377" lvl="1">
              <a:lnSpc>
                <a:spcPts val="3327"/>
              </a:lnSpc>
              <a:buFont typeface="Arial"/>
              <a:buChar char="•"/>
            </a:pPr>
            <a:r>
              <a:rPr lang="en-US" b="true" sz="206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Best For:</a:t>
            </a:r>
            <a:r>
              <a:rPr lang="en-US" sz="2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Dense graphs with many edges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2339688">
            <a:off x="11749101" y="4133095"/>
            <a:ext cx="6643732" cy="8772307"/>
          </a:xfrm>
          <a:custGeom>
            <a:avLst/>
            <a:gdLst/>
            <a:ahLst/>
            <a:cxnLst/>
            <a:rect r="r" b="b" t="t" l="l"/>
            <a:pathLst>
              <a:path h="8772307" w="6643732">
                <a:moveTo>
                  <a:pt x="0" y="0"/>
                </a:moveTo>
                <a:lnTo>
                  <a:pt x="6643732" y="0"/>
                </a:lnTo>
                <a:lnTo>
                  <a:pt x="6643732" y="8772306"/>
                </a:lnTo>
                <a:lnTo>
                  <a:pt x="0" y="877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948988">
            <a:off x="-82136" y="-2787845"/>
            <a:ext cx="5780943" cy="7633090"/>
          </a:xfrm>
          <a:custGeom>
            <a:avLst/>
            <a:gdLst/>
            <a:ahLst/>
            <a:cxnLst/>
            <a:rect r="r" b="b" t="t" l="l"/>
            <a:pathLst>
              <a:path h="7633090" w="5780943">
                <a:moveTo>
                  <a:pt x="0" y="0"/>
                </a:moveTo>
                <a:lnTo>
                  <a:pt x="5780944" y="0"/>
                </a:lnTo>
                <a:lnTo>
                  <a:pt x="5780944" y="7633090"/>
                </a:lnTo>
                <a:lnTo>
                  <a:pt x="0" y="7633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68119" y="3960648"/>
            <a:ext cx="8151762" cy="11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1"/>
              </a:lnSpc>
            </a:pPr>
            <a:r>
              <a:rPr lang="en-US" sz="7512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68119" y="5330266"/>
            <a:ext cx="815176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3039" i="true">
                <a:solidFill>
                  <a:srgbClr val="38383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Group No.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DAG4TaHXYGc</dc:identifier>
  <dcterms:modified xsi:type="dcterms:W3CDTF">2011-08-01T06:04:30Z</dcterms:modified>
  <cp:revision>1</cp:revision>
  <dc:title>MST-Visualizer.pptx</dc:title>
</cp:coreProperties>
</file>