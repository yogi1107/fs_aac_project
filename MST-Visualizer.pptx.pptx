
<file path=[Content_Types].xml><?xml version="1.0" encoding="utf-8"?>
<Types xmlns="http://schemas.openxmlformats.org/package/2006/content-types">
  <Default Extension="png" ContentType="image/png"/>
  <Default Extension="svg" ContentType="image/svg+xml"/>
  <Default Extension="jpeg" ContentType="image/jpeg"/>
  <Default Extension="rels" ContentType="application/vnd.openxmlformats-package.relationships+xml"/>
  <Default Extension="xml" ContentType="application/xml"/>
  <Default Extension="fntdata" ContentType="application/x-fontdata"/>
  <Override PartName="/ppt/presentation.xml" ContentType="application/vnd.openxmlformats-officedocument.presentationml.presentation.main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slides/slide2.xml" ContentType="application/vnd.openxmlformats-officedocument.presentationml.slide+xml"/>
  <Override PartName="/ppt/slides/slide3.xml" ContentType="application/vnd.openxmlformats-officedocument.presentationml.slide+xml"/>
  <Override PartName="/ppt/slides/slide4.xml" ContentType="application/vnd.openxmlformats-officedocument.presentationml.slide+xml"/>
  <Override PartName="/ppt/slides/slide5.xml" ContentType="application/vnd.openxmlformats-officedocument.presentationml.slide+xml"/>
  <Override PartName="/ppt/slides/slide6.xml" ContentType="application/vnd.openxmlformats-officedocument.presentationml.slide+xml"/>
  <Override PartName="/ppt/slides/slide7.xml" ContentType="application/vnd.openxmlformats-officedocument.presentationml.slide+xml"/>
  <Override PartName="/ppt/notesMasters/notesMaster1.xml" ContentType="application/vnd.openxmlformats-officedocument.presentationml.notesMaster+xml"/>
  <Override PartName="/ppt/presProps.xml" ContentType="application/vnd.openxmlformats-officedocument.presentationml.presProps+xml"/>
  <Override PartName="/ppt/viewProps.xml" ContentType="application/vnd.openxmlformats-officedocument.presentationml.viewProps+xml"/>
  <Override PartName="/ppt/theme/theme1.xml" ContentType="application/vnd.openxmlformats-officedocument.theme+xml"/>
  <Override PartName="/ppt/tableStyles.xml" ContentType="application/vnd.openxmlformats-officedocument.presentationml.tableStyles+xml"/>
  <Override PartName="/ppt/slideLayouts/slideLayout1.xml" ContentType="application/vnd.openxmlformats-officedocument.presentationml.slideLayout+xml"/>
  <Override PartName="/ppt/slideLayouts/slideLayout2.xml" ContentType="application/vnd.openxmlformats-officedocument.presentationml.slideLayout+xml"/>
  <Override PartName="/ppt/slideLayouts/slideLayout3.xml" ContentType="application/vnd.openxmlformats-officedocument.presentationml.slideLayout+xml"/>
  <Override PartName="/ppt/slideLayouts/slideLayout4.xml" ContentType="application/vnd.openxmlformats-officedocument.presentationml.slideLayout+xml"/>
  <Override PartName="/ppt/slideLayouts/slideLayout5.xml" ContentType="application/vnd.openxmlformats-officedocument.presentationml.slideLayout+xml"/>
  <Override PartName="/ppt/slideLayouts/slideLayout6.xml" ContentType="application/vnd.openxmlformats-officedocument.presentationml.slideLayout+xml"/>
  <Override PartName="/ppt/slideLayouts/slideLayout7.xml" ContentType="application/vnd.openxmlformats-officedocument.presentationml.slideLayout+xml"/>
  <Override PartName="/ppt/slideLayouts/slideLayout8.xml" ContentType="application/vnd.openxmlformats-officedocument.presentationml.slideLayout+xml"/>
  <Override PartName="/ppt/slideLayouts/slideLayout9.xml" ContentType="application/vnd.openxmlformats-officedocument.presentationml.slideLayout+xml"/>
  <Override PartName="/ppt/slideLayouts/slideLayout10.xml" ContentType="application/vnd.openxmlformats-officedocument.presentationml.slideLayout+xml"/>
  <Override PartName="/ppt/slideLayouts/slideLayout11.xml" ContentType="application/vnd.openxmlformats-officedocument.presentationml.slideLayout+xml"/>
  <Override PartName="/ppt/theme/theme2.xml" ContentType="application/vnd.openxmlformats-officedocument.theme+xml"/>
  <Override PartName="/ppt/notesSlides/notesSlide1.xml" ContentType="application/vnd.openxmlformats-officedocument.presentationml.notesSlide+xml"/>
  <Override PartName="/ppt/notesSlides/notesSlide2.xml" ContentType="application/vnd.openxmlformats-officedocument.presentationml.notesSlide+xml"/>
  <Override PartName="/ppt/notesSlides/notesSlide3.xml" ContentType="application/vnd.openxmlformats-officedocument.presentationml.notesSlide+xml"/>
  <Override PartName="/ppt/notesSlides/notesSlide4.xml" ContentType="application/vnd.openxmlformats-officedocument.presentationml.notesSlide+xml"/>
  <Override PartName="/ppt/notesSlides/notesSlide5.xml" ContentType="application/vnd.openxmlformats-officedocument.presentationml.notesSlide+xml"/>
  <Override PartName="/ppt/notesSlides/notesSlide6.xml" ContentType="application/vnd.openxmlformats-officedocument.presentationml.notesSlide+xml"/>
  <Override PartName="/ppt/notesSlides/notesSlide7.xml" ContentType="application/vnd.openxmlformats-officedocument.presentationml.notesSlide+xml"/>
  <Override PartName="/docProps/core.xml" ContentType="application/vnd.openxmlformats-package.core-properties+xml"/>
  <Override PartName="/docProps/app.xml" ContentType="application/vnd.openxmlformats-officedocument.extended-properties+xml"/>
</Types>
</file>

<file path=_rels/.rels><?xml version="1.0" encoding="UTF-8" standalone="yes"?>
<Relationships xmlns="http://schemas.openxmlformats.org/package/2006/relationships"><Relationship Id="rId3" Type="http://schemas.openxmlformats.org/package/2006/relationships/metadata/core-properties" Target="docProps/core.xml"/><Relationship Id="rId2" Type="http://schemas.openxmlformats.org/package/2006/relationships/metadata/thumbnail" Target="docProps/thumbnail.jpeg"/><Relationship Id="rId1" Type="http://schemas.openxmlformats.org/officeDocument/2006/relationships/officeDocument" Target="ppt/presentation.xml"/><Relationship Id="rId4" Type="http://schemas.openxmlformats.org/officeDocument/2006/relationships/extended-properties" Target="docProps/app.xml"/>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embedTrueTypeFonts="1" saveSubsetFonts="1">
  <p:sldMasterIdLst>
    <p:sldMasterId id="2147483648" r:id="rId1"/>
  </p:sldMasterIdLst>
  <p:notesMasterIdLst>
    <p:notesMasterId r:id="rId9"/>
  </p:notesMasterIdLst>
  <p:sldIdLst>
    <p:sldId id="256" r:id="rId2"/>
    <p:sldId id="257" r:id="rId3"/>
    <p:sldId id="258" r:id="rId4"/>
    <p:sldId id="259" r:id="rId5"/>
    <p:sldId id="260" r:id="rId6"/>
    <p:sldId id="261" r:id="rId7"/>
    <p:sldId id="262" r:id="rId8"/>
  </p:sldIdLst>
  <p:sldSz cx="18288000" cy="10287000"/>
  <p:notesSz cx="6858000" cy="9144000"/>
  <p:embeddedFontLst>
    <p:embeddedFont>
      <p:font typeface="DM Sans" panose="020B0604020202020204" charset="0"/>
      <p:regular r:id="rId10"/>
    </p:embeddedFont>
    <p:embeddedFont>
      <p:font typeface="PT Serif" panose="020B0604020202020204" charset="0"/>
      <p:regular r:id="rId11"/>
    </p:embeddedFont>
    <p:embeddedFont>
      <p:font typeface="DM Sans Bold" panose="020B0604020202020204" charset="0"/>
      <p:regular r:id="rId12"/>
    </p:embeddedFont>
    <p:embeddedFont>
      <p:font typeface="DM Sans Italics" panose="020B0604020202020204" charset="0"/>
      <p:regular r:id="rId13"/>
    </p:embeddedFont>
    <p:embeddedFont>
      <p:font typeface="PT Serif Bold" panose="020B0604020202020204" charset="0"/>
      <p:regular r:id="rId14"/>
    </p:embeddedFont>
    <p:embeddedFont>
      <p:font typeface="Calibri" panose="020F0502020204030204" pitchFamily="34" charset="0"/>
      <p:regular r:id="rId15"/>
      <p:bold r:id="rId16"/>
      <p:italic r:id="rId17"/>
      <p:boldItalic r:id="rId18"/>
    </p:embeddedFont>
  </p:embeddedFontLst>
  <p:defaultTextStyle>
    <a:defPPr>
      <a:defRPr lang="en-US"/>
    </a:defPPr>
    <a:lvl1pPr marL="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  <p:extLst>
    <p:ext uri="{EFAFB233-063F-42B5-8137-9DF3F51BA10A}">
      <p15:sldGuideLst xmlns:p15="http://schemas.microsoft.com/office/powerpoint/2012/main">
        <p15:guide id="1" orient="horz" pos="2160">
          <p15:clr>
            <a:srgbClr val="A4A3A4"/>
          </p15:clr>
        </p15:guide>
        <p15:guide id="2" pos="2880">
          <p15:clr>
            <a:srgbClr val="A4A3A4"/>
          </p15:clr>
        </p15:guide>
      </p15:sldGuideLst>
    </p:ext>
  </p:extLst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>
  <p:showPr showNarration="1">
    <p:present/>
    <p:sldAll/>
    <p:penClr>
      <a:prstClr val="red"/>
    </p:penClr>
    <p:extLst>
      <p:ext uri="{EC167BDD-8182-4AB7-AECC-EB403E3ABB37}">
        <p14:laserClr xmlns:p14="http://schemas.microsoft.com/office/powerpoint/2010/main">
          <a:srgbClr val="FF0000"/>
        </p14:laserClr>
      </p:ext>
      <p:ext uri="{2FDB2607-1784-4EEB-B798-7EB5836EED8A}">
        <p14:showMediaCtrls xmlns:p14="http://schemas.microsoft.com/office/powerpoint/2010/main" val="1"/>
      </p:ext>
    </p:extLst>
  </p:showPr>
  <p:extLst>
    <p:ext uri="{E76CE94A-603C-4142-B9EB-6D1370010A27}">
      <p14:discardImageEditData xmlns:p14="http://schemas.microsoft.com/office/powerpoint/2010/main" val="0"/>
    </p:ext>
    <p:ext uri="{D31A062A-798A-4329-ABDD-BBA856620510}">
      <p14:defaultImageDpi xmlns:p14="http://schemas.microsoft.com/office/powerpoint/2010/main" val="220"/>
    </p:ext>
    <p:ext uri="{FD5EFAAD-0ECE-453E-9831-46B23BE46B34}">
      <p15:chartTrackingRefBased xmlns:p15="http://schemas.microsoft.com/office/powerpoint/2012/main" val="0"/>
    </p:ext>
  </p:extLst>
</p:presentationPr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>
  <p:normalViewPr>
    <p:restoredLeft sz="15620" autoAdjust="0"/>
    <p:restoredTop sz="94622" autoAdjust="0"/>
  </p:normalViewPr>
  <p:slideViewPr>
    <p:cSldViewPr>
      <p:cViewPr varScale="1">
        <p:scale>
          <a:sx n="42" d="100"/>
          <a:sy n="42" d="100"/>
        </p:scale>
        <p:origin x="20" y="36"/>
      </p:cViewPr>
      <p:guideLst>
        <p:guide orient="horz" pos="2160"/>
        <p:guide pos="2880"/>
      </p:guideLst>
    </p:cSldViewPr>
  </p:slideViewPr>
  <p:outlineViewPr>
    <p:cViewPr>
      <p:scale>
        <a:sx n="33" d="100"/>
        <a:sy n="33" d="100"/>
      </p:scale>
      <p:origin x="0" y="0"/>
    </p:cViewPr>
  </p:outlineViewPr>
  <p:notesTextViewPr>
    <p:cViewPr>
      <p:scale>
        <a:sx n="100" d="100"/>
        <a:sy n="100" d="100"/>
      </p:scale>
      <p:origin x="0" y="0"/>
    </p:cViewPr>
  </p:notesTextViewPr>
  <p:gridSpacing cx="76200" cy="76200"/>
</p:viewPr>
</file>

<file path=ppt/_rels/presentation.xml.rels><?xml version="1.0" encoding="UTF-8" standalone="yes"?>
<Relationships xmlns="http://schemas.openxmlformats.org/package/2006/relationships"><Relationship Id="rId8" Type="http://schemas.openxmlformats.org/officeDocument/2006/relationships/slide" Target="slides/slide7.xml"/><Relationship Id="rId13" Type="http://schemas.openxmlformats.org/officeDocument/2006/relationships/font" Target="fonts/font4.fntdata"/><Relationship Id="rId18" Type="http://schemas.openxmlformats.org/officeDocument/2006/relationships/font" Target="fonts/font9.fntdata"/><Relationship Id="rId3" Type="http://schemas.openxmlformats.org/officeDocument/2006/relationships/slide" Target="slides/slide2.xml"/><Relationship Id="rId21" Type="http://schemas.openxmlformats.org/officeDocument/2006/relationships/theme" Target="theme/theme1.xml"/><Relationship Id="rId7" Type="http://schemas.openxmlformats.org/officeDocument/2006/relationships/slide" Target="slides/slide6.xml"/><Relationship Id="rId12" Type="http://schemas.openxmlformats.org/officeDocument/2006/relationships/font" Target="fonts/font3.fntdata"/><Relationship Id="rId17" Type="http://schemas.openxmlformats.org/officeDocument/2006/relationships/font" Target="fonts/font8.fntdata"/><Relationship Id="rId2" Type="http://schemas.openxmlformats.org/officeDocument/2006/relationships/slide" Target="slides/slide1.xml"/><Relationship Id="rId16" Type="http://schemas.openxmlformats.org/officeDocument/2006/relationships/font" Target="fonts/font7.fntdata"/><Relationship Id="rId20" Type="http://schemas.openxmlformats.org/officeDocument/2006/relationships/viewProps" Target="viewProps.xml"/><Relationship Id="rId1" Type="http://schemas.openxmlformats.org/officeDocument/2006/relationships/slideMaster" Target="slideMasters/slideMaster1.xml"/><Relationship Id="rId6" Type="http://schemas.openxmlformats.org/officeDocument/2006/relationships/slide" Target="slides/slide5.xml"/><Relationship Id="rId11" Type="http://schemas.openxmlformats.org/officeDocument/2006/relationships/font" Target="fonts/font2.fntdata"/><Relationship Id="rId5" Type="http://schemas.openxmlformats.org/officeDocument/2006/relationships/slide" Target="slides/slide4.xml"/><Relationship Id="rId15" Type="http://schemas.openxmlformats.org/officeDocument/2006/relationships/font" Target="fonts/font6.fntdata"/><Relationship Id="rId10" Type="http://schemas.openxmlformats.org/officeDocument/2006/relationships/font" Target="fonts/font1.fntdata"/><Relationship Id="rId19" Type="http://schemas.openxmlformats.org/officeDocument/2006/relationships/presProps" Target="presProps.xml"/><Relationship Id="rId4" Type="http://schemas.openxmlformats.org/officeDocument/2006/relationships/slide" Target="slides/slide3.xml"/><Relationship Id="rId9" Type="http://schemas.openxmlformats.org/officeDocument/2006/relationships/notesMaster" Target="notesMasters/notesMaster1.xml"/><Relationship Id="rId14" Type="http://schemas.openxmlformats.org/officeDocument/2006/relationships/font" Target="fonts/font5.fntdata"/><Relationship Id="rId22" Type="http://schemas.openxmlformats.org/officeDocument/2006/relationships/tableStyles" Target="tableStyles.xml"/></Relationships>
</file>

<file path=ppt/notesMasters/_rels/notesMaster1.xml.rels><?xml version="1.0" encoding="UTF-8" standalone="yes"?>
<Relationships xmlns="http://schemas.openxmlformats.org/package/2006/relationships"><Relationship Id="rId1" Type="http://schemas.openxmlformats.org/officeDocument/2006/relationships/theme" Target="../theme/theme2.xml"/></Relationships>
</file>

<file path=ppt/notesMasters/notesMaster1.xml><?xml version="1.0" encoding="utf-8"?>
<p:notes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Header Placeholder 1"/>
          <p:cNvSpPr>
            <a:spLocks noGrp="1"/>
          </p:cNvSpPr>
          <p:nvPr>
            <p:ph type="hdr" sz="quarter"/>
          </p:nvPr>
        </p:nvSpPr>
        <p:spPr>
          <a:xfrm>
            <a:off x="0" y="0"/>
            <a:ext cx="3962400" cy="342900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l">
              <a:defRPr sz="1200"/>
            </a:lvl1pPr>
          </a:lstStyle>
          <a:p>
            <a:endParaRPr lang="cs-CZ"/>
          </a:p>
        </p:txBody>
      </p:sp>
      <p:sp>
        <p:nvSpPr>
          <p:cNvPr id="3" name="Date Placeholder 2"/>
          <p:cNvSpPr>
            <a:spLocks noGrp="1"/>
          </p:cNvSpPr>
          <p:nvPr>
            <p:ph type="dt" idx="1"/>
          </p:nvPr>
        </p:nvSpPr>
        <p:spPr>
          <a:xfrm>
            <a:off x="5180013" y="0"/>
            <a:ext cx="3962400" cy="342900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r">
              <a:defRPr sz="1200"/>
            </a:lvl1pPr>
          </a:lstStyle>
          <a:p>
            <a:fld id="{B7268E1E-0E44-426D-905E-8AD9B19D2182}" type="datetimeFigureOut">
              <a:rPr lang="cs-CZ" smtClean="0"/>
              <a:t>11.11.2025</a:t>
            </a:fld>
            <a:endParaRPr lang="cs-CZ"/>
          </a:p>
        </p:txBody>
      </p:sp>
      <p:sp>
        <p:nvSpPr>
          <p:cNvPr id="4" name="Slide Image Placeholder 3"/>
          <p:cNvSpPr>
            <a:spLocks noGrp="1" noRot="1" noChangeAspect="1"/>
          </p:cNvSpPr>
          <p:nvPr>
            <p:ph type="sldImg" idx="2"/>
          </p:nvPr>
        </p:nvSpPr>
        <p:spPr>
          <a:xfrm>
            <a:off x="2857500" y="512763"/>
            <a:ext cx="3429000" cy="2566987"/>
          </a:xfrm>
          <a:prstGeom prst="rect">
            <a:avLst/>
          </a:prstGeom>
          <a:noFill/>
          <a:ln w="12700">
            <a:solidFill>
              <a:prstClr val="black"/>
            </a:solidFill>
          </a:ln>
        </p:spPr>
        <p:txBody>
          <a:bodyPr vert="horz" lIns="91440" tIns="45720" rIns="91440" bIns="45720" rtlCol="0" anchor="ctr"/>
          <a:lstStyle/>
          <a:p>
            <a:endParaRPr lang="cs-CZ"/>
          </a:p>
        </p:txBody>
      </p:sp>
      <p:sp>
        <p:nvSpPr>
          <p:cNvPr id="5" name="Notes Placeholder 4"/>
          <p:cNvSpPr>
            <a:spLocks noGrp="1"/>
          </p:cNvSpPr>
          <p:nvPr>
            <p:ph type="body" sz="quarter" idx="3"/>
          </p:nvPr>
        </p:nvSpPr>
        <p:spPr>
          <a:xfrm>
            <a:off x="914400" y="3251200"/>
            <a:ext cx="7315200" cy="3081338"/>
          </a:xfrm>
          <a:prstGeom prst="rect">
            <a:avLst/>
          </a:prstGeom>
        </p:spPr>
        <p:txBody>
          <a:bodyPr vert="horz" lIns="91440" tIns="45720" rIns="91440" bIns="45720" rtlCol="0"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cs-CZ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4"/>
          </p:nvPr>
        </p:nvSpPr>
        <p:spPr>
          <a:xfrm>
            <a:off x="0" y="6502400"/>
            <a:ext cx="3962400" cy="341313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l">
              <a:defRPr sz="1200"/>
            </a:lvl1pPr>
          </a:lstStyle>
          <a:p>
            <a:endParaRPr lang="cs-CZ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5"/>
          </p:nvPr>
        </p:nvSpPr>
        <p:spPr>
          <a:xfrm>
            <a:off x="5180013" y="6502400"/>
            <a:ext cx="3962400" cy="341313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r">
              <a:defRPr sz="1200"/>
            </a:lvl1pPr>
          </a:lstStyle>
          <a:p>
            <a:fld id="{871B2431-D351-4C6E-A3CF-9DFAC0E3E050}" type="slidenum">
              <a:rPr lang="cs-CZ" smtClean="0"/>
              <a:t>‹#›</a:t>
            </a:fld>
            <a:endParaRPr lang="cs-CZ"/>
          </a:p>
        </p:txBody>
      </p:sp>
    </p:spTree>
    <p:extLst>
      <p:ext uri="{BB962C8B-B14F-4D97-AF65-F5344CB8AC3E}">
        <p14:creationId xmlns:p14="http://schemas.microsoft.com/office/powerpoint/2010/main" val="1798889115"/>
      </p:ext>
    </p:extLst>
  </p:cSld>
  <p:clrMap bg1="lt1" tx1="dk1" bg2="lt2" tx2="dk2" accent1="accent1" accent2="accent2" accent3="accent3" accent4="accent4" accent5="accent5" accent6="accent6" hlink="hlink" folHlink="folHlink"/>
  <p:notesStyle>
    <a:lvl1pPr marL="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9pPr>
  </p:notesStyle>
</p:notesMaster>
</file>

<file path=ppt/notesSlides/_rels/notesSlide1.xml.rels><?xml version="1.0" encoding="UTF-8" standalone="yes"?>
<Relationships xmlns="http://schemas.openxmlformats.org/package/2006/relationships"><Relationship Id="rId2" Type="http://schemas.openxmlformats.org/officeDocument/2006/relationships/slide" Target="../slides/slide1.xml"/><Relationship Id="rId1" Type="http://schemas.openxmlformats.org/officeDocument/2006/relationships/notesMaster" Target="../notesMasters/notesMaster1.xml"/></Relationships>
</file>

<file path=ppt/notesSlides/_rels/notesSlide2.xml.rels><?xml version="1.0" encoding="UTF-8" standalone="yes"?>
<Relationships xmlns="http://schemas.openxmlformats.org/package/2006/relationships"><Relationship Id="rId2" Type="http://schemas.openxmlformats.org/officeDocument/2006/relationships/slide" Target="../slides/slide2.xml"/><Relationship Id="rId1" Type="http://schemas.openxmlformats.org/officeDocument/2006/relationships/notesMaster" Target="../notesMasters/notesMaster1.xml"/></Relationships>
</file>

<file path=ppt/notesSlides/_rels/notesSlide3.xml.rels><?xml version="1.0" encoding="UTF-8" standalone="yes"?>
<Relationships xmlns="http://schemas.openxmlformats.org/package/2006/relationships"><Relationship Id="rId2" Type="http://schemas.openxmlformats.org/officeDocument/2006/relationships/slide" Target="../slides/slide3.xml"/><Relationship Id="rId1" Type="http://schemas.openxmlformats.org/officeDocument/2006/relationships/notesMaster" Target="../notesMasters/notesMaster1.xml"/></Relationships>
</file>

<file path=ppt/notesSlides/_rels/notesSlide4.xml.rels><?xml version="1.0" encoding="UTF-8" standalone="yes"?>
<Relationships xmlns="http://schemas.openxmlformats.org/package/2006/relationships"><Relationship Id="rId2" Type="http://schemas.openxmlformats.org/officeDocument/2006/relationships/slide" Target="../slides/slide4.xml"/><Relationship Id="rId1" Type="http://schemas.openxmlformats.org/officeDocument/2006/relationships/notesMaster" Target="../notesMasters/notesMaster1.xml"/></Relationships>
</file>

<file path=ppt/notesSlides/_rels/notesSlide5.xml.rels><?xml version="1.0" encoding="UTF-8" standalone="yes"?>
<Relationships xmlns="http://schemas.openxmlformats.org/package/2006/relationships"><Relationship Id="rId2" Type="http://schemas.openxmlformats.org/officeDocument/2006/relationships/slide" Target="../slides/slide5.xml"/><Relationship Id="rId1" Type="http://schemas.openxmlformats.org/officeDocument/2006/relationships/notesMaster" Target="../notesMasters/notesMaster1.xml"/></Relationships>
</file>

<file path=ppt/notesSlides/_rels/notesSlide6.xml.rels><?xml version="1.0" encoding="UTF-8" standalone="yes"?>
<Relationships xmlns="http://schemas.openxmlformats.org/package/2006/relationships"><Relationship Id="rId2" Type="http://schemas.openxmlformats.org/officeDocument/2006/relationships/slide" Target="../slides/slide6.xml"/><Relationship Id="rId1" Type="http://schemas.openxmlformats.org/officeDocument/2006/relationships/notesMaster" Target="../notesMasters/notesMaster1.xml"/></Relationships>
</file>

<file path=ppt/notesSlides/_rels/notesSlide7.xml.rels><?xml version="1.0" encoding="UTF-8" standalone="yes"?>
<Relationships xmlns="http://schemas.openxmlformats.org/package/2006/relationships"><Relationship Id="rId2" Type="http://schemas.openxmlformats.org/officeDocument/2006/relationships/slide" Target="../slides/slide7.xml"/><Relationship Id="rId1" Type="http://schemas.openxmlformats.org/officeDocument/2006/relationships/notesMaster" Target="../notesMasters/notesMaster1.xml"/></Relationships>
</file>

<file path=ppt/notesSlides/notesSlide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Header Placeholder 1"/>
          <p:cNvSpPr>
            <a:spLocks noGrp="1"/>
          </p:cNvSpPr>
          <p:nvPr>
            <p:ph type="hdr" sz="quarter"/>
          </p:nvPr>
        </p:nvSpPr>
        <p:spPr>
          <a:xfrm>
            <a:off x="0" y="0"/>
            <a:ext cx="3962400" cy="342900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l">
              <a:defRPr sz="1200"/>
            </a:lvl1pPr>
          </a:lstStyle>
          <a:p>
            <a:endParaRPr/>
          </a:p>
        </p:txBody>
      </p:sp>
      <p:sp>
        <p:nvSpPr>
          <p:cNvPr id="3" name="Date Placeholder 2"/>
          <p:cNvSpPr>
            <a:spLocks noGrp="1"/>
          </p:cNvSpPr>
          <p:nvPr>
            <p:ph type="dt" idx="1"/>
          </p:nvPr>
        </p:nvSpPr>
        <p:spPr>
          <a:xfrm>
            <a:off x="5180013" y="0"/>
            <a:ext cx="3962400" cy="342900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r">
              <a:defRPr sz="1200"/>
            </a:lvl1pPr>
          </a:lstStyle>
          <a:p>
            <a:r>
              <a:rPr lang="cs-CZ" smtClean="0"/>
              <a:t>1.7.2013</a:t>
            </a:r>
          </a:p>
        </p:txBody>
      </p:sp>
      <p:sp>
        <p:nvSpPr>
          <p:cNvPr id="4" name="Slide Image Placeholder 3"/>
          <p:cNvSpPr>
            <a:spLocks noGrp="1" noRot="1" noChangeAspect="1"/>
          </p:cNvSpPr>
          <p:nvPr>
            <p:ph type="sldImg" idx="2"/>
          </p:nvPr>
        </p:nvSpPr>
        <p:spPr>
          <a:xfrm>
            <a:off x="2290763" y="512763"/>
            <a:ext cx="4562475" cy="2566987"/>
          </a:xfrm>
          <a:prstGeom prst="rect">
            <a:avLst/>
          </a:prstGeom>
          <a:noFill/>
          <a:ln w="12700">
            <a:solidFill>
              <a:prstClr val="black"/>
            </a:solidFill>
          </a:ln>
        </p:spPr>
        <p:txBody>
          <a:bodyPr vert="horz" lIns="91440" tIns="45720" rIns="91440" bIns="45720" rtlCol="0" anchor="ctr"/>
          <a:lstStyle/>
          <a:p>
            <a:endParaRPr/>
          </a:p>
        </p:txBody>
      </p:sp>
      <p:sp>
        <p:nvSpPr>
          <p:cNvPr id="5" name="Notes Placeholder 4"/>
          <p:cNvSpPr>
            <a:spLocks noGrp="1"/>
          </p:cNvSpPr>
          <p:nvPr>
            <p:ph type="body" sz="quarter" idx="3"/>
          </p:nvPr>
        </p:nvSpPr>
        <p:spPr>
          <a:xfrm>
            <a:off x="914400" y="3251200"/>
            <a:ext cx="7315200" cy="3081338"/>
          </a:xfrm>
          <a:prstGeom prst="rect">
            <a:avLst/>
          </a:prstGeom>
        </p:spPr>
        <p:txBody>
          <a:bodyPr vert="horz" lIns="91440" tIns="45720" rIns="91440" bIns="45720" rtlCol="0"/>
          <a:lstStyle/>
          <a:p>
            <a:r>
              <a:rPr lang="en-US" dirty="0"/>
              <a:t>1</a:t>
            </a:r>
            <a:endParaRPr lang="en-US" dirty="0" smtClean="0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4"/>
          </p:nvPr>
        </p:nvSpPr>
        <p:spPr>
          <a:xfrm>
            <a:off x="0" y="6502400"/>
            <a:ext cx="3962400" cy="341313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l">
              <a:defRPr sz="1200"/>
            </a:lvl1pPr>
          </a:lstStyle>
          <a:p>
            <a:endParaRPr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5"/>
          </p:nvPr>
        </p:nvSpPr>
        <p:spPr>
          <a:xfrm>
            <a:off x="5180013" y="6502400"/>
            <a:ext cx="3962400" cy="341313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r">
              <a:defRPr sz="1200"/>
            </a:lvl1pPr>
          </a:lstStyle>
          <a:p>
            <a:r>
              <a:rPr lang="cs-CZ" smtClean="0"/>
              <a:t>‹#›</a:t>
            </a:r>
          </a:p>
        </p:txBody>
      </p:sp>
    </p:spTree>
  </p:cSld>
  <p:clrMapOvr>
    <a:masterClrMapping/>
  </p:clrMapOvr>
</p:notes>
</file>

<file path=ppt/notesSlides/notesSlide2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Header Placeholder 1"/>
          <p:cNvSpPr>
            <a:spLocks noGrp="1"/>
          </p:cNvSpPr>
          <p:nvPr>
            <p:ph type="hdr" sz="quarter"/>
          </p:nvPr>
        </p:nvSpPr>
        <p:spPr>
          <a:xfrm>
            <a:off x="0" y="0"/>
            <a:ext cx="3962400" cy="342900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l">
              <a:defRPr sz="1200"/>
            </a:lvl1pPr>
          </a:lstStyle>
          <a:p>
            <a:endParaRPr/>
          </a:p>
        </p:txBody>
      </p:sp>
      <p:sp>
        <p:nvSpPr>
          <p:cNvPr id="3" name="Date Placeholder 2"/>
          <p:cNvSpPr>
            <a:spLocks noGrp="1"/>
          </p:cNvSpPr>
          <p:nvPr>
            <p:ph type="dt" idx="1"/>
          </p:nvPr>
        </p:nvSpPr>
        <p:spPr>
          <a:xfrm>
            <a:off x="5180013" y="0"/>
            <a:ext cx="3962400" cy="342900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r">
              <a:defRPr sz="1200"/>
            </a:lvl1pPr>
          </a:lstStyle>
          <a:p>
            <a:r>
              <a:rPr lang="cs-CZ" smtClean="0"/>
              <a:t>1.7.2013</a:t>
            </a:r>
          </a:p>
        </p:txBody>
      </p:sp>
      <p:sp>
        <p:nvSpPr>
          <p:cNvPr id="4" name="Slide Image Placeholder 3"/>
          <p:cNvSpPr>
            <a:spLocks noGrp="1" noRot="1" noChangeAspect="1"/>
          </p:cNvSpPr>
          <p:nvPr>
            <p:ph type="sldImg" idx="2"/>
          </p:nvPr>
        </p:nvSpPr>
        <p:spPr>
          <a:xfrm>
            <a:off x="2290763" y="512763"/>
            <a:ext cx="4562475" cy="2566987"/>
          </a:xfrm>
          <a:prstGeom prst="rect">
            <a:avLst/>
          </a:prstGeom>
          <a:noFill/>
          <a:ln w="12700">
            <a:solidFill>
              <a:prstClr val="black"/>
            </a:solidFill>
          </a:ln>
        </p:spPr>
        <p:txBody>
          <a:bodyPr vert="horz" lIns="91440" tIns="45720" rIns="91440" bIns="45720" rtlCol="0" anchor="ctr"/>
          <a:lstStyle/>
          <a:p>
            <a:endParaRPr/>
          </a:p>
        </p:txBody>
      </p:sp>
      <p:sp>
        <p:nvSpPr>
          <p:cNvPr id="5" name="Notes Placeholder 4"/>
          <p:cNvSpPr>
            <a:spLocks noGrp="1"/>
          </p:cNvSpPr>
          <p:nvPr>
            <p:ph type="body" sz="quarter" idx="3"/>
          </p:nvPr>
        </p:nvSpPr>
        <p:spPr>
          <a:xfrm>
            <a:off x="914400" y="3251200"/>
            <a:ext cx="7315200" cy="3081338"/>
          </a:xfrm>
          <a:prstGeom prst="rect">
            <a:avLst/>
          </a:prstGeom>
        </p:spPr>
        <p:txBody>
          <a:bodyPr vert="horz" lIns="91440" tIns="45720" rIns="91440" bIns="45720" rtlCol="0"/>
          <a:lstStyle/>
          <a:p>
            <a:r>
              <a:rPr lang="en-US"/>
              <a:t>2</a:t>
            </a:r>
            <a:endParaRPr lang="en-US" smtClean="0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4"/>
          </p:nvPr>
        </p:nvSpPr>
        <p:spPr>
          <a:xfrm>
            <a:off x="0" y="6502400"/>
            <a:ext cx="3962400" cy="341313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l">
              <a:defRPr sz="1200"/>
            </a:lvl1pPr>
          </a:lstStyle>
          <a:p>
            <a:endParaRPr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5"/>
          </p:nvPr>
        </p:nvSpPr>
        <p:spPr>
          <a:xfrm>
            <a:off x="5180013" y="6502400"/>
            <a:ext cx="3962400" cy="341313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r">
              <a:defRPr sz="1200"/>
            </a:lvl1pPr>
          </a:lstStyle>
          <a:p>
            <a:r>
              <a:rPr lang="cs-CZ" smtClean="0"/>
              <a:t>‹#›</a:t>
            </a:r>
          </a:p>
        </p:txBody>
      </p:sp>
    </p:spTree>
  </p:cSld>
  <p:clrMapOvr>
    <a:masterClrMapping/>
  </p:clrMapOvr>
</p:notes>
</file>

<file path=ppt/notesSlides/notesSlide3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Header Placeholder 1"/>
          <p:cNvSpPr>
            <a:spLocks noGrp="1"/>
          </p:cNvSpPr>
          <p:nvPr>
            <p:ph type="hdr" sz="quarter"/>
          </p:nvPr>
        </p:nvSpPr>
        <p:spPr>
          <a:xfrm>
            <a:off x="0" y="0"/>
            <a:ext cx="3962400" cy="342900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l">
              <a:defRPr sz="1200"/>
            </a:lvl1pPr>
          </a:lstStyle>
          <a:p>
            <a:endParaRPr/>
          </a:p>
        </p:txBody>
      </p:sp>
      <p:sp>
        <p:nvSpPr>
          <p:cNvPr id="3" name="Date Placeholder 2"/>
          <p:cNvSpPr>
            <a:spLocks noGrp="1"/>
          </p:cNvSpPr>
          <p:nvPr>
            <p:ph type="dt" idx="1"/>
          </p:nvPr>
        </p:nvSpPr>
        <p:spPr>
          <a:xfrm>
            <a:off x="5180013" y="0"/>
            <a:ext cx="3962400" cy="342900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r">
              <a:defRPr sz="1200"/>
            </a:lvl1pPr>
          </a:lstStyle>
          <a:p>
            <a:r>
              <a:rPr lang="cs-CZ" smtClean="0"/>
              <a:t>1.7.2013</a:t>
            </a:r>
          </a:p>
        </p:txBody>
      </p:sp>
      <p:sp>
        <p:nvSpPr>
          <p:cNvPr id="4" name="Slide Image Placeholder 3"/>
          <p:cNvSpPr>
            <a:spLocks noGrp="1" noRot="1" noChangeAspect="1"/>
          </p:cNvSpPr>
          <p:nvPr>
            <p:ph type="sldImg" idx="2"/>
          </p:nvPr>
        </p:nvSpPr>
        <p:spPr>
          <a:xfrm>
            <a:off x="2290763" y="512763"/>
            <a:ext cx="4562475" cy="2566987"/>
          </a:xfrm>
          <a:prstGeom prst="rect">
            <a:avLst/>
          </a:prstGeom>
          <a:noFill/>
          <a:ln w="12700">
            <a:solidFill>
              <a:prstClr val="black"/>
            </a:solidFill>
          </a:ln>
        </p:spPr>
        <p:txBody>
          <a:bodyPr vert="horz" lIns="91440" tIns="45720" rIns="91440" bIns="45720" rtlCol="0" anchor="ctr"/>
          <a:lstStyle/>
          <a:p>
            <a:endParaRPr/>
          </a:p>
        </p:txBody>
      </p:sp>
      <p:sp>
        <p:nvSpPr>
          <p:cNvPr id="5" name="Notes Placeholder 4"/>
          <p:cNvSpPr>
            <a:spLocks noGrp="1"/>
          </p:cNvSpPr>
          <p:nvPr>
            <p:ph type="body" sz="quarter" idx="3"/>
          </p:nvPr>
        </p:nvSpPr>
        <p:spPr>
          <a:xfrm>
            <a:off x="914400" y="3251200"/>
            <a:ext cx="7315200" cy="3081338"/>
          </a:xfrm>
          <a:prstGeom prst="rect">
            <a:avLst/>
          </a:prstGeom>
        </p:spPr>
        <p:txBody>
          <a:bodyPr vert="horz" lIns="91440" tIns="45720" rIns="91440" bIns="45720" rtlCol="0"/>
          <a:lstStyle/>
          <a:p>
            <a:r>
              <a:rPr lang="en-US"/>
              <a:t>3</a:t>
            </a:r>
            <a:endParaRPr lang="en-US" smtClean="0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4"/>
          </p:nvPr>
        </p:nvSpPr>
        <p:spPr>
          <a:xfrm>
            <a:off x="0" y="6502400"/>
            <a:ext cx="3962400" cy="341313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l">
              <a:defRPr sz="1200"/>
            </a:lvl1pPr>
          </a:lstStyle>
          <a:p>
            <a:endParaRPr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5"/>
          </p:nvPr>
        </p:nvSpPr>
        <p:spPr>
          <a:xfrm>
            <a:off x="5180013" y="6502400"/>
            <a:ext cx="3962400" cy="341313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r">
              <a:defRPr sz="1200"/>
            </a:lvl1pPr>
          </a:lstStyle>
          <a:p>
            <a:r>
              <a:rPr lang="cs-CZ" smtClean="0"/>
              <a:t>‹#›</a:t>
            </a:r>
          </a:p>
        </p:txBody>
      </p:sp>
    </p:spTree>
  </p:cSld>
  <p:clrMapOvr>
    <a:masterClrMapping/>
  </p:clrMapOvr>
</p:notes>
</file>

<file path=ppt/notesSlides/notesSlide4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Header Placeholder 1"/>
          <p:cNvSpPr>
            <a:spLocks noGrp="1"/>
          </p:cNvSpPr>
          <p:nvPr>
            <p:ph type="hdr" sz="quarter"/>
          </p:nvPr>
        </p:nvSpPr>
        <p:spPr>
          <a:xfrm>
            <a:off x="0" y="0"/>
            <a:ext cx="3962400" cy="342900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l">
              <a:defRPr sz="1200"/>
            </a:lvl1pPr>
          </a:lstStyle>
          <a:p>
            <a:endParaRPr/>
          </a:p>
        </p:txBody>
      </p:sp>
      <p:sp>
        <p:nvSpPr>
          <p:cNvPr id="3" name="Date Placeholder 2"/>
          <p:cNvSpPr>
            <a:spLocks noGrp="1"/>
          </p:cNvSpPr>
          <p:nvPr>
            <p:ph type="dt" idx="1"/>
          </p:nvPr>
        </p:nvSpPr>
        <p:spPr>
          <a:xfrm>
            <a:off x="5180013" y="0"/>
            <a:ext cx="3962400" cy="342900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r">
              <a:defRPr sz="1200"/>
            </a:lvl1pPr>
          </a:lstStyle>
          <a:p>
            <a:r>
              <a:rPr lang="cs-CZ" smtClean="0"/>
              <a:t>1.7.2013</a:t>
            </a:r>
          </a:p>
        </p:txBody>
      </p:sp>
      <p:sp>
        <p:nvSpPr>
          <p:cNvPr id="4" name="Slide Image Placeholder 3"/>
          <p:cNvSpPr>
            <a:spLocks noGrp="1" noRot="1" noChangeAspect="1"/>
          </p:cNvSpPr>
          <p:nvPr>
            <p:ph type="sldImg" idx="2"/>
          </p:nvPr>
        </p:nvSpPr>
        <p:spPr>
          <a:xfrm>
            <a:off x="2290763" y="512763"/>
            <a:ext cx="4562475" cy="2566987"/>
          </a:xfrm>
          <a:prstGeom prst="rect">
            <a:avLst/>
          </a:prstGeom>
          <a:noFill/>
          <a:ln w="12700">
            <a:solidFill>
              <a:prstClr val="black"/>
            </a:solidFill>
          </a:ln>
        </p:spPr>
        <p:txBody>
          <a:bodyPr vert="horz" lIns="91440" tIns="45720" rIns="91440" bIns="45720" rtlCol="0" anchor="ctr"/>
          <a:lstStyle/>
          <a:p>
            <a:endParaRPr/>
          </a:p>
        </p:txBody>
      </p:sp>
      <p:sp>
        <p:nvSpPr>
          <p:cNvPr id="5" name="Notes Placeholder 4"/>
          <p:cNvSpPr>
            <a:spLocks noGrp="1"/>
          </p:cNvSpPr>
          <p:nvPr>
            <p:ph type="body" sz="quarter" idx="3"/>
          </p:nvPr>
        </p:nvSpPr>
        <p:spPr>
          <a:xfrm>
            <a:off x="914400" y="3251200"/>
            <a:ext cx="7315200" cy="3081338"/>
          </a:xfrm>
          <a:prstGeom prst="rect">
            <a:avLst/>
          </a:prstGeom>
        </p:spPr>
        <p:txBody>
          <a:bodyPr vert="horz" lIns="91440" tIns="45720" rIns="91440" bIns="45720" rtlCol="0"/>
          <a:lstStyle/>
          <a:p>
            <a:r>
              <a:rPr lang="en-US"/>
              <a:t>4</a:t>
            </a:r>
            <a:endParaRPr lang="en-US" smtClean="0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4"/>
          </p:nvPr>
        </p:nvSpPr>
        <p:spPr>
          <a:xfrm>
            <a:off x="0" y="6502400"/>
            <a:ext cx="3962400" cy="341313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l">
              <a:defRPr sz="1200"/>
            </a:lvl1pPr>
          </a:lstStyle>
          <a:p>
            <a:endParaRPr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5"/>
          </p:nvPr>
        </p:nvSpPr>
        <p:spPr>
          <a:xfrm>
            <a:off x="5180013" y="6502400"/>
            <a:ext cx="3962400" cy="341313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r">
              <a:defRPr sz="1200"/>
            </a:lvl1pPr>
          </a:lstStyle>
          <a:p>
            <a:r>
              <a:rPr lang="cs-CZ" smtClean="0"/>
              <a:t>‹#›</a:t>
            </a:r>
          </a:p>
        </p:txBody>
      </p:sp>
    </p:spTree>
  </p:cSld>
  <p:clrMapOvr>
    <a:masterClrMapping/>
  </p:clrMapOvr>
</p:notes>
</file>

<file path=ppt/notesSlides/notesSlide5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Header Placeholder 1"/>
          <p:cNvSpPr>
            <a:spLocks noGrp="1"/>
          </p:cNvSpPr>
          <p:nvPr>
            <p:ph type="hdr" sz="quarter"/>
          </p:nvPr>
        </p:nvSpPr>
        <p:spPr>
          <a:xfrm>
            <a:off x="0" y="0"/>
            <a:ext cx="3962400" cy="342900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l">
              <a:defRPr sz="1200"/>
            </a:lvl1pPr>
          </a:lstStyle>
          <a:p>
            <a:endParaRPr/>
          </a:p>
        </p:txBody>
      </p:sp>
      <p:sp>
        <p:nvSpPr>
          <p:cNvPr id="3" name="Date Placeholder 2"/>
          <p:cNvSpPr>
            <a:spLocks noGrp="1"/>
          </p:cNvSpPr>
          <p:nvPr>
            <p:ph type="dt" idx="1"/>
          </p:nvPr>
        </p:nvSpPr>
        <p:spPr>
          <a:xfrm>
            <a:off x="5180013" y="0"/>
            <a:ext cx="3962400" cy="342900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r">
              <a:defRPr sz="1200"/>
            </a:lvl1pPr>
          </a:lstStyle>
          <a:p>
            <a:r>
              <a:rPr lang="cs-CZ" smtClean="0"/>
              <a:t>1.7.2013</a:t>
            </a:r>
          </a:p>
        </p:txBody>
      </p:sp>
      <p:sp>
        <p:nvSpPr>
          <p:cNvPr id="4" name="Slide Image Placeholder 3"/>
          <p:cNvSpPr>
            <a:spLocks noGrp="1" noRot="1" noChangeAspect="1"/>
          </p:cNvSpPr>
          <p:nvPr>
            <p:ph type="sldImg" idx="2"/>
          </p:nvPr>
        </p:nvSpPr>
        <p:spPr>
          <a:xfrm>
            <a:off x="2290763" y="512763"/>
            <a:ext cx="4562475" cy="2566987"/>
          </a:xfrm>
          <a:prstGeom prst="rect">
            <a:avLst/>
          </a:prstGeom>
          <a:noFill/>
          <a:ln w="12700">
            <a:solidFill>
              <a:prstClr val="black"/>
            </a:solidFill>
          </a:ln>
        </p:spPr>
        <p:txBody>
          <a:bodyPr vert="horz" lIns="91440" tIns="45720" rIns="91440" bIns="45720" rtlCol="0" anchor="ctr"/>
          <a:lstStyle/>
          <a:p>
            <a:endParaRPr/>
          </a:p>
        </p:txBody>
      </p:sp>
      <p:sp>
        <p:nvSpPr>
          <p:cNvPr id="5" name="Notes Placeholder 4"/>
          <p:cNvSpPr>
            <a:spLocks noGrp="1"/>
          </p:cNvSpPr>
          <p:nvPr>
            <p:ph type="body" sz="quarter" idx="3"/>
          </p:nvPr>
        </p:nvSpPr>
        <p:spPr>
          <a:xfrm>
            <a:off x="914400" y="3251200"/>
            <a:ext cx="7315200" cy="3081338"/>
          </a:xfrm>
          <a:prstGeom prst="rect">
            <a:avLst/>
          </a:prstGeom>
        </p:spPr>
        <p:txBody>
          <a:bodyPr vert="horz" lIns="91440" tIns="45720" rIns="91440" bIns="45720" rtlCol="0"/>
          <a:lstStyle/>
          <a:p>
            <a:r>
              <a:rPr lang="en-US"/>
              <a:t>5</a:t>
            </a:r>
            <a:endParaRPr lang="en-US" smtClean="0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4"/>
          </p:nvPr>
        </p:nvSpPr>
        <p:spPr>
          <a:xfrm>
            <a:off x="0" y="6502400"/>
            <a:ext cx="3962400" cy="341313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l">
              <a:defRPr sz="1200"/>
            </a:lvl1pPr>
          </a:lstStyle>
          <a:p>
            <a:endParaRPr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5"/>
          </p:nvPr>
        </p:nvSpPr>
        <p:spPr>
          <a:xfrm>
            <a:off x="5180013" y="6502400"/>
            <a:ext cx="3962400" cy="341313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r">
              <a:defRPr sz="1200"/>
            </a:lvl1pPr>
          </a:lstStyle>
          <a:p>
            <a:r>
              <a:rPr lang="cs-CZ" smtClean="0"/>
              <a:t>‹#›</a:t>
            </a:r>
          </a:p>
        </p:txBody>
      </p:sp>
    </p:spTree>
  </p:cSld>
  <p:clrMapOvr>
    <a:masterClrMapping/>
  </p:clrMapOvr>
</p:notes>
</file>

<file path=ppt/notesSlides/notesSlide6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Header Placeholder 1"/>
          <p:cNvSpPr>
            <a:spLocks noGrp="1"/>
          </p:cNvSpPr>
          <p:nvPr>
            <p:ph type="hdr" sz="quarter"/>
          </p:nvPr>
        </p:nvSpPr>
        <p:spPr>
          <a:xfrm>
            <a:off x="0" y="0"/>
            <a:ext cx="3962400" cy="342900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l">
              <a:defRPr sz="1200"/>
            </a:lvl1pPr>
          </a:lstStyle>
          <a:p>
            <a:endParaRPr/>
          </a:p>
        </p:txBody>
      </p:sp>
      <p:sp>
        <p:nvSpPr>
          <p:cNvPr id="3" name="Date Placeholder 2"/>
          <p:cNvSpPr>
            <a:spLocks noGrp="1"/>
          </p:cNvSpPr>
          <p:nvPr>
            <p:ph type="dt" idx="1"/>
          </p:nvPr>
        </p:nvSpPr>
        <p:spPr>
          <a:xfrm>
            <a:off x="5180013" y="0"/>
            <a:ext cx="3962400" cy="342900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r">
              <a:defRPr sz="1200"/>
            </a:lvl1pPr>
          </a:lstStyle>
          <a:p>
            <a:r>
              <a:rPr lang="cs-CZ" smtClean="0"/>
              <a:t>1.7.2013</a:t>
            </a:r>
          </a:p>
        </p:txBody>
      </p:sp>
      <p:sp>
        <p:nvSpPr>
          <p:cNvPr id="4" name="Slide Image Placeholder 3"/>
          <p:cNvSpPr>
            <a:spLocks noGrp="1" noRot="1" noChangeAspect="1"/>
          </p:cNvSpPr>
          <p:nvPr>
            <p:ph type="sldImg" idx="2"/>
          </p:nvPr>
        </p:nvSpPr>
        <p:spPr>
          <a:xfrm>
            <a:off x="2290763" y="512763"/>
            <a:ext cx="4562475" cy="2566987"/>
          </a:xfrm>
          <a:prstGeom prst="rect">
            <a:avLst/>
          </a:prstGeom>
          <a:noFill/>
          <a:ln w="12700">
            <a:solidFill>
              <a:prstClr val="black"/>
            </a:solidFill>
          </a:ln>
        </p:spPr>
        <p:txBody>
          <a:bodyPr vert="horz" lIns="91440" tIns="45720" rIns="91440" bIns="45720" rtlCol="0" anchor="ctr"/>
          <a:lstStyle/>
          <a:p>
            <a:endParaRPr/>
          </a:p>
        </p:txBody>
      </p:sp>
      <p:sp>
        <p:nvSpPr>
          <p:cNvPr id="5" name="Notes Placeholder 4"/>
          <p:cNvSpPr>
            <a:spLocks noGrp="1"/>
          </p:cNvSpPr>
          <p:nvPr>
            <p:ph type="body" sz="quarter" idx="3"/>
          </p:nvPr>
        </p:nvSpPr>
        <p:spPr>
          <a:xfrm>
            <a:off x="914400" y="3251200"/>
            <a:ext cx="7315200" cy="3081338"/>
          </a:xfrm>
          <a:prstGeom prst="rect">
            <a:avLst/>
          </a:prstGeom>
        </p:spPr>
        <p:txBody>
          <a:bodyPr vert="horz" lIns="91440" tIns="45720" rIns="91440" bIns="45720" rtlCol="0"/>
          <a:lstStyle/>
          <a:p>
            <a:r>
              <a:rPr lang="en-US"/>
              <a:t>6</a:t>
            </a:r>
            <a:endParaRPr lang="en-US" smtClean="0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4"/>
          </p:nvPr>
        </p:nvSpPr>
        <p:spPr>
          <a:xfrm>
            <a:off x="0" y="6502400"/>
            <a:ext cx="3962400" cy="341313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l">
              <a:defRPr sz="1200"/>
            </a:lvl1pPr>
          </a:lstStyle>
          <a:p>
            <a:endParaRPr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5"/>
          </p:nvPr>
        </p:nvSpPr>
        <p:spPr>
          <a:xfrm>
            <a:off x="5180013" y="6502400"/>
            <a:ext cx="3962400" cy="341313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r">
              <a:defRPr sz="1200"/>
            </a:lvl1pPr>
          </a:lstStyle>
          <a:p>
            <a:r>
              <a:rPr lang="cs-CZ" smtClean="0"/>
              <a:t>‹#›</a:t>
            </a:r>
          </a:p>
        </p:txBody>
      </p:sp>
    </p:spTree>
  </p:cSld>
  <p:clrMapOvr>
    <a:masterClrMapping/>
  </p:clrMapOvr>
</p:notes>
</file>

<file path=ppt/notesSlides/notesSlide7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Header Placeholder 1"/>
          <p:cNvSpPr>
            <a:spLocks noGrp="1"/>
          </p:cNvSpPr>
          <p:nvPr>
            <p:ph type="hdr" sz="quarter"/>
          </p:nvPr>
        </p:nvSpPr>
        <p:spPr>
          <a:xfrm>
            <a:off x="0" y="0"/>
            <a:ext cx="3962400" cy="342900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l">
              <a:defRPr sz="1200"/>
            </a:lvl1pPr>
          </a:lstStyle>
          <a:p>
            <a:endParaRPr/>
          </a:p>
        </p:txBody>
      </p:sp>
      <p:sp>
        <p:nvSpPr>
          <p:cNvPr id="3" name="Date Placeholder 2"/>
          <p:cNvSpPr>
            <a:spLocks noGrp="1"/>
          </p:cNvSpPr>
          <p:nvPr>
            <p:ph type="dt" idx="1"/>
          </p:nvPr>
        </p:nvSpPr>
        <p:spPr>
          <a:xfrm>
            <a:off x="5180013" y="0"/>
            <a:ext cx="3962400" cy="342900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r">
              <a:defRPr sz="1200"/>
            </a:lvl1pPr>
          </a:lstStyle>
          <a:p>
            <a:r>
              <a:rPr lang="cs-CZ" smtClean="0"/>
              <a:t>1.7.2013</a:t>
            </a:r>
          </a:p>
        </p:txBody>
      </p:sp>
      <p:sp>
        <p:nvSpPr>
          <p:cNvPr id="4" name="Slide Image Placeholder 3"/>
          <p:cNvSpPr>
            <a:spLocks noGrp="1" noRot="1" noChangeAspect="1"/>
          </p:cNvSpPr>
          <p:nvPr>
            <p:ph type="sldImg" idx="2"/>
          </p:nvPr>
        </p:nvSpPr>
        <p:spPr>
          <a:xfrm>
            <a:off x="2290763" y="512763"/>
            <a:ext cx="4562475" cy="2566987"/>
          </a:xfrm>
          <a:prstGeom prst="rect">
            <a:avLst/>
          </a:prstGeom>
          <a:noFill/>
          <a:ln w="12700">
            <a:solidFill>
              <a:prstClr val="black"/>
            </a:solidFill>
          </a:ln>
        </p:spPr>
        <p:txBody>
          <a:bodyPr vert="horz" lIns="91440" tIns="45720" rIns="91440" bIns="45720" rtlCol="0" anchor="ctr"/>
          <a:lstStyle/>
          <a:p>
            <a:endParaRPr/>
          </a:p>
        </p:txBody>
      </p:sp>
      <p:sp>
        <p:nvSpPr>
          <p:cNvPr id="5" name="Notes Placeholder 4"/>
          <p:cNvSpPr>
            <a:spLocks noGrp="1"/>
          </p:cNvSpPr>
          <p:nvPr>
            <p:ph type="body" sz="quarter" idx="3"/>
          </p:nvPr>
        </p:nvSpPr>
        <p:spPr>
          <a:xfrm>
            <a:off x="914400" y="3251200"/>
            <a:ext cx="7315200" cy="3081338"/>
          </a:xfrm>
          <a:prstGeom prst="rect">
            <a:avLst/>
          </a:prstGeom>
        </p:spPr>
        <p:txBody>
          <a:bodyPr vert="horz" lIns="91440" tIns="45720" rIns="91440" bIns="45720" rtlCol="0"/>
          <a:lstStyle/>
          <a:p>
            <a:r>
              <a:rPr lang="en-US"/>
              <a:t>8</a:t>
            </a:r>
            <a:endParaRPr lang="en-US" smtClean="0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4"/>
          </p:nvPr>
        </p:nvSpPr>
        <p:spPr>
          <a:xfrm>
            <a:off x="0" y="6502400"/>
            <a:ext cx="3962400" cy="341313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l">
              <a:defRPr sz="1200"/>
            </a:lvl1pPr>
          </a:lstStyle>
          <a:p>
            <a:endParaRPr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5"/>
          </p:nvPr>
        </p:nvSpPr>
        <p:spPr>
          <a:xfrm>
            <a:off x="5180013" y="6502400"/>
            <a:ext cx="3962400" cy="341313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r">
              <a:defRPr sz="1200"/>
            </a:lvl1pPr>
          </a:lstStyle>
          <a:p>
            <a:r>
              <a:rPr lang="cs-CZ" smtClean="0"/>
              <a:t>‹#›</a:t>
            </a:r>
          </a:p>
        </p:txBody>
      </p:sp>
    </p:spTree>
  </p:cSld>
  <p:clrMapOvr>
    <a:masterClrMapping/>
  </p:clrMapOvr>
</p:notes>
</file>

<file path=ppt/slideLayouts/_rels/slideLayout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4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5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6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7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8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9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0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type="title" preserve="1">
  <p:cSld name="Title Slide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ctrTitle"/>
          </p:nvPr>
        </p:nvSpPr>
        <p:spPr>
          <a:xfrm>
            <a:off x="685800" y="2130425"/>
            <a:ext cx="7772400" cy="1470025"/>
          </a:xfrm>
        </p:spPr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Subtitle 2"/>
          <p:cNvSpPr>
            <a:spLocks noGrp="1"/>
          </p:cNvSpPr>
          <p:nvPr>
            <p:ph type="subTitle" idx="1"/>
          </p:nvPr>
        </p:nvSpPr>
        <p:spPr>
          <a:xfrm>
            <a:off x="1371600" y="3886200"/>
            <a:ext cx="6400800" cy="1752600"/>
          </a:xfrm>
        </p:spPr>
        <p:txBody>
          <a:bodyPr/>
          <a:lstStyle>
            <a:lvl1pPr marL="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1pPr>
            <a:lvl2pPr marL="457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2pPr>
            <a:lvl3pPr marL="914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3pPr>
            <a:lvl4pPr marL="1371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4pPr>
            <a:lvl5pPr marL="18288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5pPr>
            <a:lvl6pPr marL="22860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6pPr>
            <a:lvl7pPr marL="2743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7pPr>
            <a:lvl8pPr marL="3200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8pPr>
            <a:lvl9pPr marL="3657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r>
              <a:rPr lang="en-US" smtClean="0"/>
              <a:t>Click to edit Master subtitle style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1D8BD707-D9CF-40AE-B4C6-C98DA3205C09}" type="datetimeFigureOut">
              <a:rPr lang="en-US" smtClean="0"/>
              <a:pPr/>
              <a:t>11/11/2025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B6F15528-21DE-4FAA-801E-634DDDAF4B2B}" type="slidenum">
              <a:rPr lang="en-US" smtClean="0"/>
              <a:pPr/>
              <a:t>‹#›</a:t>
            </a:fld>
            <a:endParaRPr lang="en-US"/>
          </a:p>
        </p:txBody>
      </p:sp>
    </p:spTree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p="http://schemas.openxmlformats.org/presentationml/2006/main" type="obj" preserve="1">
  <p:cSld name="Title and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1D8BD707-D9CF-40AE-B4C6-C98DA3205C09}" type="datetimeFigureOut">
              <a:rPr lang="en-US" smtClean="0"/>
              <a:pPr/>
              <a:t>11/11/2025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B6F15528-21DE-4FAA-801E-634DDDAF4B2B}" type="slidenum">
              <a:rPr lang="en-US" smtClean="0"/>
              <a:pPr/>
              <a:t>‹#›</a:t>
            </a:fld>
            <a:endParaRPr lang="en-US"/>
          </a:p>
        </p:txBody>
      </p:sp>
    </p:spTree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p="http://schemas.openxmlformats.org/presentationml/2006/main" type="secHead" preserve="1">
  <p:cSld name="Section Header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722313" y="4406900"/>
            <a:ext cx="7772400" cy="1362075"/>
          </a:xfrm>
        </p:spPr>
        <p:txBody>
          <a:bodyPr anchor="t"/>
          <a:lstStyle>
            <a:lvl1pPr algn="l">
              <a:defRPr sz="4000" b="1" cap="all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722313" y="2906713"/>
            <a:ext cx="7772400" cy="1500187"/>
          </a:xfrm>
        </p:spPr>
        <p:txBody>
          <a:bodyPr anchor="b"/>
          <a:lstStyle>
            <a:lvl1pPr marL="0" indent="0">
              <a:buNone/>
              <a:defRPr sz="2000">
                <a:solidFill>
                  <a:schemeClr val="tx1">
                    <a:tint val="75000"/>
                  </a:schemeClr>
                </a:solidFill>
              </a:defRPr>
            </a:lvl1pPr>
            <a:lvl2pPr marL="457200" indent="0">
              <a:buNone/>
              <a:defRPr sz="1800">
                <a:solidFill>
                  <a:schemeClr val="tx1">
                    <a:tint val="75000"/>
                  </a:schemeClr>
                </a:solidFill>
              </a:defRPr>
            </a:lvl2pPr>
            <a:lvl3pPr marL="9144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3pPr>
            <a:lvl4pPr marL="1371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4pPr>
            <a:lvl5pPr marL="18288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5pPr>
            <a:lvl6pPr marL="22860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6pPr>
            <a:lvl7pPr marL="27432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7pPr>
            <a:lvl8pPr marL="32004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8pPr>
            <a:lvl9pPr marL="3657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1D8BD707-D9CF-40AE-B4C6-C98DA3205C09}" type="datetimeFigureOut">
              <a:rPr lang="en-US" smtClean="0"/>
              <a:pPr/>
              <a:t>11/11/2025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B6F15528-21DE-4FAA-801E-634DDDAF4B2B}" type="slidenum">
              <a:rPr lang="en-US" smtClean="0"/>
              <a:pPr/>
              <a:t>‹#›</a:t>
            </a:fld>
            <a:endParaRPr lang="en-US"/>
          </a:p>
        </p:txBody>
      </p:sp>
    </p:spTree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p="http://schemas.openxmlformats.org/presentationml/2006/main" type="twoObj" preserve="1">
  <p:cSld name="Two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sz="half" idx="1"/>
          </p:nvPr>
        </p:nvSpPr>
        <p:spPr>
          <a:xfrm>
            <a:off x="457200" y="1600200"/>
            <a:ext cx="40386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648200" y="1600200"/>
            <a:ext cx="40386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1D8BD707-D9CF-40AE-B4C6-C98DA3205C09}" type="datetimeFigureOut">
              <a:rPr lang="en-US" smtClean="0"/>
              <a:pPr/>
              <a:t>11/11/2025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B6F15528-21DE-4FAA-801E-634DDDAF4B2B}" type="slidenum">
              <a:rPr lang="en-US" smtClean="0"/>
              <a:pPr/>
              <a:t>‹#›</a:t>
            </a:fld>
            <a:endParaRPr lang="en-US"/>
          </a:p>
        </p:txBody>
      </p:sp>
    </p:spTree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p="http://schemas.openxmlformats.org/presentationml/2006/main" type="twoTxTwoObj" preserve="1">
  <p:cSld name="Comparis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>
            <a:lvl1pPr>
              <a:defRPr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535113"/>
            <a:ext cx="4040188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57200" y="2174875"/>
            <a:ext cx="4040188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5" name="Text Placeholder 4"/>
          <p:cNvSpPr>
            <a:spLocks noGrp="1"/>
          </p:cNvSpPr>
          <p:nvPr>
            <p:ph type="body" sz="quarter" idx="3"/>
          </p:nvPr>
        </p:nvSpPr>
        <p:spPr>
          <a:xfrm>
            <a:off x="4645025" y="1535113"/>
            <a:ext cx="4041775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6" name="Content Placeholder 5"/>
          <p:cNvSpPr>
            <a:spLocks noGrp="1"/>
          </p:cNvSpPr>
          <p:nvPr>
            <p:ph sz="quarter" idx="4"/>
          </p:nvPr>
        </p:nvSpPr>
        <p:spPr>
          <a:xfrm>
            <a:off x="4645025" y="2174875"/>
            <a:ext cx="4041775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7" name="Date Placeholder 6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1D8BD707-D9CF-40AE-B4C6-C98DA3205C09}" type="datetimeFigureOut">
              <a:rPr lang="en-US" smtClean="0"/>
              <a:pPr/>
              <a:t>11/11/2025</a:t>
            </a:fld>
            <a:endParaRPr lang="en-US"/>
          </a:p>
        </p:txBody>
      </p:sp>
      <p:sp>
        <p:nvSpPr>
          <p:cNvPr id="8" name="Footer Placeholder 7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9" name="Slide Number Placeholder 8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B6F15528-21DE-4FAA-801E-634DDDAF4B2B}" type="slidenum">
              <a:rPr lang="en-US" smtClean="0"/>
              <a:pPr/>
              <a:t>‹#›</a:t>
            </a:fld>
            <a:endParaRPr lang="en-US"/>
          </a:p>
        </p:txBody>
      </p:sp>
    </p:spTree>
  </p:cSld>
  <p:clrMapOvr>
    <a:masterClrMapping/>
  </p:clrMapOvr>
</p:sldLayout>
</file>

<file path=ppt/slideLayouts/slideLayout6.xml><?xml version="1.0" encoding="utf-8"?>
<p:sldLayout xmlns:a="http://schemas.openxmlformats.org/drawingml/2006/main" xmlns:r="http://schemas.openxmlformats.org/officeDocument/2006/relationships" xmlns:p="http://schemas.openxmlformats.org/presentationml/2006/main" type="titleOnly" preserve="1">
  <p:cSld name="Title Only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Date Placeholder 2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1D8BD707-D9CF-40AE-B4C6-C98DA3205C09}" type="datetimeFigureOut">
              <a:rPr lang="en-US" smtClean="0"/>
              <a:pPr/>
              <a:t>11/11/2025</a:t>
            </a:fld>
            <a:endParaRPr lang="en-US"/>
          </a:p>
        </p:txBody>
      </p:sp>
      <p:sp>
        <p:nvSpPr>
          <p:cNvPr id="4" name="Footer Placeholder 3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5" name="Slide Number Placeholder 4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B6F15528-21DE-4FAA-801E-634DDDAF4B2B}" type="slidenum">
              <a:rPr lang="en-US" smtClean="0"/>
              <a:pPr/>
              <a:t>‹#›</a:t>
            </a:fld>
            <a:endParaRPr lang="en-US"/>
          </a:p>
        </p:txBody>
      </p:sp>
    </p:spTree>
  </p:cSld>
  <p:clrMapOvr>
    <a:masterClrMapping/>
  </p:clrMapOvr>
</p:sldLayout>
</file>

<file path=ppt/slideLayouts/slideLayout7.xml><?xml version="1.0" encoding="utf-8"?>
<p:sldLayout xmlns:a="http://schemas.openxmlformats.org/drawingml/2006/main" xmlns:r="http://schemas.openxmlformats.org/officeDocument/2006/relationships" xmlns:p="http://schemas.openxmlformats.org/presentationml/2006/main" type="blank" preserve="1">
  <p:cSld name="Blank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ate Placeholder 1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1D8BD707-D9CF-40AE-B4C6-C98DA3205C09}" type="datetimeFigureOut">
              <a:rPr lang="en-US" smtClean="0"/>
              <a:pPr/>
              <a:t>11/11/2025</a:t>
            </a:fld>
            <a:endParaRPr lang="en-US"/>
          </a:p>
        </p:txBody>
      </p:sp>
      <p:sp>
        <p:nvSpPr>
          <p:cNvPr id="3" name="Footer Placeholder 2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B6F15528-21DE-4FAA-801E-634DDDAF4B2B}" type="slidenum">
              <a:rPr lang="en-US" smtClean="0"/>
              <a:pPr/>
              <a:t>‹#›</a:t>
            </a:fld>
            <a:endParaRPr lang="en-US"/>
          </a:p>
        </p:txBody>
      </p:sp>
    </p:spTree>
  </p:cSld>
  <p:clrMapOvr>
    <a:masterClrMapping/>
  </p:clrMapOvr>
</p:sldLayout>
</file>

<file path=ppt/slideLayouts/slideLayout8.xml><?xml version="1.0" encoding="utf-8"?>
<p:sldLayout xmlns:a="http://schemas.openxmlformats.org/drawingml/2006/main" xmlns:r="http://schemas.openxmlformats.org/officeDocument/2006/relationships" xmlns:p="http://schemas.openxmlformats.org/presentationml/2006/main" type="objTx" preserve="1">
  <p:cSld name="Content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457200" y="273050"/>
            <a:ext cx="3008313" cy="1162050"/>
          </a:xfrm>
        </p:spPr>
        <p:txBody>
          <a:bodyPr anchor="b"/>
          <a:lstStyle>
            <a:lvl1pPr algn="l">
              <a:defRPr sz="2000" b="1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>
          <a:xfrm>
            <a:off x="3575050" y="273050"/>
            <a:ext cx="5111750" cy="5853113"/>
          </a:xfrm>
        </p:spPr>
        <p:txBody>
          <a:bodyPr/>
          <a:lstStyle>
            <a:lvl1pPr>
              <a:defRPr sz="3200"/>
            </a:lvl1pPr>
            <a:lvl2pPr>
              <a:defRPr sz="2800"/>
            </a:lvl2pPr>
            <a:lvl3pPr>
              <a:defRPr sz="2400"/>
            </a:lvl3pPr>
            <a:lvl4pPr>
              <a:defRPr sz="2000"/>
            </a:lvl4pPr>
            <a:lvl5pPr>
              <a:defRPr sz="2000"/>
            </a:lvl5pPr>
            <a:lvl6pPr>
              <a:defRPr sz="2000"/>
            </a:lvl6pPr>
            <a:lvl7pPr>
              <a:defRPr sz="2000"/>
            </a:lvl7pPr>
            <a:lvl8pPr>
              <a:defRPr sz="2000"/>
            </a:lvl8pPr>
            <a:lvl9pPr>
              <a:defRPr sz="20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457200" y="1435100"/>
            <a:ext cx="3008313" cy="4691063"/>
          </a:xfrm>
        </p:spPr>
        <p:txBody>
          <a:bodyPr/>
          <a:lstStyle>
            <a:lvl1pPr marL="0" indent="0">
              <a:buNone/>
              <a:defRPr sz="14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1D8BD707-D9CF-40AE-B4C6-C98DA3205C09}" type="datetimeFigureOut">
              <a:rPr lang="en-US" smtClean="0"/>
              <a:pPr/>
              <a:t>11/11/2025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B6F15528-21DE-4FAA-801E-634DDDAF4B2B}" type="slidenum">
              <a:rPr lang="en-US" smtClean="0"/>
              <a:pPr/>
              <a:t>‹#›</a:t>
            </a:fld>
            <a:endParaRPr lang="en-US"/>
          </a:p>
        </p:txBody>
      </p:sp>
    </p:spTree>
  </p:cSld>
  <p:clrMapOvr>
    <a:masterClrMapping/>
  </p:clrMapOvr>
</p:sldLayout>
</file>

<file path=ppt/slideLayouts/slideLayout9.xml><?xml version="1.0" encoding="utf-8"?>
<p:sldLayout xmlns:a="http://schemas.openxmlformats.org/drawingml/2006/main" xmlns:r="http://schemas.openxmlformats.org/officeDocument/2006/relationships" xmlns:p="http://schemas.openxmlformats.org/presentationml/2006/main" type="picTx" preserve="1">
  <p:cSld name="Picture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1792288" y="4800600"/>
            <a:ext cx="5486400" cy="566738"/>
          </a:xfrm>
        </p:spPr>
        <p:txBody>
          <a:bodyPr anchor="b"/>
          <a:lstStyle>
            <a:lvl1pPr algn="l">
              <a:defRPr sz="2000" b="1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Picture Placeholder 2"/>
          <p:cNvSpPr>
            <a:spLocks noGrp="1"/>
          </p:cNvSpPr>
          <p:nvPr>
            <p:ph type="pic" idx="1"/>
          </p:nvPr>
        </p:nvSpPr>
        <p:spPr>
          <a:xfrm>
            <a:off x="1792288" y="612775"/>
            <a:ext cx="5486400" cy="4114800"/>
          </a:xfrm>
        </p:spPr>
        <p:txBody>
          <a:bodyPr/>
          <a:lstStyle>
            <a:lvl1pPr marL="0" indent="0">
              <a:buNone/>
              <a:defRPr sz="3200"/>
            </a:lvl1pPr>
            <a:lvl2pPr marL="457200" indent="0">
              <a:buNone/>
              <a:defRPr sz="2800"/>
            </a:lvl2pPr>
            <a:lvl3pPr marL="914400" indent="0">
              <a:buNone/>
              <a:defRPr sz="2400"/>
            </a:lvl3pPr>
            <a:lvl4pPr marL="1371600" indent="0">
              <a:buNone/>
              <a:defRPr sz="2000"/>
            </a:lvl4pPr>
            <a:lvl5pPr marL="1828800" indent="0">
              <a:buNone/>
              <a:defRPr sz="2000"/>
            </a:lvl5pPr>
            <a:lvl6pPr marL="2286000" indent="0">
              <a:buNone/>
              <a:defRPr sz="2000"/>
            </a:lvl6pPr>
            <a:lvl7pPr marL="2743200" indent="0">
              <a:buNone/>
              <a:defRPr sz="2000"/>
            </a:lvl7pPr>
            <a:lvl8pPr marL="3200400" indent="0">
              <a:buNone/>
              <a:defRPr sz="2000"/>
            </a:lvl8pPr>
            <a:lvl9pPr marL="3657600" indent="0">
              <a:buNone/>
              <a:defRPr sz="2000"/>
            </a:lvl9pPr>
          </a:lstStyle>
          <a:p>
            <a:endParaRPr lang="en-US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1792288" y="5367338"/>
            <a:ext cx="5486400" cy="804862"/>
          </a:xfrm>
        </p:spPr>
        <p:txBody>
          <a:bodyPr/>
          <a:lstStyle>
            <a:lvl1pPr marL="0" indent="0">
              <a:buNone/>
              <a:defRPr sz="14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1D8BD707-D9CF-40AE-B4C6-C98DA3205C09}" type="datetimeFigureOut">
              <a:rPr lang="en-US" smtClean="0"/>
              <a:pPr/>
              <a:t>11/11/2025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B6F15528-21DE-4FAA-801E-634DDDAF4B2B}" type="slidenum">
              <a:rPr lang="en-US" smtClean="0"/>
              <a:pPr/>
              <a:t>‹#›</a:t>
            </a:fld>
            <a:endParaRPr lang="en-US"/>
          </a:p>
        </p:txBody>
      </p:sp>
    </p:spTree>
  </p:cSld>
  <p:clrMapOvr>
    <a:masterClrMapping/>
  </p:clrMapOvr>
</p:sldLayout>
</file>

<file path=ppt/slideLayouts/slideLayout10.xml><?xml version="1.0" encoding="utf-8"?>
<p:sldLayout xmlns:a="http://schemas.openxmlformats.org/drawingml/2006/main" xmlns:r="http://schemas.openxmlformats.org/officeDocument/2006/relationships" xmlns:p="http://schemas.openxmlformats.org/presentationml/2006/main" type="vertTx" preserve="1">
  <p:cSld name="Title and Vertical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/>
        <p:txBody>
          <a:bodyPr vert="eaVert"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1D8BD707-D9CF-40AE-B4C6-C98DA3205C09}" type="datetimeFigureOut">
              <a:rPr lang="en-US" smtClean="0"/>
              <a:pPr/>
              <a:t>11/11/2025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B6F15528-21DE-4FAA-801E-634DDDAF4B2B}" type="slidenum">
              <a:rPr lang="en-US" smtClean="0"/>
              <a:pPr/>
              <a:t>‹#›</a:t>
            </a:fld>
            <a:endParaRPr lang="en-US"/>
          </a:p>
        </p:txBody>
      </p:sp>
    </p:spTree>
  </p:cSld>
  <p:clrMapOvr>
    <a:masterClrMapping/>
  </p:clrMapOvr>
</p:sldLayout>
</file>

<file path=ppt/slideLayouts/slideLayout11.xml><?xml version="1.0" encoding="utf-8"?>
<p:sldLayout xmlns:a="http://schemas.openxmlformats.org/drawingml/2006/main" xmlns:r="http://schemas.openxmlformats.org/officeDocument/2006/relationships" xmlns:p="http://schemas.openxmlformats.org/presentationml/2006/main" type="vertTitleAndTx" preserve="1">
  <p:cSld name="Vertical Title and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Vertical Title 1"/>
          <p:cNvSpPr>
            <a:spLocks noGrp="1"/>
          </p:cNvSpPr>
          <p:nvPr>
            <p:ph type="title" orient="vert"/>
          </p:nvPr>
        </p:nvSpPr>
        <p:spPr>
          <a:xfrm>
            <a:off x="6629400" y="274638"/>
            <a:ext cx="2057400" cy="5851525"/>
          </a:xfrm>
        </p:spPr>
        <p:txBody>
          <a:bodyPr vert="eaVert"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>
          <a:xfrm>
            <a:off x="457200" y="274638"/>
            <a:ext cx="6019800" cy="5851525"/>
          </a:xfrm>
        </p:spPr>
        <p:txBody>
          <a:bodyPr vert="eaVert"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1D8BD707-D9CF-40AE-B4C6-C98DA3205C09}" type="datetimeFigureOut">
              <a:rPr lang="en-US" smtClean="0"/>
              <a:pPr/>
              <a:t>11/11/2025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B6F15528-21DE-4FAA-801E-634DDDAF4B2B}" type="slidenum">
              <a:rPr lang="en-US" smtClean="0"/>
              <a:pPr/>
              <a:t>‹#›</a:t>
            </a:fld>
            <a:endParaRPr lang="en-US"/>
          </a:p>
        </p:txBody>
      </p:sp>
    </p:spTree>
  </p:cSld>
  <p:clrMapOvr>
    <a:masterClrMapping/>
  </p:clrMapOvr>
</p:sldLayout>
</file>

<file path=ppt/slideMasters/_rels/slideMaster1.xml.rels><?xml version="1.0" encoding="UTF-8" standalone="yes"?>
<Relationships xmlns="http://schemas.openxmlformats.org/package/2006/relationships"><Relationship Id="rId8" Type="http://schemas.openxmlformats.org/officeDocument/2006/relationships/slideLayout" Target="../slideLayouts/slideLayout8.xml"/><Relationship Id="rId3" Type="http://schemas.openxmlformats.org/officeDocument/2006/relationships/slideLayout" Target="../slideLayouts/slideLayout3.xml"/><Relationship Id="rId7" Type="http://schemas.openxmlformats.org/officeDocument/2006/relationships/slideLayout" Target="../slideLayouts/slideLayout7.xml"/><Relationship Id="rId12" Type="http://schemas.openxmlformats.org/officeDocument/2006/relationships/theme" Target="../theme/theme1.xml"/><Relationship Id="rId2" Type="http://schemas.openxmlformats.org/officeDocument/2006/relationships/slideLayout" Target="../slideLayouts/slideLayout2.xml"/><Relationship Id="rId1" Type="http://schemas.openxmlformats.org/officeDocument/2006/relationships/slideLayout" Target="../slideLayouts/slideLayout1.xml"/><Relationship Id="rId6" Type="http://schemas.openxmlformats.org/officeDocument/2006/relationships/slideLayout" Target="../slideLayouts/slideLayout6.xml"/><Relationship Id="rId11" Type="http://schemas.openxmlformats.org/officeDocument/2006/relationships/slideLayout" Target="../slideLayouts/slideLayout11.xml"/><Relationship Id="rId5" Type="http://schemas.openxmlformats.org/officeDocument/2006/relationships/slideLayout" Target="../slideLayouts/slideLayout5.xml"/><Relationship Id="rId10" Type="http://schemas.openxmlformats.org/officeDocument/2006/relationships/slideLayout" Target="../slideLayouts/slideLayout10.xml"/><Relationship Id="rId4" Type="http://schemas.openxmlformats.org/officeDocument/2006/relationships/slideLayout" Target="../slideLayouts/slideLayout4.xml"/><Relationship Id="rId9" Type="http://schemas.openxmlformats.org/officeDocument/2006/relationships/slideLayout" Target="../slideLayouts/slideLayout9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Placeholder 1"/>
          <p:cNvSpPr>
            <a:spLocks noGrp="1"/>
          </p:cNvSpPr>
          <p:nvPr>
            <p:ph type="title"/>
          </p:nvPr>
        </p:nvSpPr>
        <p:spPr>
          <a:xfrm>
            <a:off x="457200" y="274638"/>
            <a:ext cx="8229600" cy="1143000"/>
          </a:xfrm>
          <a:prstGeom prst="rect">
            <a:avLst/>
          </a:prstGeom>
        </p:spPr>
        <p:txBody>
          <a:bodyPr vert="horz" lIns="91440" tIns="45720" rIns="91440" bIns="45720" rtlCol="0" anchor="ctr">
            <a:normAutofit/>
          </a:bodyPr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600200"/>
            <a:ext cx="8229600" cy="4525963"/>
          </a:xfrm>
          <a:prstGeom prst="rect">
            <a:avLst/>
          </a:prstGeom>
        </p:spPr>
        <p:txBody>
          <a:bodyPr vert="horz" lIns="91440" tIns="45720" rIns="91440" bIns="45720" rtlCol="0">
            <a:normAutofit/>
          </a:bodyPr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2"/>
          </p:nvPr>
        </p:nvSpPr>
        <p:spPr>
          <a:xfrm>
            <a:off x="457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l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1D8BD707-D9CF-40AE-B4C6-C98DA3205C09}" type="datetimeFigureOut">
              <a:rPr lang="en-US" smtClean="0"/>
              <a:pPr/>
              <a:t>11/11/2025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3"/>
          </p:nvPr>
        </p:nvSpPr>
        <p:spPr>
          <a:xfrm>
            <a:off x="3124200" y="6356350"/>
            <a:ext cx="2895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ct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4"/>
          </p:nvPr>
        </p:nvSpPr>
        <p:spPr>
          <a:xfrm>
            <a:off x="6553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B6F15528-21DE-4FAA-801E-634DDDAF4B2B}" type="slidenum">
              <a:rPr lang="en-US" smtClean="0"/>
              <a:pPr/>
              <a:t>‹#›</a:t>
            </a:fld>
            <a:endParaRPr lang="en-US"/>
          </a:p>
        </p:txBody>
      </p:sp>
    </p:spTree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  <p:sldLayoutId id="2147483650" r:id="rId2"/>
    <p:sldLayoutId id="2147483651" r:id="rId3"/>
    <p:sldLayoutId id="2147483652" r:id="rId4"/>
    <p:sldLayoutId id="2147483653" r:id="rId5"/>
    <p:sldLayoutId id="2147483654" r:id="rId6"/>
    <p:sldLayoutId id="2147483655" r:id="rId7"/>
    <p:sldLayoutId id="2147483656" r:id="rId8"/>
    <p:sldLayoutId id="2147483657" r:id="rId9"/>
    <p:sldLayoutId id="2147483658" r:id="rId10"/>
    <p:sldLayoutId id="2147483659" r:id="rId11"/>
  </p:sldLayoutIdLst>
  <p:txStyles>
    <p:titleStyle>
      <a:lvl1pPr algn="ctr" defTabSz="914400" rtl="0" eaLnBrk="1" latinLnBrk="0" hangingPunct="1"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342900" indent="-342900" algn="l" defTabSz="914400" rtl="0" eaLnBrk="1" latinLnBrk="0" hangingPunct="1">
        <a:spcBef>
          <a:spcPct val="20000"/>
        </a:spcBef>
        <a:buFont typeface="Arial" pitchFamily="34" charset="0"/>
        <a:buChar char="•"/>
        <a:defRPr sz="3200" kern="1200">
          <a:solidFill>
            <a:schemeClr val="tx1"/>
          </a:solidFill>
          <a:latin typeface="+mn-lt"/>
          <a:ea typeface="+mn-ea"/>
          <a:cs typeface="+mn-cs"/>
        </a:defRPr>
      </a:lvl1pPr>
      <a:lvl2pPr marL="742950" indent="-285750" algn="l" defTabSz="914400" rtl="0" eaLnBrk="1" latinLnBrk="0" hangingPunct="1">
        <a:spcBef>
          <a:spcPct val="20000"/>
        </a:spcBef>
        <a:buFont typeface="Arial" pitchFamily="34" charset="0"/>
        <a:buChar char="–"/>
        <a:defRPr sz="28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914400" rtl="0" eaLnBrk="1" latinLnBrk="0" hangingPunct="1">
        <a:spcBef>
          <a:spcPct val="20000"/>
        </a:spcBef>
        <a:buFont typeface="Arial" pitchFamily="34" charset="0"/>
        <a:buChar char="–"/>
        <a:defRPr sz="20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914400" rtl="0" eaLnBrk="1" latinLnBrk="0" hangingPunct="1">
        <a:spcBef>
          <a:spcPct val="20000"/>
        </a:spcBef>
        <a:buFont typeface="Arial" pitchFamily="34" charset="0"/>
        <a:buChar char="»"/>
        <a:defRPr sz="20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"1.0" encoding="UTF-8" standalone="yes"?>
<Relationships xmlns="http://schemas.openxmlformats.org/package/2006/relationships"><Relationship Id="rId8" Type="http://schemas.openxmlformats.org/officeDocument/2006/relationships/image" Target="../media/image4.png"/><Relationship Id="rId3" Type="http://schemas.openxmlformats.org/officeDocument/2006/relationships/hyperlink" Target="https://gamma.app/?utm_source=made-with-gamma" TargetMode="External"/><Relationship Id="rId7" Type="http://schemas.openxmlformats.org/officeDocument/2006/relationships/image" Target="../media/image4.svg"/><Relationship Id="rId2" Type="http://schemas.openxmlformats.org/officeDocument/2006/relationships/notesSlide" Target="../notesSlides/notesSlide1.xml"/><Relationship Id="rId1" Type="http://schemas.openxmlformats.org/officeDocument/2006/relationships/slideLayout" Target="../slideLayouts/slideLayout7.xml"/><Relationship Id="rId6" Type="http://schemas.openxmlformats.org/officeDocument/2006/relationships/image" Target="../media/image3.png"/><Relationship Id="rId5" Type="http://schemas.openxmlformats.org/officeDocument/2006/relationships/image" Target="../media/image2.png"/><Relationship Id="rId4" Type="http://schemas.openxmlformats.org/officeDocument/2006/relationships/image" Target="../media/image1.png"/><Relationship Id="rId9" Type="http://schemas.openxmlformats.org/officeDocument/2006/relationships/image" Target="../media/image6.svg"/></Relationships>
</file>

<file path=ppt/slides/_rels/slide2.xml.rels><?xml version="1.0" encoding="UTF-8" standalone="yes"?>
<Relationships xmlns="http://schemas.openxmlformats.org/package/2006/relationships"><Relationship Id="rId3" Type="http://schemas.openxmlformats.org/officeDocument/2006/relationships/image" Target="../media/image3.png"/><Relationship Id="rId7" Type="http://schemas.openxmlformats.org/officeDocument/2006/relationships/image" Target="../media/image6.svg"/><Relationship Id="rId2" Type="http://schemas.openxmlformats.org/officeDocument/2006/relationships/notesSlide" Target="../notesSlides/notesSlide2.xml"/><Relationship Id="rId1" Type="http://schemas.openxmlformats.org/officeDocument/2006/relationships/slideLayout" Target="../slideLayouts/slideLayout7.xml"/><Relationship Id="rId6" Type="http://schemas.openxmlformats.org/officeDocument/2006/relationships/image" Target="../media/image4.png"/><Relationship Id="rId5" Type="http://schemas.openxmlformats.org/officeDocument/2006/relationships/image" Target="../media/image5.png"/><Relationship Id="rId4" Type="http://schemas.openxmlformats.org/officeDocument/2006/relationships/image" Target="../media/image4.svg"/></Relationships>
</file>

<file path=ppt/slides/_rels/slide3.xml.rels><?xml version="1.0" encoding="UTF-8" standalone="yes"?>
<Relationships xmlns="http://schemas.openxmlformats.org/package/2006/relationships"><Relationship Id="rId3" Type="http://schemas.openxmlformats.org/officeDocument/2006/relationships/image" Target="../media/image4.png"/><Relationship Id="rId2" Type="http://schemas.openxmlformats.org/officeDocument/2006/relationships/notesSlide" Target="../notesSlides/notesSlide3.xml"/><Relationship Id="rId1" Type="http://schemas.openxmlformats.org/officeDocument/2006/relationships/slideLayout" Target="../slideLayouts/slideLayout7.xml"/><Relationship Id="rId6" Type="http://schemas.openxmlformats.org/officeDocument/2006/relationships/image" Target="../media/image4.svg"/><Relationship Id="rId5" Type="http://schemas.openxmlformats.org/officeDocument/2006/relationships/image" Target="../media/image3.png"/><Relationship Id="rId4" Type="http://schemas.openxmlformats.org/officeDocument/2006/relationships/image" Target="../media/image6.svg"/></Relationships>
</file>

<file path=ppt/slides/_rels/slide4.xml.rels><?xml version="1.0" encoding="UTF-8" standalone="yes"?>
<Relationships xmlns="http://schemas.openxmlformats.org/package/2006/relationships"><Relationship Id="rId8" Type="http://schemas.openxmlformats.org/officeDocument/2006/relationships/image" Target="../media/image7.png"/><Relationship Id="rId3" Type="http://schemas.openxmlformats.org/officeDocument/2006/relationships/image" Target="../media/image3.png"/><Relationship Id="rId7" Type="http://schemas.openxmlformats.org/officeDocument/2006/relationships/image" Target="../media/image6.png"/><Relationship Id="rId2" Type="http://schemas.openxmlformats.org/officeDocument/2006/relationships/notesSlide" Target="../notesSlides/notesSlide4.xml"/><Relationship Id="rId1" Type="http://schemas.openxmlformats.org/officeDocument/2006/relationships/slideLayout" Target="../slideLayouts/slideLayout7.xml"/><Relationship Id="rId6" Type="http://schemas.openxmlformats.org/officeDocument/2006/relationships/image" Target="../media/image6.svg"/><Relationship Id="rId5" Type="http://schemas.openxmlformats.org/officeDocument/2006/relationships/image" Target="../media/image4.png"/><Relationship Id="rId4" Type="http://schemas.openxmlformats.org/officeDocument/2006/relationships/image" Target="../media/image4.svg"/><Relationship Id="rId9" Type="http://schemas.openxmlformats.org/officeDocument/2006/relationships/image" Target="../media/image10.svg"/></Relationships>
</file>

<file path=ppt/slides/_rels/slide5.xml.rels><?xml version="1.0" encoding="UTF-8" standalone="yes"?>
<Relationships xmlns="http://schemas.openxmlformats.org/package/2006/relationships"><Relationship Id="rId8" Type="http://schemas.openxmlformats.org/officeDocument/2006/relationships/image" Target="../media/image1.png"/><Relationship Id="rId3" Type="http://schemas.openxmlformats.org/officeDocument/2006/relationships/image" Target="../media/image3.png"/><Relationship Id="rId7" Type="http://schemas.openxmlformats.org/officeDocument/2006/relationships/hyperlink" Target="https://gamma.app/?utm_source=made-with-gamma" TargetMode="External"/><Relationship Id="rId2" Type="http://schemas.openxmlformats.org/officeDocument/2006/relationships/notesSlide" Target="../notesSlides/notesSlide5.xml"/><Relationship Id="rId1" Type="http://schemas.openxmlformats.org/officeDocument/2006/relationships/slideLayout" Target="../slideLayouts/slideLayout7.xml"/><Relationship Id="rId6" Type="http://schemas.openxmlformats.org/officeDocument/2006/relationships/image" Target="../media/image6.svg"/><Relationship Id="rId5" Type="http://schemas.openxmlformats.org/officeDocument/2006/relationships/image" Target="../media/image4.png"/><Relationship Id="rId4" Type="http://schemas.openxmlformats.org/officeDocument/2006/relationships/image" Target="../media/image4.svg"/><Relationship Id="rId9" Type="http://schemas.openxmlformats.org/officeDocument/2006/relationships/image" Target="../media/image8.png"/></Relationships>
</file>

<file path=ppt/slides/_rels/slide6.xml.rels><?xml version="1.0" encoding="UTF-8" standalone="yes"?>
<Relationships xmlns="http://schemas.openxmlformats.org/package/2006/relationships"><Relationship Id="rId3" Type="http://schemas.openxmlformats.org/officeDocument/2006/relationships/image" Target="../media/image3.png"/><Relationship Id="rId7" Type="http://schemas.openxmlformats.org/officeDocument/2006/relationships/image" Target="../media/image9.png"/><Relationship Id="rId2" Type="http://schemas.openxmlformats.org/officeDocument/2006/relationships/notesSlide" Target="../notesSlides/notesSlide6.xml"/><Relationship Id="rId1" Type="http://schemas.openxmlformats.org/officeDocument/2006/relationships/slideLayout" Target="../slideLayouts/slideLayout7.xml"/><Relationship Id="rId6" Type="http://schemas.openxmlformats.org/officeDocument/2006/relationships/image" Target="../media/image6.svg"/><Relationship Id="rId5" Type="http://schemas.openxmlformats.org/officeDocument/2006/relationships/image" Target="../media/image4.png"/><Relationship Id="rId4" Type="http://schemas.openxmlformats.org/officeDocument/2006/relationships/image" Target="../media/image4.svg"/></Relationships>
</file>

<file path=ppt/slides/_rels/slide7.xml.rels><?xml version="1.0" encoding="UTF-8" standalone="yes"?>
<Relationships xmlns="http://schemas.openxmlformats.org/package/2006/relationships"><Relationship Id="rId3" Type="http://schemas.openxmlformats.org/officeDocument/2006/relationships/image" Target="../media/image3.png"/><Relationship Id="rId2" Type="http://schemas.openxmlformats.org/officeDocument/2006/relationships/notesSlide" Target="../notesSlides/notesSlide7.xml"/><Relationship Id="rId1" Type="http://schemas.openxmlformats.org/officeDocument/2006/relationships/slideLayout" Target="../slideLayouts/slideLayout7.xml"/><Relationship Id="rId6" Type="http://schemas.openxmlformats.org/officeDocument/2006/relationships/image" Target="../media/image6.svg"/><Relationship Id="rId5" Type="http://schemas.openxmlformats.org/officeDocument/2006/relationships/image" Target="../media/image4.png"/><Relationship Id="rId4" Type="http://schemas.openxmlformats.org/officeDocument/2006/relationships/image" Target="../media/image4.svg"/></Relationships>
</file>

<file path=ppt/slides/slide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grpSp>
        <p:nvGrpSpPr>
          <p:cNvPr id="2" name="Group 2"/>
          <p:cNvGrpSpPr/>
          <p:nvPr/>
        </p:nvGrpSpPr>
        <p:grpSpPr>
          <a:xfrm>
            <a:off x="0" y="0"/>
            <a:ext cx="18288000" cy="10287000"/>
            <a:chOff x="0" y="0"/>
            <a:chExt cx="24384000" cy="13716000"/>
          </a:xfrm>
        </p:grpSpPr>
        <p:sp>
          <p:nvSpPr>
            <p:cNvPr id="3" name="Freeform 3"/>
            <p:cNvSpPr/>
            <p:nvPr/>
          </p:nvSpPr>
          <p:spPr>
            <a:xfrm>
              <a:off x="0" y="0"/>
              <a:ext cx="24384000" cy="13716000"/>
            </a:xfrm>
            <a:custGeom>
              <a:avLst/>
              <a:gdLst/>
              <a:ahLst/>
              <a:cxnLst/>
              <a:rect l="l" t="t" r="r" b="b"/>
              <a:pathLst>
                <a:path w="24384000" h="13716000">
                  <a:moveTo>
                    <a:pt x="0" y="0"/>
                  </a:moveTo>
                  <a:lnTo>
                    <a:pt x="24384000" y="0"/>
                  </a:lnTo>
                  <a:lnTo>
                    <a:pt x="24384000" y="13716000"/>
                  </a:lnTo>
                  <a:lnTo>
                    <a:pt x="0" y="13716000"/>
                  </a:lnTo>
                  <a:close/>
                </a:path>
              </a:pathLst>
            </a:custGeom>
            <a:solidFill>
              <a:srgbClr val="FAFAFA"/>
            </a:solidFill>
          </p:spPr>
        </p:sp>
      </p:grpSp>
      <p:grpSp>
        <p:nvGrpSpPr>
          <p:cNvPr id="4" name="Group 4"/>
          <p:cNvGrpSpPr>
            <a:grpSpLocks noChangeAspect="1"/>
          </p:cNvGrpSpPr>
          <p:nvPr/>
        </p:nvGrpSpPr>
        <p:grpSpPr>
          <a:xfrm>
            <a:off x="16049019" y="9686925"/>
            <a:ext cx="2153256" cy="514350"/>
            <a:chOff x="0" y="0"/>
            <a:chExt cx="2871008" cy="685800"/>
          </a:xfrm>
        </p:grpSpPr>
        <p:sp>
          <p:nvSpPr>
            <p:cNvPr id="5" name="Freeform 5" descr="preencoded.png">
              <a:hlinkClick r:id="rId3" tooltip="https://gamma.app/?utm_source=made-with-gamma"/>
            </p:cNvPr>
            <p:cNvSpPr/>
            <p:nvPr/>
          </p:nvSpPr>
          <p:spPr>
            <a:xfrm>
              <a:off x="0" y="0"/>
              <a:ext cx="2870962" cy="685800"/>
            </a:xfrm>
            <a:custGeom>
              <a:avLst/>
              <a:gdLst/>
              <a:ahLst/>
              <a:cxnLst/>
              <a:rect l="l" t="t" r="r" b="b"/>
              <a:pathLst>
                <a:path w="2870962" h="685800">
                  <a:moveTo>
                    <a:pt x="0" y="0"/>
                  </a:moveTo>
                  <a:lnTo>
                    <a:pt x="2870962" y="0"/>
                  </a:lnTo>
                  <a:lnTo>
                    <a:pt x="2870962" y="685800"/>
                  </a:lnTo>
                  <a:lnTo>
                    <a:pt x="0" y="685800"/>
                  </a:lnTo>
                  <a:lnTo>
                    <a:pt x="0" y="0"/>
                  </a:lnTo>
                  <a:close/>
                </a:path>
              </a:pathLst>
            </a:custGeom>
            <a:blipFill>
              <a:blip r:embed="rId4"/>
              <a:stretch>
                <a:fillRect r="-1"/>
              </a:stretch>
            </a:blipFill>
          </p:spPr>
        </p:sp>
      </p:grpSp>
      <p:grpSp>
        <p:nvGrpSpPr>
          <p:cNvPr id="6" name="Group 6"/>
          <p:cNvGrpSpPr>
            <a:grpSpLocks noChangeAspect="1"/>
          </p:cNvGrpSpPr>
          <p:nvPr/>
        </p:nvGrpSpPr>
        <p:grpSpPr>
          <a:xfrm>
            <a:off x="11344275" y="0"/>
            <a:ext cx="6858000" cy="10287000"/>
            <a:chOff x="0" y="0"/>
            <a:chExt cx="9144000" cy="13716000"/>
          </a:xfrm>
        </p:grpSpPr>
        <p:sp>
          <p:nvSpPr>
            <p:cNvPr id="7" name="Freeform 7"/>
            <p:cNvSpPr/>
            <p:nvPr/>
          </p:nvSpPr>
          <p:spPr>
            <a:xfrm>
              <a:off x="0" y="0"/>
              <a:ext cx="9144000" cy="13716000"/>
            </a:xfrm>
            <a:custGeom>
              <a:avLst/>
              <a:gdLst/>
              <a:ahLst/>
              <a:cxnLst/>
              <a:rect l="l" t="t" r="r" b="b"/>
              <a:pathLst>
                <a:path w="9144000" h="13716000">
                  <a:moveTo>
                    <a:pt x="0" y="0"/>
                  </a:moveTo>
                  <a:lnTo>
                    <a:pt x="9144000" y="0"/>
                  </a:lnTo>
                  <a:lnTo>
                    <a:pt x="9144000" y="13716000"/>
                  </a:lnTo>
                  <a:lnTo>
                    <a:pt x="0" y="13716000"/>
                  </a:lnTo>
                  <a:lnTo>
                    <a:pt x="0" y="0"/>
                  </a:lnTo>
                  <a:close/>
                </a:path>
              </a:pathLst>
            </a:custGeom>
            <a:blipFill>
              <a:blip r:embed="rId5"/>
              <a:stretch>
                <a:fillRect l="-20832" r="-29791"/>
              </a:stretch>
            </a:blipFill>
          </p:spPr>
        </p:sp>
      </p:grpSp>
      <p:sp>
        <p:nvSpPr>
          <p:cNvPr id="8" name="Freeform 8"/>
          <p:cNvSpPr/>
          <p:nvPr/>
        </p:nvSpPr>
        <p:spPr>
          <a:xfrm rot="3998324">
            <a:off x="8132677" y="6983959"/>
            <a:ext cx="3270792" cy="4318716"/>
          </a:xfrm>
          <a:custGeom>
            <a:avLst/>
            <a:gdLst/>
            <a:ahLst/>
            <a:cxnLst/>
            <a:rect l="l" t="t" r="r" b="b"/>
            <a:pathLst>
              <a:path w="3270792" h="4318716">
                <a:moveTo>
                  <a:pt x="0" y="0"/>
                </a:moveTo>
                <a:lnTo>
                  <a:pt x="3270792" y="0"/>
                </a:lnTo>
                <a:lnTo>
                  <a:pt x="3270792" y="4318716"/>
                </a:lnTo>
                <a:lnTo>
                  <a:pt x="0" y="4318716"/>
                </a:lnTo>
                <a:lnTo>
                  <a:pt x="0" y="0"/>
                </a:lnTo>
                <a:close/>
              </a:path>
            </a:pathLst>
          </a:custGeom>
          <a:blipFill>
            <a:blip r:embed="rId6">
              <a:extLst>
                <a:ext uri="{96DAC541-7B7A-43D3-8B79-37D633B846F1}">
                  <asvg:svgBlip xmlns="" xmlns:asvg="http://schemas.microsoft.com/office/drawing/2016/SVG/main" r:embed="rId7"/>
                </a:ext>
              </a:extLst>
            </a:blip>
            <a:stretch>
              <a:fillRect/>
            </a:stretch>
          </a:blipFill>
        </p:spPr>
      </p:sp>
      <p:sp>
        <p:nvSpPr>
          <p:cNvPr id="9" name="Freeform 9"/>
          <p:cNvSpPr/>
          <p:nvPr/>
        </p:nvSpPr>
        <p:spPr>
          <a:xfrm rot="1695503">
            <a:off x="-667352" y="-1248037"/>
            <a:ext cx="5780943" cy="7633090"/>
          </a:xfrm>
          <a:custGeom>
            <a:avLst/>
            <a:gdLst/>
            <a:ahLst/>
            <a:cxnLst/>
            <a:rect l="l" t="t" r="r" b="b"/>
            <a:pathLst>
              <a:path w="5780943" h="7633090">
                <a:moveTo>
                  <a:pt x="0" y="0"/>
                </a:moveTo>
                <a:lnTo>
                  <a:pt x="5780944" y="0"/>
                </a:lnTo>
                <a:lnTo>
                  <a:pt x="5780944" y="7633091"/>
                </a:lnTo>
                <a:lnTo>
                  <a:pt x="0" y="7633091"/>
                </a:lnTo>
                <a:lnTo>
                  <a:pt x="0" y="0"/>
                </a:lnTo>
                <a:close/>
              </a:path>
            </a:pathLst>
          </a:custGeom>
          <a:blipFill>
            <a:blip r:embed="rId8">
              <a:extLst>
                <a:ext uri="{96DAC541-7B7A-43D3-8B79-37D633B846F1}">
                  <asvg:svgBlip xmlns="" xmlns:asvg="http://schemas.microsoft.com/office/drawing/2016/SVG/main" r:embed="rId9"/>
                </a:ext>
              </a:extLst>
            </a:blip>
            <a:stretch>
              <a:fillRect/>
            </a:stretch>
          </a:blipFill>
        </p:spPr>
      </p:sp>
      <p:sp>
        <p:nvSpPr>
          <p:cNvPr id="10" name="TextBox 10"/>
          <p:cNvSpPr txBox="1"/>
          <p:nvPr/>
        </p:nvSpPr>
        <p:spPr>
          <a:xfrm>
            <a:off x="1815303" y="1799080"/>
            <a:ext cx="8151762" cy="1182852"/>
          </a:xfrm>
          <a:prstGeom prst="rect">
            <a:avLst/>
          </a:prstGeom>
        </p:spPr>
        <p:txBody>
          <a:bodyPr lIns="0" tIns="0" rIns="0" bIns="0" rtlCol="0" anchor="t">
            <a:spAutoFit/>
          </a:bodyPr>
          <a:lstStyle/>
          <a:p>
            <a:pPr algn="ctr">
              <a:lnSpc>
                <a:spcPts val="9451"/>
              </a:lnSpc>
            </a:pPr>
            <a:r>
              <a:rPr lang="en-US" sz="7512" b="1">
                <a:solidFill>
                  <a:srgbClr val="020202"/>
                </a:solidFill>
                <a:latin typeface="PT Serif Bold"/>
                <a:ea typeface="PT Serif Bold"/>
                <a:cs typeface="PT Serif Bold"/>
                <a:sym typeface="PT Serif Bold"/>
              </a:rPr>
              <a:t>MST Visualizer</a:t>
            </a:r>
          </a:p>
        </p:txBody>
      </p:sp>
      <p:sp>
        <p:nvSpPr>
          <p:cNvPr id="11" name="TextBox 11"/>
          <p:cNvSpPr txBox="1"/>
          <p:nvPr/>
        </p:nvSpPr>
        <p:spPr>
          <a:xfrm>
            <a:off x="1805778" y="3039082"/>
            <a:ext cx="8151762" cy="914400"/>
          </a:xfrm>
          <a:prstGeom prst="rect">
            <a:avLst/>
          </a:prstGeom>
        </p:spPr>
        <p:txBody>
          <a:bodyPr lIns="0" tIns="0" rIns="0" bIns="0" rtlCol="0" anchor="t">
            <a:spAutoFit/>
          </a:bodyPr>
          <a:lstStyle/>
          <a:p>
            <a:pPr algn="ctr">
              <a:lnSpc>
                <a:spcPts val="3647"/>
              </a:lnSpc>
            </a:pPr>
            <a:r>
              <a:rPr lang="en-US" sz="3039">
                <a:solidFill>
                  <a:srgbClr val="383838"/>
                </a:solidFill>
                <a:latin typeface="DM Sans"/>
                <a:ea typeface="DM Sans"/>
                <a:cs typeface="DM Sans"/>
                <a:sym typeface="DM Sans"/>
              </a:rPr>
              <a:t>Interactive Minimum Spanning Tree Algorithm Visualizer</a:t>
            </a:r>
          </a:p>
        </p:txBody>
      </p:sp>
      <p:sp>
        <p:nvSpPr>
          <p:cNvPr id="12" name="TextBox 12"/>
          <p:cNvSpPr txBox="1"/>
          <p:nvPr/>
        </p:nvSpPr>
        <p:spPr>
          <a:xfrm>
            <a:off x="1805778" y="4161956"/>
            <a:ext cx="8630032" cy="2258065"/>
          </a:xfrm>
          <a:prstGeom prst="rect">
            <a:avLst/>
          </a:prstGeom>
        </p:spPr>
        <p:txBody>
          <a:bodyPr lIns="0" tIns="0" rIns="0" bIns="0" rtlCol="0" anchor="t">
            <a:spAutoFit/>
          </a:bodyPr>
          <a:lstStyle/>
          <a:p>
            <a:pPr algn="ctr">
              <a:lnSpc>
                <a:spcPts val="9105"/>
              </a:lnSpc>
            </a:pPr>
            <a:r>
              <a:rPr lang="en-US" sz="6279" b="1">
                <a:solidFill>
                  <a:srgbClr val="383838"/>
                </a:solidFill>
                <a:latin typeface="PT Serif Bold"/>
                <a:ea typeface="PT Serif Bold"/>
                <a:cs typeface="PT Serif Bold"/>
                <a:sym typeface="PT Serif Bold"/>
              </a:rPr>
              <a:t>Kruskal's &amp; Prim's Algorithms</a:t>
            </a:r>
          </a:p>
        </p:txBody>
      </p:sp>
      <p:sp>
        <p:nvSpPr>
          <p:cNvPr id="13" name="TextBox 13"/>
          <p:cNvSpPr txBox="1"/>
          <p:nvPr/>
        </p:nvSpPr>
        <p:spPr>
          <a:xfrm>
            <a:off x="3804970" y="1250408"/>
            <a:ext cx="4115278" cy="586773"/>
          </a:xfrm>
          <a:prstGeom prst="rect">
            <a:avLst/>
          </a:prstGeom>
        </p:spPr>
        <p:txBody>
          <a:bodyPr lIns="0" tIns="0" rIns="0" bIns="0" rtlCol="0" anchor="t">
            <a:spAutoFit/>
          </a:bodyPr>
          <a:lstStyle/>
          <a:p>
            <a:pPr algn="ctr">
              <a:lnSpc>
                <a:spcPts val="4980"/>
              </a:lnSpc>
            </a:pPr>
            <a:r>
              <a:rPr lang="en-US" sz="3058" b="1">
                <a:solidFill>
                  <a:srgbClr val="383838"/>
                </a:solidFill>
                <a:latin typeface="DM Sans Bold"/>
                <a:ea typeface="DM Sans Bold"/>
                <a:cs typeface="DM Sans Bold"/>
                <a:sym typeface="DM Sans Bold"/>
              </a:rPr>
              <a:t>CSC-520 : Practical 1</a:t>
            </a:r>
          </a:p>
        </p:txBody>
      </p:sp>
      <p:grpSp>
        <p:nvGrpSpPr>
          <p:cNvPr id="14" name="Group 14"/>
          <p:cNvGrpSpPr/>
          <p:nvPr/>
        </p:nvGrpSpPr>
        <p:grpSpPr>
          <a:xfrm>
            <a:off x="3230799" y="6923024"/>
            <a:ext cx="5320769" cy="2335276"/>
            <a:chOff x="0" y="0"/>
            <a:chExt cx="7094359" cy="3113701"/>
          </a:xfrm>
        </p:grpSpPr>
        <p:sp>
          <p:nvSpPr>
            <p:cNvPr id="15" name="TextBox 15"/>
            <p:cNvSpPr txBox="1"/>
            <p:nvPr/>
          </p:nvSpPr>
          <p:spPr>
            <a:xfrm>
              <a:off x="0" y="900312"/>
              <a:ext cx="7094359" cy="659425"/>
            </a:xfrm>
            <a:prstGeom prst="rect">
              <a:avLst/>
            </a:prstGeom>
          </p:spPr>
          <p:txBody>
            <a:bodyPr lIns="0" tIns="0" rIns="0" bIns="0" rtlCol="0" anchor="t">
              <a:spAutoFit/>
            </a:bodyPr>
            <a:lstStyle/>
            <a:p>
              <a:pPr algn="ctr">
                <a:lnSpc>
                  <a:spcPts val="4003"/>
                </a:lnSpc>
              </a:pPr>
              <a:r>
                <a:rPr lang="en-US" sz="3174">
                  <a:solidFill>
                    <a:srgbClr val="020202"/>
                  </a:solidFill>
                  <a:latin typeface="PT Serif"/>
                  <a:ea typeface="PT Serif"/>
                  <a:cs typeface="PT Serif"/>
                  <a:sym typeface="PT Serif"/>
                </a:rPr>
                <a:t>Abhishek Jaiswar - 256201</a:t>
              </a:r>
            </a:p>
          </p:txBody>
        </p:sp>
        <p:sp>
          <p:nvSpPr>
            <p:cNvPr id="16" name="TextBox 16"/>
            <p:cNvSpPr txBox="1"/>
            <p:nvPr/>
          </p:nvSpPr>
          <p:spPr>
            <a:xfrm>
              <a:off x="1902860" y="-123825"/>
              <a:ext cx="3288639" cy="740098"/>
            </a:xfrm>
            <a:prstGeom prst="rect">
              <a:avLst/>
            </a:prstGeom>
          </p:spPr>
          <p:txBody>
            <a:bodyPr lIns="0" tIns="0" rIns="0" bIns="0" rtlCol="0" anchor="t">
              <a:spAutoFit/>
            </a:bodyPr>
            <a:lstStyle/>
            <a:p>
              <a:pPr algn="ctr">
                <a:lnSpc>
                  <a:spcPts val="4980"/>
                </a:lnSpc>
              </a:pPr>
              <a:r>
                <a:rPr lang="en-US" sz="3058" b="1">
                  <a:solidFill>
                    <a:srgbClr val="383838"/>
                  </a:solidFill>
                  <a:latin typeface="DM Sans Bold"/>
                  <a:ea typeface="DM Sans Bold"/>
                  <a:cs typeface="DM Sans Bold"/>
                  <a:sym typeface="DM Sans Bold"/>
                </a:rPr>
                <a:t>Group No. 7</a:t>
              </a:r>
            </a:p>
          </p:txBody>
        </p:sp>
        <p:sp>
          <p:nvSpPr>
            <p:cNvPr id="17" name="TextBox 17"/>
            <p:cNvSpPr txBox="1"/>
            <p:nvPr/>
          </p:nvSpPr>
          <p:spPr>
            <a:xfrm>
              <a:off x="0" y="1677294"/>
              <a:ext cx="7094359" cy="659425"/>
            </a:xfrm>
            <a:prstGeom prst="rect">
              <a:avLst/>
            </a:prstGeom>
          </p:spPr>
          <p:txBody>
            <a:bodyPr lIns="0" tIns="0" rIns="0" bIns="0" rtlCol="0" anchor="t">
              <a:spAutoFit/>
            </a:bodyPr>
            <a:lstStyle/>
            <a:p>
              <a:pPr algn="ctr">
                <a:lnSpc>
                  <a:spcPts val="4003"/>
                </a:lnSpc>
              </a:pPr>
              <a:r>
                <a:rPr lang="en-US" sz="3174">
                  <a:solidFill>
                    <a:srgbClr val="020202"/>
                  </a:solidFill>
                  <a:latin typeface="PT Serif"/>
                  <a:ea typeface="PT Serif"/>
                  <a:cs typeface="PT Serif"/>
                  <a:sym typeface="PT Serif"/>
                </a:rPr>
                <a:t>Yogiraj Bhilare - 256228</a:t>
              </a:r>
            </a:p>
          </p:txBody>
        </p:sp>
        <p:sp>
          <p:nvSpPr>
            <p:cNvPr id="18" name="TextBox 18"/>
            <p:cNvSpPr txBox="1"/>
            <p:nvPr/>
          </p:nvSpPr>
          <p:spPr>
            <a:xfrm>
              <a:off x="0" y="2454277"/>
              <a:ext cx="7094359" cy="659425"/>
            </a:xfrm>
            <a:prstGeom prst="rect">
              <a:avLst/>
            </a:prstGeom>
          </p:spPr>
          <p:txBody>
            <a:bodyPr lIns="0" tIns="0" rIns="0" bIns="0" rtlCol="0" anchor="t">
              <a:spAutoFit/>
            </a:bodyPr>
            <a:lstStyle/>
            <a:p>
              <a:pPr algn="ctr">
                <a:lnSpc>
                  <a:spcPts val="4003"/>
                </a:lnSpc>
              </a:pPr>
              <a:r>
                <a:rPr lang="en-US" sz="3174">
                  <a:solidFill>
                    <a:srgbClr val="020202"/>
                  </a:solidFill>
                  <a:latin typeface="PT Serif"/>
                  <a:ea typeface="PT Serif"/>
                  <a:cs typeface="PT Serif"/>
                  <a:sym typeface="PT Serif"/>
                </a:rPr>
                <a:t>Tejas Patare - 256259</a:t>
              </a:r>
            </a:p>
          </p:txBody>
        </p:sp>
      </p:grpSp>
    </p:spTree>
  </p:cSld>
  <p:clrMapOvr>
    <a:masterClrMapping/>
  </p:clrMapOvr>
  <p:timing>
    <p:tnLst>
      <p:par>
        <p:cTn id="1" dur="indefinite" restart="never" nodeType="tmRoot"/>
      </p:par>
    </p:tnLst>
  </p:timing>
</p:sld>
</file>

<file path=ppt/slides/slide2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grpSp>
        <p:nvGrpSpPr>
          <p:cNvPr id="2" name="Group 2"/>
          <p:cNvGrpSpPr/>
          <p:nvPr/>
        </p:nvGrpSpPr>
        <p:grpSpPr>
          <a:xfrm>
            <a:off x="0" y="0"/>
            <a:ext cx="18288000" cy="10287000"/>
            <a:chOff x="0" y="0"/>
            <a:chExt cx="24384000" cy="13716000"/>
          </a:xfrm>
        </p:grpSpPr>
        <p:sp>
          <p:nvSpPr>
            <p:cNvPr id="3" name="Freeform 3"/>
            <p:cNvSpPr/>
            <p:nvPr/>
          </p:nvSpPr>
          <p:spPr>
            <a:xfrm>
              <a:off x="0" y="0"/>
              <a:ext cx="24384000" cy="13716000"/>
            </a:xfrm>
            <a:custGeom>
              <a:avLst/>
              <a:gdLst/>
              <a:ahLst/>
              <a:cxnLst/>
              <a:rect l="l" t="t" r="r" b="b"/>
              <a:pathLst>
                <a:path w="24384000" h="13716000">
                  <a:moveTo>
                    <a:pt x="0" y="0"/>
                  </a:moveTo>
                  <a:lnTo>
                    <a:pt x="24384000" y="0"/>
                  </a:lnTo>
                  <a:lnTo>
                    <a:pt x="24384000" y="13716000"/>
                  </a:lnTo>
                  <a:lnTo>
                    <a:pt x="0" y="13716000"/>
                  </a:lnTo>
                  <a:close/>
                </a:path>
              </a:pathLst>
            </a:custGeom>
            <a:solidFill>
              <a:srgbClr val="FAFAFA"/>
            </a:solidFill>
          </p:spPr>
        </p:sp>
      </p:grpSp>
      <p:grpSp>
        <p:nvGrpSpPr>
          <p:cNvPr id="4" name="Group 4"/>
          <p:cNvGrpSpPr/>
          <p:nvPr/>
        </p:nvGrpSpPr>
        <p:grpSpPr>
          <a:xfrm>
            <a:off x="0" y="0"/>
            <a:ext cx="18288000" cy="10287000"/>
            <a:chOff x="0" y="0"/>
            <a:chExt cx="24384000" cy="13716000"/>
          </a:xfrm>
        </p:grpSpPr>
        <p:sp>
          <p:nvSpPr>
            <p:cNvPr id="5" name="Freeform 5"/>
            <p:cNvSpPr/>
            <p:nvPr/>
          </p:nvSpPr>
          <p:spPr>
            <a:xfrm>
              <a:off x="0" y="0"/>
              <a:ext cx="24384000" cy="13716000"/>
            </a:xfrm>
            <a:custGeom>
              <a:avLst/>
              <a:gdLst/>
              <a:ahLst/>
              <a:cxnLst/>
              <a:rect l="l" t="t" r="r" b="b"/>
              <a:pathLst>
                <a:path w="24384000" h="13716000">
                  <a:moveTo>
                    <a:pt x="0" y="0"/>
                  </a:moveTo>
                  <a:lnTo>
                    <a:pt x="24384000" y="0"/>
                  </a:lnTo>
                  <a:lnTo>
                    <a:pt x="24384000" y="13716000"/>
                  </a:lnTo>
                  <a:lnTo>
                    <a:pt x="0" y="13716000"/>
                  </a:lnTo>
                  <a:close/>
                </a:path>
              </a:pathLst>
            </a:custGeom>
            <a:solidFill>
              <a:srgbClr val="FFFFFF"/>
            </a:solidFill>
          </p:spPr>
        </p:sp>
      </p:grpSp>
      <p:sp>
        <p:nvSpPr>
          <p:cNvPr id="6" name="Freeform 6"/>
          <p:cNvSpPr/>
          <p:nvPr/>
        </p:nvSpPr>
        <p:spPr>
          <a:xfrm rot="3998324">
            <a:off x="8132677" y="6983959"/>
            <a:ext cx="3270792" cy="4318716"/>
          </a:xfrm>
          <a:custGeom>
            <a:avLst/>
            <a:gdLst/>
            <a:ahLst/>
            <a:cxnLst/>
            <a:rect l="l" t="t" r="r" b="b"/>
            <a:pathLst>
              <a:path w="3270792" h="4318716">
                <a:moveTo>
                  <a:pt x="0" y="0"/>
                </a:moveTo>
                <a:lnTo>
                  <a:pt x="3270792" y="0"/>
                </a:lnTo>
                <a:lnTo>
                  <a:pt x="3270792" y="4318716"/>
                </a:lnTo>
                <a:lnTo>
                  <a:pt x="0" y="4318716"/>
                </a:lnTo>
                <a:lnTo>
                  <a:pt x="0" y="0"/>
                </a:lnTo>
                <a:close/>
              </a:path>
            </a:pathLst>
          </a:custGeom>
          <a:blipFill>
            <a:blip r:embed="rId3">
              <a:extLst>
                <a:ext uri="{96DAC541-7B7A-43D3-8B79-37D633B846F1}">
                  <asvg:svgBlip xmlns="" xmlns:asvg="http://schemas.microsoft.com/office/drawing/2016/SVG/main" r:embed="rId4"/>
                </a:ext>
              </a:extLst>
            </a:blip>
            <a:stretch>
              <a:fillRect/>
            </a:stretch>
          </a:blipFill>
        </p:spPr>
      </p:sp>
      <p:sp>
        <p:nvSpPr>
          <p:cNvPr id="7" name="Freeform 7"/>
          <p:cNvSpPr/>
          <p:nvPr/>
        </p:nvSpPr>
        <p:spPr>
          <a:xfrm>
            <a:off x="629832" y="2169335"/>
            <a:ext cx="7156705" cy="6870436"/>
          </a:xfrm>
          <a:custGeom>
            <a:avLst/>
            <a:gdLst/>
            <a:ahLst/>
            <a:cxnLst/>
            <a:rect l="l" t="t" r="r" b="b"/>
            <a:pathLst>
              <a:path w="7156705" h="6870436">
                <a:moveTo>
                  <a:pt x="0" y="0"/>
                </a:moveTo>
                <a:lnTo>
                  <a:pt x="7156704" y="0"/>
                </a:lnTo>
                <a:lnTo>
                  <a:pt x="7156704" y="6870436"/>
                </a:lnTo>
                <a:lnTo>
                  <a:pt x="0" y="6870436"/>
                </a:lnTo>
                <a:lnTo>
                  <a:pt x="0" y="0"/>
                </a:lnTo>
                <a:close/>
              </a:path>
            </a:pathLst>
          </a:custGeom>
          <a:blipFill>
            <a:blip r:embed="rId5"/>
            <a:stretch>
              <a:fillRect/>
            </a:stretch>
          </a:blipFill>
        </p:spPr>
      </p:sp>
      <p:sp>
        <p:nvSpPr>
          <p:cNvPr id="8" name="TextBox 8"/>
          <p:cNvSpPr txBox="1"/>
          <p:nvPr/>
        </p:nvSpPr>
        <p:spPr>
          <a:xfrm>
            <a:off x="971550" y="734765"/>
            <a:ext cx="8577673" cy="885825"/>
          </a:xfrm>
          <a:prstGeom prst="rect">
            <a:avLst/>
          </a:prstGeom>
        </p:spPr>
        <p:txBody>
          <a:bodyPr lIns="0" tIns="0" rIns="0" bIns="0" rtlCol="0" anchor="t">
            <a:spAutoFit/>
          </a:bodyPr>
          <a:lstStyle/>
          <a:p>
            <a:pPr algn="l">
              <a:lnSpc>
                <a:spcPts val="7124"/>
              </a:lnSpc>
            </a:pPr>
            <a:r>
              <a:rPr lang="en-US" sz="5687" b="1">
                <a:solidFill>
                  <a:srgbClr val="020202"/>
                </a:solidFill>
                <a:latin typeface="PT Serif Bold"/>
                <a:ea typeface="PT Serif Bold"/>
                <a:cs typeface="PT Serif Bold"/>
                <a:sym typeface="PT Serif Bold"/>
              </a:rPr>
              <a:t>What is MST Visualizer?</a:t>
            </a:r>
          </a:p>
        </p:txBody>
      </p:sp>
      <p:sp>
        <p:nvSpPr>
          <p:cNvPr id="9" name="TextBox 9"/>
          <p:cNvSpPr txBox="1"/>
          <p:nvPr/>
        </p:nvSpPr>
        <p:spPr>
          <a:xfrm>
            <a:off x="8298866" y="2111432"/>
            <a:ext cx="3643759" cy="514879"/>
          </a:xfrm>
          <a:prstGeom prst="rect">
            <a:avLst/>
          </a:prstGeom>
        </p:spPr>
        <p:txBody>
          <a:bodyPr lIns="0" tIns="0" rIns="0" bIns="0" rtlCol="0" anchor="t">
            <a:spAutoFit/>
          </a:bodyPr>
          <a:lstStyle/>
          <a:p>
            <a:pPr algn="l">
              <a:lnSpc>
                <a:spcPts val="4195"/>
              </a:lnSpc>
            </a:pPr>
            <a:r>
              <a:rPr lang="en-US" sz="3312" b="1">
                <a:solidFill>
                  <a:srgbClr val="020202"/>
                </a:solidFill>
                <a:latin typeface="PT Serif Bold"/>
                <a:ea typeface="PT Serif Bold"/>
                <a:cs typeface="PT Serif Bold"/>
                <a:sym typeface="PT Serif Bold"/>
              </a:rPr>
              <a:t>Purpose</a:t>
            </a:r>
          </a:p>
        </p:txBody>
      </p:sp>
      <p:sp>
        <p:nvSpPr>
          <p:cNvPr id="10" name="TextBox 10"/>
          <p:cNvSpPr txBox="1"/>
          <p:nvPr/>
        </p:nvSpPr>
        <p:spPr>
          <a:xfrm>
            <a:off x="8298866" y="2654548"/>
            <a:ext cx="9208084" cy="2170038"/>
          </a:xfrm>
          <a:prstGeom prst="rect">
            <a:avLst/>
          </a:prstGeom>
        </p:spPr>
        <p:txBody>
          <a:bodyPr lIns="0" tIns="0" rIns="0" bIns="0" rtlCol="0" anchor="t">
            <a:spAutoFit/>
          </a:bodyPr>
          <a:lstStyle/>
          <a:p>
            <a:pPr algn="l">
              <a:lnSpc>
                <a:spcPts val="4408"/>
              </a:lnSpc>
            </a:pPr>
            <a:r>
              <a:rPr lang="en-US" sz="2724">
                <a:solidFill>
                  <a:srgbClr val="383838"/>
                </a:solidFill>
                <a:latin typeface="DM Sans"/>
                <a:ea typeface="DM Sans"/>
                <a:cs typeface="DM Sans"/>
                <a:sym typeface="DM Sans"/>
              </a:rPr>
              <a:t>An interactive web application that visualizes Minimum Spanning Tree algorithms with step-by-step execution, helping students understand complex graph algorithms through real-time visual demonstration.</a:t>
            </a:r>
          </a:p>
        </p:txBody>
      </p:sp>
      <p:sp>
        <p:nvSpPr>
          <p:cNvPr id="11" name="TextBox 11"/>
          <p:cNvSpPr txBox="1"/>
          <p:nvPr/>
        </p:nvSpPr>
        <p:spPr>
          <a:xfrm>
            <a:off x="8298866" y="5262736"/>
            <a:ext cx="3643759" cy="514879"/>
          </a:xfrm>
          <a:prstGeom prst="rect">
            <a:avLst/>
          </a:prstGeom>
        </p:spPr>
        <p:txBody>
          <a:bodyPr lIns="0" tIns="0" rIns="0" bIns="0" rtlCol="0" anchor="t">
            <a:spAutoFit/>
          </a:bodyPr>
          <a:lstStyle/>
          <a:p>
            <a:pPr algn="l">
              <a:lnSpc>
                <a:spcPts val="4195"/>
              </a:lnSpc>
            </a:pPr>
            <a:r>
              <a:rPr lang="en-US" sz="3312" b="1">
                <a:solidFill>
                  <a:srgbClr val="020202"/>
                </a:solidFill>
                <a:latin typeface="PT Serif Bold"/>
                <a:ea typeface="PT Serif Bold"/>
                <a:cs typeface="PT Serif Bold"/>
                <a:sym typeface="PT Serif Bold"/>
              </a:rPr>
              <a:t>Key Features</a:t>
            </a:r>
          </a:p>
        </p:txBody>
      </p:sp>
      <p:grpSp>
        <p:nvGrpSpPr>
          <p:cNvPr id="12" name="Group 12"/>
          <p:cNvGrpSpPr/>
          <p:nvPr/>
        </p:nvGrpSpPr>
        <p:grpSpPr>
          <a:xfrm>
            <a:off x="8069373" y="5970315"/>
            <a:ext cx="9437577" cy="2427708"/>
            <a:chOff x="0" y="0"/>
            <a:chExt cx="12583437" cy="3236944"/>
          </a:xfrm>
        </p:grpSpPr>
        <p:sp>
          <p:nvSpPr>
            <p:cNvPr id="13" name="TextBox 13"/>
            <p:cNvSpPr txBox="1"/>
            <p:nvPr/>
          </p:nvSpPr>
          <p:spPr>
            <a:xfrm>
              <a:off x="0" y="-104775"/>
              <a:ext cx="12583437" cy="648659"/>
            </a:xfrm>
            <a:prstGeom prst="rect">
              <a:avLst/>
            </a:prstGeom>
          </p:spPr>
          <p:txBody>
            <a:bodyPr lIns="0" tIns="0" rIns="0" bIns="0" rtlCol="0" anchor="t">
              <a:spAutoFit/>
            </a:bodyPr>
            <a:lstStyle/>
            <a:p>
              <a:pPr marL="410963" lvl="1" indent="-205481" algn="l">
                <a:lnSpc>
                  <a:spcPts val="4408"/>
                </a:lnSpc>
                <a:buFont typeface="Arial"/>
                <a:buChar char="•"/>
              </a:pPr>
              <a:r>
                <a:rPr lang="en-US" sz="2724">
                  <a:solidFill>
                    <a:srgbClr val="383838"/>
                  </a:solidFill>
                  <a:latin typeface="DM Sans"/>
                  <a:ea typeface="DM Sans"/>
                  <a:cs typeface="DM Sans"/>
                  <a:sym typeface="DM Sans"/>
                </a:rPr>
                <a:t>Interactive drag-and-drop graph creation</a:t>
              </a:r>
            </a:p>
          </p:txBody>
        </p:sp>
        <p:sp>
          <p:nvSpPr>
            <p:cNvPr id="14" name="TextBox 14"/>
            <p:cNvSpPr txBox="1"/>
            <p:nvPr/>
          </p:nvSpPr>
          <p:spPr>
            <a:xfrm>
              <a:off x="0" y="568489"/>
              <a:ext cx="12583437" cy="648659"/>
            </a:xfrm>
            <a:prstGeom prst="rect">
              <a:avLst/>
            </a:prstGeom>
          </p:spPr>
          <p:txBody>
            <a:bodyPr lIns="0" tIns="0" rIns="0" bIns="0" rtlCol="0" anchor="t">
              <a:spAutoFit/>
            </a:bodyPr>
            <a:lstStyle/>
            <a:p>
              <a:pPr marL="410963" lvl="1" indent="-205481" algn="l">
                <a:lnSpc>
                  <a:spcPts val="4408"/>
                </a:lnSpc>
                <a:buFont typeface="Arial"/>
                <a:buChar char="•"/>
              </a:pPr>
              <a:r>
                <a:rPr lang="en-US" sz="2724">
                  <a:solidFill>
                    <a:srgbClr val="383838"/>
                  </a:solidFill>
                  <a:latin typeface="DM Sans"/>
                  <a:ea typeface="DM Sans"/>
                  <a:cs typeface="DM Sans"/>
                  <a:sym typeface="DM Sans"/>
                </a:rPr>
                <a:t>Random graph generation with configurable density</a:t>
              </a:r>
            </a:p>
          </p:txBody>
        </p:sp>
        <p:sp>
          <p:nvSpPr>
            <p:cNvPr id="15" name="TextBox 15"/>
            <p:cNvSpPr txBox="1"/>
            <p:nvPr/>
          </p:nvSpPr>
          <p:spPr>
            <a:xfrm>
              <a:off x="0" y="1241754"/>
              <a:ext cx="12583437" cy="648659"/>
            </a:xfrm>
            <a:prstGeom prst="rect">
              <a:avLst/>
            </a:prstGeom>
          </p:spPr>
          <p:txBody>
            <a:bodyPr lIns="0" tIns="0" rIns="0" bIns="0" rtlCol="0" anchor="t">
              <a:spAutoFit/>
            </a:bodyPr>
            <a:lstStyle/>
            <a:p>
              <a:pPr marL="410963" lvl="1" indent="-205481" algn="l">
                <a:lnSpc>
                  <a:spcPts val="4408"/>
                </a:lnSpc>
                <a:buFont typeface="Arial"/>
                <a:buChar char="•"/>
              </a:pPr>
              <a:r>
                <a:rPr lang="en-US" sz="2724">
                  <a:solidFill>
                    <a:srgbClr val="383838"/>
                  </a:solidFill>
                  <a:latin typeface="DM Sans"/>
                  <a:ea typeface="DM Sans"/>
                  <a:cs typeface="DM Sans"/>
                  <a:sym typeface="DM Sans"/>
                </a:rPr>
                <a:t>Step-by-step algorithm visualization</a:t>
              </a:r>
            </a:p>
          </p:txBody>
        </p:sp>
        <p:sp>
          <p:nvSpPr>
            <p:cNvPr id="16" name="TextBox 16"/>
            <p:cNvSpPr txBox="1"/>
            <p:nvPr/>
          </p:nvSpPr>
          <p:spPr>
            <a:xfrm>
              <a:off x="0" y="1915018"/>
              <a:ext cx="12583437" cy="648659"/>
            </a:xfrm>
            <a:prstGeom prst="rect">
              <a:avLst/>
            </a:prstGeom>
          </p:spPr>
          <p:txBody>
            <a:bodyPr lIns="0" tIns="0" rIns="0" bIns="0" rtlCol="0" anchor="t">
              <a:spAutoFit/>
            </a:bodyPr>
            <a:lstStyle/>
            <a:p>
              <a:pPr marL="410963" lvl="1" indent="-205481" algn="l">
                <a:lnSpc>
                  <a:spcPts val="4408"/>
                </a:lnSpc>
                <a:buFont typeface="Arial"/>
                <a:buChar char="•"/>
              </a:pPr>
              <a:r>
                <a:rPr lang="en-US" sz="2724">
                  <a:solidFill>
                    <a:srgbClr val="383838"/>
                  </a:solidFill>
                  <a:latin typeface="DM Sans"/>
                  <a:ea typeface="DM Sans"/>
                  <a:cs typeface="DM Sans"/>
                  <a:sym typeface="DM Sans"/>
                </a:rPr>
                <a:t>Support for both Kruskal's and Prim's algorithms</a:t>
              </a:r>
            </a:p>
          </p:txBody>
        </p:sp>
        <p:sp>
          <p:nvSpPr>
            <p:cNvPr id="17" name="TextBox 17"/>
            <p:cNvSpPr txBox="1"/>
            <p:nvPr/>
          </p:nvSpPr>
          <p:spPr>
            <a:xfrm>
              <a:off x="0" y="2588284"/>
              <a:ext cx="12583437" cy="648659"/>
            </a:xfrm>
            <a:prstGeom prst="rect">
              <a:avLst/>
            </a:prstGeom>
          </p:spPr>
          <p:txBody>
            <a:bodyPr lIns="0" tIns="0" rIns="0" bIns="0" rtlCol="0" anchor="t">
              <a:spAutoFit/>
            </a:bodyPr>
            <a:lstStyle/>
            <a:p>
              <a:pPr marL="410963" lvl="1" indent="-205481" algn="l">
                <a:lnSpc>
                  <a:spcPts val="4408"/>
                </a:lnSpc>
                <a:buFont typeface="Arial"/>
                <a:buChar char="•"/>
              </a:pPr>
              <a:r>
                <a:rPr lang="en-US" sz="2724">
                  <a:solidFill>
                    <a:srgbClr val="383838"/>
                  </a:solidFill>
                  <a:latin typeface="DM Sans"/>
                  <a:ea typeface="DM Sans"/>
                  <a:cs typeface="DM Sans"/>
                  <a:sym typeface="DM Sans"/>
                </a:rPr>
                <a:t>Pause/Resume control and real-time metrics</a:t>
              </a:r>
            </a:p>
          </p:txBody>
        </p:sp>
      </p:grpSp>
      <p:sp>
        <p:nvSpPr>
          <p:cNvPr id="18" name="Freeform 18"/>
          <p:cNvSpPr/>
          <p:nvPr/>
        </p:nvSpPr>
        <p:spPr>
          <a:xfrm rot="3471976" flipH="1" flipV="1">
            <a:off x="11646919" y="-2755363"/>
            <a:ext cx="5780943" cy="7633090"/>
          </a:xfrm>
          <a:custGeom>
            <a:avLst/>
            <a:gdLst/>
            <a:ahLst/>
            <a:cxnLst/>
            <a:rect l="l" t="t" r="r" b="b"/>
            <a:pathLst>
              <a:path w="5780943" h="7633090">
                <a:moveTo>
                  <a:pt x="5780944" y="7633090"/>
                </a:moveTo>
                <a:lnTo>
                  <a:pt x="0" y="7633090"/>
                </a:lnTo>
                <a:lnTo>
                  <a:pt x="0" y="0"/>
                </a:lnTo>
                <a:lnTo>
                  <a:pt x="5780944" y="0"/>
                </a:lnTo>
                <a:lnTo>
                  <a:pt x="5780944" y="7633090"/>
                </a:lnTo>
                <a:close/>
              </a:path>
            </a:pathLst>
          </a:custGeom>
          <a:blipFill>
            <a:blip r:embed="rId6">
              <a:extLst>
                <a:ext uri="{96DAC541-7B7A-43D3-8B79-37D633B846F1}">
                  <asvg:svgBlip xmlns="" xmlns:asvg="http://schemas.microsoft.com/office/drawing/2016/SVG/main" r:embed="rId7"/>
                </a:ext>
              </a:extLst>
            </a:blip>
            <a:stretch>
              <a:fillRect/>
            </a:stretch>
          </a:blipFill>
        </p:spPr>
      </p:sp>
      <p:sp>
        <p:nvSpPr>
          <p:cNvPr id="19" name="TextBox 18"/>
          <p:cNvSpPr txBox="1"/>
          <p:nvPr/>
        </p:nvSpPr>
        <p:spPr>
          <a:xfrm>
            <a:off x="14935200" y="9791700"/>
            <a:ext cx="9208084" cy="369332"/>
          </a:xfrm>
          <a:prstGeom prst="rect">
            <a:avLst/>
          </a:prstGeom>
        </p:spPr>
        <p:txBody>
          <a:bodyPr lIns="0" tIns="0" rIns="0" bIns="0" rtlCol="0" anchor="t">
            <a:spAutoFit/>
          </a:bodyPr>
          <a:lstStyle/>
          <a:p>
            <a:r>
              <a:rPr lang="en-US" sz="2400" dirty="0" smtClean="0"/>
              <a:t>Group No. 7 		2</a:t>
            </a:r>
            <a:endParaRPr lang="en-US" sz="2120" dirty="0">
              <a:solidFill>
                <a:srgbClr val="383838"/>
              </a:solidFill>
              <a:latin typeface="DM Sans"/>
              <a:ea typeface="DM Sans"/>
              <a:cs typeface="DM Sans"/>
              <a:sym typeface="DM Sans"/>
            </a:endParaRPr>
          </a:p>
        </p:txBody>
      </p:sp>
    </p:spTree>
  </p:cSld>
  <p:clrMapOvr>
    <a:masterClrMapping/>
  </p:clrMapOvr>
  <p:timing>
    <p:tnLst>
      <p:par>
        <p:cTn id="1" dur="indefinite" restart="never" nodeType="tmRoot"/>
      </p:par>
    </p:tnLst>
  </p:timing>
</p:sld>
</file>

<file path=ppt/slides/slide3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grpSp>
        <p:nvGrpSpPr>
          <p:cNvPr id="2" name="Group 2"/>
          <p:cNvGrpSpPr/>
          <p:nvPr/>
        </p:nvGrpSpPr>
        <p:grpSpPr>
          <a:xfrm>
            <a:off x="0" y="0"/>
            <a:ext cx="18288000" cy="10287000"/>
            <a:chOff x="0" y="0"/>
            <a:chExt cx="24384000" cy="13716000"/>
          </a:xfrm>
        </p:grpSpPr>
        <p:sp>
          <p:nvSpPr>
            <p:cNvPr id="3" name="Freeform 3"/>
            <p:cNvSpPr/>
            <p:nvPr/>
          </p:nvSpPr>
          <p:spPr>
            <a:xfrm>
              <a:off x="0" y="0"/>
              <a:ext cx="24384000" cy="13716000"/>
            </a:xfrm>
            <a:custGeom>
              <a:avLst/>
              <a:gdLst/>
              <a:ahLst/>
              <a:cxnLst/>
              <a:rect l="l" t="t" r="r" b="b"/>
              <a:pathLst>
                <a:path w="24384000" h="13716000">
                  <a:moveTo>
                    <a:pt x="0" y="0"/>
                  </a:moveTo>
                  <a:lnTo>
                    <a:pt x="24384000" y="0"/>
                  </a:lnTo>
                  <a:lnTo>
                    <a:pt x="24384000" y="13716000"/>
                  </a:lnTo>
                  <a:lnTo>
                    <a:pt x="0" y="13716000"/>
                  </a:lnTo>
                  <a:close/>
                </a:path>
              </a:pathLst>
            </a:custGeom>
            <a:solidFill>
              <a:srgbClr val="FAFAFA"/>
            </a:solidFill>
          </p:spPr>
        </p:sp>
      </p:grpSp>
      <p:grpSp>
        <p:nvGrpSpPr>
          <p:cNvPr id="4" name="Group 4"/>
          <p:cNvGrpSpPr/>
          <p:nvPr/>
        </p:nvGrpSpPr>
        <p:grpSpPr>
          <a:xfrm>
            <a:off x="-152400" y="0"/>
            <a:ext cx="18288000" cy="10287000"/>
            <a:chOff x="0" y="0"/>
            <a:chExt cx="24384000" cy="13716000"/>
          </a:xfrm>
        </p:grpSpPr>
        <p:sp>
          <p:nvSpPr>
            <p:cNvPr id="5" name="Freeform 5"/>
            <p:cNvSpPr/>
            <p:nvPr/>
          </p:nvSpPr>
          <p:spPr>
            <a:xfrm>
              <a:off x="0" y="0"/>
              <a:ext cx="24384000" cy="13716000"/>
            </a:xfrm>
            <a:custGeom>
              <a:avLst/>
              <a:gdLst/>
              <a:ahLst/>
              <a:cxnLst/>
              <a:rect l="l" t="t" r="r" b="b"/>
              <a:pathLst>
                <a:path w="24384000" h="13716000">
                  <a:moveTo>
                    <a:pt x="0" y="0"/>
                  </a:moveTo>
                  <a:lnTo>
                    <a:pt x="24384000" y="0"/>
                  </a:lnTo>
                  <a:lnTo>
                    <a:pt x="24384000" y="13716000"/>
                  </a:lnTo>
                  <a:lnTo>
                    <a:pt x="0" y="13716000"/>
                  </a:lnTo>
                  <a:close/>
                </a:path>
              </a:pathLst>
            </a:custGeom>
            <a:solidFill>
              <a:srgbClr val="FFFFFF"/>
            </a:solidFill>
          </p:spPr>
        </p:sp>
      </p:grpSp>
      <p:sp>
        <p:nvSpPr>
          <p:cNvPr id="6" name="Freeform 6"/>
          <p:cNvSpPr/>
          <p:nvPr/>
        </p:nvSpPr>
        <p:spPr>
          <a:xfrm rot="3471976" flipH="1" flipV="1">
            <a:off x="11646919" y="-2755363"/>
            <a:ext cx="5780943" cy="7633090"/>
          </a:xfrm>
          <a:custGeom>
            <a:avLst/>
            <a:gdLst/>
            <a:ahLst/>
            <a:cxnLst/>
            <a:rect l="l" t="t" r="r" b="b"/>
            <a:pathLst>
              <a:path w="5780943" h="7633090">
                <a:moveTo>
                  <a:pt x="5780944" y="7633090"/>
                </a:moveTo>
                <a:lnTo>
                  <a:pt x="0" y="7633090"/>
                </a:lnTo>
                <a:lnTo>
                  <a:pt x="0" y="0"/>
                </a:lnTo>
                <a:lnTo>
                  <a:pt x="5780944" y="0"/>
                </a:lnTo>
                <a:lnTo>
                  <a:pt x="5780944" y="7633090"/>
                </a:lnTo>
                <a:close/>
              </a:path>
            </a:pathLst>
          </a:custGeom>
          <a:blipFill>
            <a:blip r:embed="rId3">
              <a:extLst>
                <a:ext uri="{96DAC541-7B7A-43D3-8B79-37D633B846F1}">
                  <asvg:svgBlip xmlns="" xmlns:asvg="http://schemas.microsoft.com/office/drawing/2016/SVG/main" r:embed="rId4"/>
                </a:ext>
              </a:extLst>
            </a:blip>
            <a:stretch>
              <a:fillRect/>
            </a:stretch>
          </a:blipFill>
        </p:spPr>
      </p:sp>
      <p:sp>
        <p:nvSpPr>
          <p:cNvPr id="7" name="Freeform 7"/>
          <p:cNvSpPr/>
          <p:nvPr/>
        </p:nvSpPr>
        <p:spPr>
          <a:xfrm rot="1695503">
            <a:off x="-667352" y="-1248037"/>
            <a:ext cx="5780943" cy="7633090"/>
          </a:xfrm>
          <a:custGeom>
            <a:avLst/>
            <a:gdLst/>
            <a:ahLst/>
            <a:cxnLst/>
            <a:rect l="l" t="t" r="r" b="b"/>
            <a:pathLst>
              <a:path w="5780943" h="7633090">
                <a:moveTo>
                  <a:pt x="0" y="0"/>
                </a:moveTo>
                <a:lnTo>
                  <a:pt x="5780944" y="0"/>
                </a:lnTo>
                <a:lnTo>
                  <a:pt x="5780944" y="7633091"/>
                </a:lnTo>
                <a:lnTo>
                  <a:pt x="0" y="7633091"/>
                </a:lnTo>
                <a:lnTo>
                  <a:pt x="0" y="0"/>
                </a:lnTo>
                <a:close/>
              </a:path>
            </a:pathLst>
          </a:custGeom>
          <a:blipFill>
            <a:blip r:embed="rId3">
              <a:extLst>
                <a:ext uri="{96DAC541-7B7A-43D3-8B79-37D633B846F1}">
                  <asvg:svgBlip xmlns="" xmlns:asvg="http://schemas.microsoft.com/office/drawing/2016/SVG/main" r:embed="rId4"/>
                </a:ext>
              </a:extLst>
            </a:blip>
            <a:stretch>
              <a:fillRect/>
            </a:stretch>
          </a:blipFill>
        </p:spPr>
      </p:sp>
      <p:grpSp>
        <p:nvGrpSpPr>
          <p:cNvPr id="8" name="Group 8"/>
          <p:cNvGrpSpPr/>
          <p:nvPr/>
        </p:nvGrpSpPr>
        <p:grpSpPr>
          <a:xfrm>
            <a:off x="852487" y="3025527"/>
            <a:ext cx="16425862" cy="1808857"/>
            <a:chOff x="0" y="0"/>
            <a:chExt cx="21901150" cy="2411810"/>
          </a:xfrm>
        </p:grpSpPr>
        <p:sp>
          <p:nvSpPr>
            <p:cNvPr id="9" name="Freeform 9"/>
            <p:cNvSpPr/>
            <p:nvPr/>
          </p:nvSpPr>
          <p:spPr>
            <a:xfrm>
              <a:off x="0" y="0"/>
              <a:ext cx="21901150" cy="2411857"/>
            </a:xfrm>
            <a:custGeom>
              <a:avLst/>
              <a:gdLst/>
              <a:ahLst/>
              <a:cxnLst/>
              <a:rect l="l" t="t" r="r" b="b"/>
              <a:pathLst>
                <a:path w="21901150" h="2411857">
                  <a:moveTo>
                    <a:pt x="0" y="53213"/>
                  </a:moveTo>
                  <a:cubicBezTo>
                    <a:pt x="0" y="23876"/>
                    <a:pt x="23876" y="0"/>
                    <a:pt x="53213" y="0"/>
                  </a:cubicBezTo>
                  <a:lnTo>
                    <a:pt x="21847938" y="0"/>
                  </a:lnTo>
                  <a:cubicBezTo>
                    <a:pt x="21877275" y="0"/>
                    <a:pt x="21901150" y="23876"/>
                    <a:pt x="21901150" y="53213"/>
                  </a:cubicBezTo>
                  <a:lnTo>
                    <a:pt x="21901150" y="2358644"/>
                  </a:lnTo>
                  <a:cubicBezTo>
                    <a:pt x="21901150" y="2387981"/>
                    <a:pt x="21877275" y="2411857"/>
                    <a:pt x="21847938" y="2411857"/>
                  </a:cubicBezTo>
                  <a:lnTo>
                    <a:pt x="53213" y="2411857"/>
                  </a:lnTo>
                  <a:cubicBezTo>
                    <a:pt x="23876" y="2411857"/>
                    <a:pt x="0" y="2387981"/>
                    <a:pt x="0" y="2358644"/>
                  </a:cubicBezTo>
                  <a:close/>
                </a:path>
              </a:pathLst>
            </a:custGeom>
            <a:solidFill>
              <a:srgbClr val="D8EBFA"/>
            </a:solidFill>
          </p:spPr>
        </p:sp>
      </p:grpSp>
      <p:grpSp>
        <p:nvGrpSpPr>
          <p:cNvPr id="10" name="Group 10"/>
          <p:cNvGrpSpPr/>
          <p:nvPr/>
        </p:nvGrpSpPr>
        <p:grpSpPr>
          <a:xfrm>
            <a:off x="852488" y="3025527"/>
            <a:ext cx="5208537" cy="4951607"/>
            <a:chOff x="0" y="0"/>
            <a:chExt cx="6944717" cy="6602142"/>
          </a:xfrm>
        </p:grpSpPr>
        <p:sp>
          <p:nvSpPr>
            <p:cNvPr id="11" name="Freeform 11"/>
            <p:cNvSpPr/>
            <p:nvPr/>
          </p:nvSpPr>
          <p:spPr>
            <a:xfrm>
              <a:off x="0" y="0"/>
              <a:ext cx="6944741" cy="6602189"/>
            </a:xfrm>
            <a:custGeom>
              <a:avLst/>
              <a:gdLst/>
              <a:ahLst/>
              <a:cxnLst/>
              <a:rect l="l" t="t" r="r" b="b"/>
              <a:pathLst>
                <a:path w="6944741" h="6602189">
                  <a:moveTo>
                    <a:pt x="0" y="145666"/>
                  </a:moveTo>
                  <a:cubicBezTo>
                    <a:pt x="0" y="65359"/>
                    <a:pt x="22713" y="0"/>
                    <a:pt x="50621" y="0"/>
                  </a:cubicBezTo>
                  <a:lnTo>
                    <a:pt x="6894119" y="0"/>
                  </a:lnTo>
                  <a:cubicBezTo>
                    <a:pt x="6922027" y="0"/>
                    <a:pt x="6944741" y="65359"/>
                    <a:pt x="6944741" y="145666"/>
                  </a:cubicBezTo>
                  <a:lnTo>
                    <a:pt x="6944741" y="6456605"/>
                  </a:lnTo>
                  <a:cubicBezTo>
                    <a:pt x="6944741" y="6536913"/>
                    <a:pt x="6922027" y="6602189"/>
                    <a:pt x="6894119" y="6602189"/>
                  </a:cubicBezTo>
                  <a:lnTo>
                    <a:pt x="50621" y="6602189"/>
                  </a:lnTo>
                  <a:cubicBezTo>
                    <a:pt x="22713" y="6602189"/>
                    <a:pt x="0" y="6536913"/>
                    <a:pt x="0" y="6456605"/>
                  </a:cubicBezTo>
                  <a:close/>
                </a:path>
              </a:pathLst>
            </a:custGeom>
            <a:solidFill>
              <a:srgbClr val="D8EBFA"/>
            </a:solidFill>
          </p:spPr>
        </p:sp>
      </p:grpSp>
      <p:grpSp>
        <p:nvGrpSpPr>
          <p:cNvPr id="12" name="Group 12"/>
          <p:cNvGrpSpPr/>
          <p:nvPr/>
        </p:nvGrpSpPr>
        <p:grpSpPr>
          <a:xfrm>
            <a:off x="6416427" y="3025527"/>
            <a:ext cx="5297984" cy="4951607"/>
            <a:chOff x="0" y="0"/>
            <a:chExt cx="7063978" cy="6602142"/>
          </a:xfrm>
        </p:grpSpPr>
        <p:sp>
          <p:nvSpPr>
            <p:cNvPr id="13" name="Freeform 13"/>
            <p:cNvSpPr/>
            <p:nvPr/>
          </p:nvSpPr>
          <p:spPr>
            <a:xfrm>
              <a:off x="0" y="0"/>
              <a:ext cx="7064003" cy="6602189"/>
            </a:xfrm>
            <a:custGeom>
              <a:avLst/>
              <a:gdLst/>
              <a:ahLst/>
              <a:cxnLst/>
              <a:rect l="l" t="t" r="r" b="b"/>
              <a:pathLst>
                <a:path w="7064003" h="6602189">
                  <a:moveTo>
                    <a:pt x="0" y="0"/>
                  </a:moveTo>
                  <a:lnTo>
                    <a:pt x="7064003" y="0"/>
                  </a:lnTo>
                  <a:lnTo>
                    <a:pt x="7064003" y="6602189"/>
                  </a:lnTo>
                  <a:lnTo>
                    <a:pt x="0" y="6602189"/>
                  </a:lnTo>
                  <a:close/>
                </a:path>
              </a:pathLst>
            </a:custGeom>
            <a:solidFill>
              <a:srgbClr val="D8EBFA"/>
            </a:solidFill>
          </p:spPr>
        </p:sp>
      </p:grpSp>
      <p:grpSp>
        <p:nvGrpSpPr>
          <p:cNvPr id="14" name="Group 14"/>
          <p:cNvGrpSpPr/>
          <p:nvPr/>
        </p:nvGrpSpPr>
        <p:grpSpPr>
          <a:xfrm>
            <a:off x="6327725" y="3025527"/>
            <a:ext cx="28575" cy="1808857"/>
            <a:chOff x="0" y="0"/>
            <a:chExt cx="38100" cy="2411810"/>
          </a:xfrm>
        </p:grpSpPr>
        <p:sp>
          <p:nvSpPr>
            <p:cNvPr id="15" name="Freeform 15"/>
            <p:cNvSpPr/>
            <p:nvPr/>
          </p:nvSpPr>
          <p:spPr>
            <a:xfrm>
              <a:off x="0" y="0"/>
              <a:ext cx="38100" cy="2411857"/>
            </a:xfrm>
            <a:custGeom>
              <a:avLst/>
              <a:gdLst/>
              <a:ahLst/>
              <a:cxnLst/>
              <a:rect l="l" t="t" r="r" b="b"/>
              <a:pathLst>
                <a:path w="38100" h="2411857">
                  <a:moveTo>
                    <a:pt x="0" y="19050"/>
                  </a:moveTo>
                  <a:cubicBezTo>
                    <a:pt x="0" y="8509"/>
                    <a:pt x="8509" y="0"/>
                    <a:pt x="19050" y="0"/>
                  </a:cubicBezTo>
                  <a:cubicBezTo>
                    <a:pt x="29591" y="0"/>
                    <a:pt x="38100" y="8509"/>
                    <a:pt x="38100" y="19050"/>
                  </a:cubicBezTo>
                  <a:lnTo>
                    <a:pt x="38100" y="2392807"/>
                  </a:lnTo>
                  <a:cubicBezTo>
                    <a:pt x="38100" y="2403348"/>
                    <a:pt x="29591" y="2411857"/>
                    <a:pt x="19050" y="2411857"/>
                  </a:cubicBezTo>
                  <a:cubicBezTo>
                    <a:pt x="8509" y="2411857"/>
                    <a:pt x="0" y="2403348"/>
                    <a:pt x="0" y="2392807"/>
                  </a:cubicBezTo>
                  <a:close/>
                </a:path>
              </a:pathLst>
            </a:custGeom>
            <a:solidFill>
              <a:srgbClr val="D8D4D4"/>
            </a:solidFill>
          </p:spPr>
        </p:sp>
      </p:grpSp>
      <p:grpSp>
        <p:nvGrpSpPr>
          <p:cNvPr id="16" name="Group 16"/>
          <p:cNvGrpSpPr/>
          <p:nvPr/>
        </p:nvGrpSpPr>
        <p:grpSpPr>
          <a:xfrm>
            <a:off x="12012514" y="3025527"/>
            <a:ext cx="5168205" cy="4951607"/>
            <a:chOff x="0" y="0"/>
            <a:chExt cx="6890940" cy="6602142"/>
          </a:xfrm>
        </p:grpSpPr>
        <p:sp>
          <p:nvSpPr>
            <p:cNvPr id="17" name="Freeform 17"/>
            <p:cNvSpPr/>
            <p:nvPr/>
          </p:nvSpPr>
          <p:spPr>
            <a:xfrm>
              <a:off x="0" y="0"/>
              <a:ext cx="6890896" cy="6602189"/>
            </a:xfrm>
            <a:custGeom>
              <a:avLst/>
              <a:gdLst/>
              <a:ahLst/>
              <a:cxnLst/>
              <a:rect l="l" t="t" r="r" b="b"/>
              <a:pathLst>
                <a:path w="6890896" h="6602189">
                  <a:moveTo>
                    <a:pt x="0" y="0"/>
                  </a:moveTo>
                  <a:lnTo>
                    <a:pt x="6890896" y="0"/>
                  </a:lnTo>
                  <a:lnTo>
                    <a:pt x="6890896" y="6602189"/>
                  </a:lnTo>
                  <a:lnTo>
                    <a:pt x="0" y="6602189"/>
                  </a:lnTo>
                  <a:close/>
                </a:path>
              </a:pathLst>
            </a:custGeom>
            <a:solidFill>
              <a:srgbClr val="D8EBFA"/>
            </a:solidFill>
          </p:spPr>
        </p:sp>
      </p:grpSp>
      <p:grpSp>
        <p:nvGrpSpPr>
          <p:cNvPr id="18" name="Group 18"/>
          <p:cNvGrpSpPr/>
          <p:nvPr/>
        </p:nvGrpSpPr>
        <p:grpSpPr>
          <a:xfrm>
            <a:off x="11802964" y="3025527"/>
            <a:ext cx="28575" cy="1808857"/>
            <a:chOff x="0" y="0"/>
            <a:chExt cx="38100" cy="2411810"/>
          </a:xfrm>
        </p:grpSpPr>
        <p:sp>
          <p:nvSpPr>
            <p:cNvPr id="19" name="Freeform 19"/>
            <p:cNvSpPr/>
            <p:nvPr/>
          </p:nvSpPr>
          <p:spPr>
            <a:xfrm>
              <a:off x="0" y="0"/>
              <a:ext cx="38100" cy="2411857"/>
            </a:xfrm>
            <a:custGeom>
              <a:avLst/>
              <a:gdLst/>
              <a:ahLst/>
              <a:cxnLst/>
              <a:rect l="l" t="t" r="r" b="b"/>
              <a:pathLst>
                <a:path w="38100" h="2411857">
                  <a:moveTo>
                    <a:pt x="0" y="19050"/>
                  </a:moveTo>
                  <a:cubicBezTo>
                    <a:pt x="0" y="8509"/>
                    <a:pt x="8509" y="0"/>
                    <a:pt x="19050" y="0"/>
                  </a:cubicBezTo>
                  <a:cubicBezTo>
                    <a:pt x="29591" y="0"/>
                    <a:pt x="38100" y="8509"/>
                    <a:pt x="38100" y="19050"/>
                  </a:cubicBezTo>
                  <a:lnTo>
                    <a:pt x="38100" y="2392807"/>
                  </a:lnTo>
                  <a:cubicBezTo>
                    <a:pt x="38100" y="2403348"/>
                    <a:pt x="29591" y="2411857"/>
                    <a:pt x="19050" y="2411857"/>
                  </a:cubicBezTo>
                  <a:cubicBezTo>
                    <a:pt x="8509" y="2411857"/>
                    <a:pt x="0" y="2403348"/>
                    <a:pt x="0" y="2392807"/>
                  </a:cubicBezTo>
                  <a:close/>
                </a:path>
              </a:pathLst>
            </a:custGeom>
            <a:solidFill>
              <a:srgbClr val="D8D4D4"/>
            </a:solidFill>
          </p:spPr>
        </p:sp>
      </p:grpSp>
      <p:grpSp>
        <p:nvGrpSpPr>
          <p:cNvPr id="20" name="Group 20"/>
          <p:cNvGrpSpPr/>
          <p:nvPr/>
        </p:nvGrpSpPr>
        <p:grpSpPr>
          <a:xfrm>
            <a:off x="852487" y="8290024"/>
            <a:ext cx="5297984" cy="968276"/>
            <a:chOff x="0" y="0"/>
            <a:chExt cx="7063978" cy="1291035"/>
          </a:xfrm>
        </p:grpSpPr>
        <p:sp>
          <p:nvSpPr>
            <p:cNvPr id="21" name="Freeform 21"/>
            <p:cNvSpPr/>
            <p:nvPr/>
          </p:nvSpPr>
          <p:spPr>
            <a:xfrm>
              <a:off x="0" y="0"/>
              <a:ext cx="7063994" cy="1291082"/>
            </a:xfrm>
            <a:custGeom>
              <a:avLst/>
              <a:gdLst/>
              <a:ahLst/>
              <a:cxnLst/>
              <a:rect l="l" t="t" r="r" b="b"/>
              <a:pathLst>
                <a:path w="7063994" h="1291082">
                  <a:moveTo>
                    <a:pt x="0" y="53213"/>
                  </a:moveTo>
                  <a:cubicBezTo>
                    <a:pt x="0" y="23876"/>
                    <a:pt x="23876" y="0"/>
                    <a:pt x="53213" y="0"/>
                  </a:cubicBezTo>
                  <a:lnTo>
                    <a:pt x="7010781" y="0"/>
                  </a:lnTo>
                  <a:cubicBezTo>
                    <a:pt x="7040118" y="0"/>
                    <a:pt x="7063994" y="23876"/>
                    <a:pt x="7063994" y="53213"/>
                  </a:cubicBezTo>
                  <a:lnTo>
                    <a:pt x="7063994" y="1237869"/>
                  </a:lnTo>
                  <a:cubicBezTo>
                    <a:pt x="7063994" y="1267206"/>
                    <a:pt x="7040118" y="1291082"/>
                    <a:pt x="7010781" y="1291082"/>
                  </a:cubicBezTo>
                  <a:lnTo>
                    <a:pt x="53213" y="1291082"/>
                  </a:lnTo>
                  <a:cubicBezTo>
                    <a:pt x="23876" y="1291082"/>
                    <a:pt x="0" y="1267206"/>
                    <a:pt x="0" y="1237869"/>
                  </a:cubicBezTo>
                  <a:close/>
                </a:path>
              </a:pathLst>
            </a:custGeom>
            <a:solidFill>
              <a:srgbClr val="0B74BA"/>
            </a:solidFill>
          </p:spPr>
        </p:sp>
      </p:grpSp>
      <p:sp>
        <p:nvSpPr>
          <p:cNvPr id="22" name="Freeform 22"/>
          <p:cNvSpPr/>
          <p:nvPr/>
        </p:nvSpPr>
        <p:spPr>
          <a:xfrm rot="3998324">
            <a:off x="8132677" y="6983959"/>
            <a:ext cx="3270792" cy="4318716"/>
          </a:xfrm>
          <a:custGeom>
            <a:avLst/>
            <a:gdLst/>
            <a:ahLst/>
            <a:cxnLst/>
            <a:rect l="l" t="t" r="r" b="b"/>
            <a:pathLst>
              <a:path w="3270792" h="4318716">
                <a:moveTo>
                  <a:pt x="0" y="0"/>
                </a:moveTo>
                <a:lnTo>
                  <a:pt x="3270792" y="0"/>
                </a:lnTo>
                <a:lnTo>
                  <a:pt x="3270792" y="4318716"/>
                </a:lnTo>
                <a:lnTo>
                  <a:pt x="0" y="4318716"/>
                </a:lnTo>
                <a:lnTo>
                  <a:pt x="0" y="0"/>
                </a:lnTo>
                <a:close/>
              </a:path>
            </a:pathLst>
          </a:custGeom>
          <a:blipFill>
            <a:blip r:embed="rId5">
              <a:extLst>
                <a:ext uri="{96DAC541-7B7A-43D3-8B79-37D633B846F1}">
                  <asvg:svgBlip xmlns="" xmlns:asvg="http://schemas.microsoft.com/office/drawing/2016/SVG/main" r:embed="rId6"/>
                </a:ext>
              </a:extLst>
            </a:blip>
            <a:stretch>
              <a:fillRect/>
            </a:stretch>
          </a:blipFill>
        </p:spPr>
      </p:sp>
      <p:grpSp>
        <p:nvGrpSpPr>
          <p:cNvPr id="23" name="Group 23"/>
          <p:cNvGrpSpPr/>
          <p:nvPr/>
        </p:nvGrpSpPr>
        <p:grpSpPr>
          <a:xfrm>
            <a:off x="6416427" y="8290024"/>
            <a:ext cx="5297984" cy="968276"/>
            <a:chOff x="0" y="0"/>
            <a:chExt cx="7063978" cy="1291035"/>
          </a:xfrm>
        </p:grpSpPr>
        <p:sp>
          <p:nvSpPr>
            <p:cNvPr id="24" name="Freeform 24"/>
            <p:cNvSpPr/>
            <p:nvPr/>
          </p:nvSpPr>
          <p:spPr>
            <a:xfrm>
              <a:off x="0" y="0"/>
              <a:ext cx="7063994" cy="1291082"/>
            </a:xfrm>
            <a:custGeom>
              <a:avLst/>
              <a:gdLst/>
              <a:ahLst/>
              <a:cxnLst/>
              <a:rect l="l" t="t" r="r" b="b"/>
              <a:pathLst>
                <a:path w="7063994" h="1291082">
                  <a:moveTo>
                    <a:pt x="0" y="53213"/>
                  </a:moveTo>
                  <a:cubicBezTo>
                    <a:pt x="0" y="23876"/>
                    <a:pt x="23876" y="0"/>
                    <a:pt x="53213" y="0"/>
                  </a:cubicBezTo>
                  <a:lnTo>
                    <a:pt x="7010781" y="0"/>
                  </a:lnTo>
                  <a:cubicBezTo>
                    <a:pt x="7040118" y="0"/>
                    <a:pt x="7063994" y="23876"/>
                    <a:pt x="7063994" y="53213"/>
                  </a:cubicBezTo>
                  <a:lnTo>
                    <a:pt x="7063994" y="1237869"/>
                  </a:lnTo>
                  <a:cubicBezTo>
                    <a:pt x="7063994" y="1267206"/>
                    <a:pt x="7040118" y="1291082"/>
                    <a:pt x="7010781" y="1291082"/>
                  </a:cubicBezTo>
                  <a:lnTo>
                    <a:pt x="53213" y="1291082"/>
                  </a:lnTo>
                  <a:cubicBezTo>
                    <a:pt x="23876" y="1291082"/>
                    <a:pt x="0" y="1267206"/>
                    <a:pt x="0" y="1237869"/>
                  </a:cubicBezTo>
                  <a:close/>
                </a:path>
              </a:pathLst>
            </a:custGeom>
            <a:solidFill>
              <a:srgbClr val="0B74BA"/>
            </a:solidFill>
          </p:spPr>
        </p:sp>
      </p:grpSp>
      <p:grpSp>
        <p:nvGrpSpPr>
          <p:cNvPr id="25" name="Group 25"/>
          <p:cNvGrpSpPr/>
          <p:nvPr/>
        </p:nvGrpSpPr>
        <p:grpSpPr>
          <a:xfrm>
            <a:off x="11980366" y="8290024"/>
            <a:ext cx="5297984" cy="968276"/>
            <a:chOff x="0" y="0"/>
            <a:chExt cx="7063978" cy="1291035"/>
          </a:xfrm>
        </p:grpSpPr>
        <p:sp>
          <p:nvSpPr>
            <p:cNvPr id="26" name="Freeform 26"/>
            <p:cNvSpPr/>
            <p:nvPr/>
          </p:nvSpPr>
          <p:spPr>
            <a:xfrm>
              <a:off x="0" y="0"/>
              <a:ext cx="7063994" cy="1291082"/>
            </a:xfrm>
            <a:custGeom>
              <a:avLst/>
              <a:gdLst/>
              <a:ahLst/>
              <a:cxnLst/>
              <a:rect l="l" t="t" r="r" b="b"/>
              <a:pathLst>
                <a:path w="7063994" h="1291082">
                  <a:moveTo>
                    <a:pt x="0" y="53213"/>
                  </a:moveTo>
                  <a:cubicBezTo>
                    <a:pt x="0" y="23876"/>
                    <a:pt x="23876" y="0"/>
                    <a:pt x="53213" y="0"/>
                  </a:cubicBezTo>
                  <a:lnTo>
                    <a:pt x="7010781" y="0"/>
                  </a:lnTo>
                  <a:cubicBezTo>
                    <a:pt x="7040118" y="0"/>
                    <a:pt x="7063994" y="23876"/>
                    <a:pt x="7063994" y="53213"/>
                  </a:cubicBezTo>
                  <a:lnTo>
                    <a:pt x="7063994" y="1237869"/>
                  </a:lnTo>
                  <a:cubicBezTo>
                    <a:pt x="7063994" y="1267206"/>
                    <a:pt x="7040118" y="1291082"/>
                    <a:pt x="7010781" y="1291082"/>
                  </a:cubicBezTo>
                  <a:lnTo>
                    <a:pt x="53213" y="1291082"/>
                  </a:lnTo>
                  <a:cubicBezTo>
                    <a:pt x="23876" y="1291082"/>
                    <a:pt x="0" y="1267206"/>
                    <a:pt x="0" y="1237869"/>
                  </a:cubicBezTo>
                  <a:close/>
                </a:path>
              </a:pathLst>
            </a:custGeom>
            <a:solidFill>
              <a:srgbClr val="0B74BA"/>
            </a:solidFill>
          </p:spPr>
        </p:sp>
      </p:grpSp>
      <p:sp>
        <p:nvSpPr>
          <p:cNvPr id="27" name="TextBox 27"/>
          <p:cNvSpPr txBox="1"/>
          <p:nvPr/>
        </p:nvSpPr>
        <p:spPr>
          <a:xfrm>
            <a:off x="852488" y="904875"/>
            <a:ext cx="8635459" cy="849313"/>
          </a:xfrm>
          <a:prstGeom prst="rect">
            <a:avLst/>
          </a:prstGeom>
        </p:spPr>
        <p:txBody>
          <a:bodyPr lIns="0" tIns="0" rIns="0" bIns="0" rtlCol="0" anchor="t">
            <a:spAutoFit/>
          </a:bodyPr>
          <a:lstStyle/>
          <a:p>
            <a:pPr algn="l">
              <a:lnSpc>
                <a:spcPts val="6812"/>
              </a:lnSpc>
            </a:pPr>
            <a:r>
              <a:rPr lang="en-US" sz="5437" b="1">
                <a:solidFill>
                  <a:srgbClr val="020202"/>
                </a:solidFill>
                <a:latin typeface="PT Serif Bold"/>
                <a:ea typeface="PT Serif Bold"/>
                <a:cs typeface="PT Serif Bold"/>
                <a:sym typeface="PT Serif Bold"/>
              </a:rPr>
              <a:t>Modular Project Structure</a:t>
            </a:r>
          </a:p>
        </p:txBody>
      </p:sp>
      <p:sp>
        <p:nvSpPr>
          <p:cNvPr id="28" name="TextBox 28"/>
          <p:cNvSpPr txBox="1"/>
          <p:nvPr/>
        </p:nvSpPr>
        <p:spPr>
          <a:xfrm>
            <a:off x="873919" y="1901577"/>
            <a:ext cx="14807059" cy="838200"/>
          </a:xfrm>
          <a:prstGeom prst="rect">
            <a:avLst/>
          </a:prstGeom>
        </p:spPr>
        <p:txBody>
          <a:bodyPr lIns="0" tIns="0" rIns="0" bIns="0" rtlCol="0" anchor="t">
            <a:spAutoFit/>
          </a:bodyPr>
          <a:lstStyle/>
          <a:p>
            <a:pPr algn="l">
              <a:lnSpc>
                <a:spcPts val="3314"/>
              </a:lnSpc>
            </a:pPr>
            <a:r>
              <a:rPr lang="en-US" sz="2762">
                <a:solidFill>
                  <a:srgbClr val="383838"/>
                </a:solidFill>
                <a:latin typeface="DM Sans"/>
                <a:ea typeface="DM Sans"/>
                <a:cs typeface="DM Sans"/>
                <a:sym typeface="DM Sans"/>
              </a:rPr>
              <a:t>Clean separation of concerns across three architectural layers ensures maintainability, scalability, and efficient code organization.</a:t>
            </a:r>
          </a:p>
        </p:txBody>
      </p:sp>
      <p:sp>
        <p:nvSpPr>
          <p:cNvPr id="29" name="TextBox 29"/>
          <p:cNvSpPr txBox="1"/>
          <p:nvPr/>
        </p:nvSpPr>
        <p:spPr>
          <a:xfrm>
            <a:off x="1118444" y="3272432"/>
            <a:ext cx="3491805" cy="528438"/>
          </a:xfrm>
          <a:prstGeom prst="rect">
            <a:avLst/>
          </a:prstGeom>
        </p:spPr>
        <p:txBody>
          <a:bodyPr lIns="0" tIns="0" rIns="0" bIns="0" rtlCol="0" anchor="t">
            <a:spAutoFit/>
          </a:bodyPr>
          <a:lstStyle/>
          <a:p>
            <a:pPr algn="l">
              <a:lnSpc>
                <a:spcPts val="4254"/>
              </a:lnSpc>
            </a:pPr>
            <a:r>
              <a:rPr lang="en-US" sz="3387">
                <a:solidFill>
                  <a:srgbClr val="383838"/>
                </a:solidFill>
                <a:latin typeface="PT Serif"/>
                <a:ea typeface="PT Serif"/>
                <a:cs typeface="PT Serif"/>
                <a:sym typeface="PT Serif"/>
              </a:rPr>
              <a:t>UI Layer</a:t>
            </a:r>
          </a:p>
        </p:txBody>
      </p:sp>
      <p:sp>
        <p:nvSpPr>
          <p:cNvPr id="30" name="TextBox 30"/>
          <p:cNvSpPr txBox="1"/>
          <p:nvPr/>
        </p:nvSpPr>
        <p:spPr>
          <a:xfrm>
            <a:off x="1089124" y="4123135"/>
            <a:ext cx="4943326" cy="2903293"/>
          </a:xfrm>
          <a:prstGeom prst="rect">
            <a:avLst/>
          </a:prstGeom>
        </p:spPr>
        <p:txBody>
          <a:bodyPr lIns="0" tIns="0" rIns="0" bIns="0" rtlCol="0" anchor="t">
            <a:spAutoFit/>
          </a:bodyPr>
          <a:lstStyle/>
          <a:p>
            <a:pPr marL="631501" lvl="1" indent="-315751" algn="l">
              <a:lnSpc>
                <a:spcPts val="4723"/>
              </a:lnSpc>
              <a:buFont typeface="Arial"/>
              <a:buChar char="•"/>
            </a:pPr>
            <a:r>
              <a:rPr lang="en-US" sz="2924">
                <a:solidFill>
                  <a:srgbClr val="383838"/>
                </a:solidFill>
                <a:latin typeface="DM Sans"/>
                <a:ea typeface="DM Sans"/>
                <a:cs typeface="DM Sans"/>
                <a:sym typeface="DM Sans"/>
              </a:rPr>
              <a:t>index.html</a:t>
            </a:r>
          </a:p>
          <a:p>
            <a:pPr marL="631501" lvl="1" indent="-315751" algn="l">
              <a:lnSpc>
                <a:spcPts val="4723"/>
              </a:lnSpc>
              <a:buFont typeface="Arial"/>
              <a:buChar char="•"/>
            </a:pPr>
            <a:r>
              <a:rPr lang="en-US" sz="2924">
                <a:solidFill>
                  <a:srgbClr val="383838"/>
                </a:solidFill>
                <a:latin typeface="DM Sans"/>
                <a:ea typeface="DM Sans"/>
                <a:cs typeface="DM Sans"/>
                <a:sym typeface="DM Sans"/>
              </a:rPr>
              <a:t>style.css </a:t>
            </a:r>
          </a:p>
          <a:p>
            <a:pPr marL="631501" lvl="1" indent="-315751" algn="l">
              <a:lnSpc>
                <a:spcPts val="4723"/>
              </a:lnSpc>
              <a:buFont typeface="Arial"/>
              <a:buChar char="•"/>
            </a:pPr>
            <a:r>
              <a:rPr lang="en-US" sz="2924">
                <a:solidFill>
                  <a:srgbClr val="383838"/>
                </a:solidFill>
                <a:latin typeface="DM Sans"/>
                <a:ea typeface="DM Sans"/>
                <a:cs typeface="DM Sans"/>
                <a:sym typeface="DM Sans"/>
              </a:rPr>
              <a:t>dom.js </a:t>
            </a:r>
          </a:p>
          <a:p>
            <a:pPr marL="631501" lvl="1" indent="-315751" algn="l">
              <a:lnSpc>
                <a:spcPts val="4723"/>
              </a:lnSpc>
              <a:buFont typeface="Arial"/>
              <a:buChar char="•"/>
            </a:pPr>
            <a:r>
              <a:rPr lang="en-US" sz="2924">
                <a:solidFill>
                  <a:srgbClr val="383838"/>
                </a:solidFill>
                <a:latin typeface="DM Sans"/>
                <a:ea typeface="DM Sans"/>
                <a:cs typeface="DM Sans"/>
                <a:sym typeface="DM Sans"/>
              </a:rPr>
              <a:t>graphDrawing.js </a:t>
            </a:r>
          </a:p>
          <a:p>
            <a:pPr marL="631501" lvl="1" indent="-315751" algn="l">
              <a:lnSpc>
                <a:spcPts val="4724"/>
              </a:lnSpc>
              <a:buFont typeface="Arial"/>
              <a:buChar char="•"/>
            </a:pPr>
            <a:r>
              <a:rPr lang="en-US" sz="2924">
                <a:solidFill>
                  <a:srgbClr val="383838"/>
                </a:solidFill>
                <a:latin typeface="DM Sans"/>
                <a:ea typeface="DM Sans"/>
                <a:cs typeface="DM Sans"/>
                <a:sym typeface="DM Sans"/>
              </a:rPr>
              <a:t>modal.js</a:t>
            </a:r>
          </a:p>
        </p:txBody>
      </p:sp>
      <p:sp>
        <p:nvSpPr>
          <p:cNvPr id="31" name="TextBox 31"/>
          <p:cNvSpPr txBox="1"/>
          <p:nvPr/>
        </p:nvSpPr>
        <p:spPr>
          <a:xfrm>
            <a:off x="6593681" y="3272432"/>
            <a:ext cx="3491805" cy="528438"/>
          </a:xfrm>
          <a:prstGeom prst="rect">
            <a:avLst/>
          </a:prstGeom>
        </p:spPr>
        <p:txBody>
          <a:bodyPr lIns="0" tIns="0" rIns="0" bIns="0" rtlCol="0" anchor="t">
            <a:spAutoFit/>
          </a:bodyPr>
          <a:lstStyle/>
          <a:p>
            <a:pPr algn="l">
              <a:lnSpc>
                <a:spcPts val="4254"/>
              </a:lnSpc>
            </a:pPr>
            <a:r>
              <a:rPr lang="en-US" sz="3387">
                <a:solidFill>
                  <a:srgbClr val="383838"/>
                </a:solidFill>
                <a:latin typeface="PT Serif"/>
                <a:ea typeface="PT Serif"/>
                <a:cs typeface="PT Serif"/>
                <a:sym typeface="PT Serif"/>
              </a:rPr>
              <a:t>Logic Layer</a:t>
            </a:r>
          </a:p>
        </p:txBody>
      </p:sp>
      <p:sp>
        <p:nvSpPr>
          <p:cNvPr id="32" name="TextBox 32"/>
          <p:cNvSpPr txBox="1"/>
          <p:nvPr/>
        </p:nvSpPr>
        <p:spPr>
          <a:xfrm>
            <a:off x="6593681" y="4123135"/>
            <a:ext cx="4943326" cy="2312743"/>
          </a:xfrm>
          <a:prstGeom prst="rect">
            <a:avLst/>
          </a:prstGeom>
        </p:spPr>
        <p:txBody>
          <a:bodyPr lIns="0" tIns="0" rIns="0" bIns="0" rtlCol="0" anchor="t">
            <a:spAutoFit/>
          </a:bodyPr>
          <a:lstStyle/>
          <a:p>
            <a:pPr marL="631501" lvl="1" indent="-315751" algn="l">
              <a:lnSpc>
                <a:spcPts val="4723"/>
              </a:lnSpc>
              <a:buFont typeface="Arial"/>
              <a:buChar char="•"/>
            </a:pPr>
            <a:r>
              <a:rPr lang="en-US" sz="2924">
                <a:solidFill>
                  <a:srgbClr val="383838"/>
                </a:solidFill>
                <a:latin typeface="DM Sans"/>
                <a:ea typeface="DM Sans"/>
                <a:cs typeface="DM Sans"/>
                <a:sym typeface="DM Sans"/>
              </a:rPr>
              <a:t>state.js</a:t>
            </a:r>
          </a:p>
          <a:p>
            <a:pPr marL="631501" lvl="1" indent="-315751" algn="l">
              <a:lnSpc>
                <a:spcPts val="4723"/>
              </a:lnSpc>
              <a:buFont typeface="Arial"/>
              <a:buChar char="•"/>
            </a:pPr>
            <a:r>
              <a:rPr lang="en-US" sz="2924">
                <a:solidFill>
                  <a:srgbClr val="383838"/>
                </a:solidFill>
                <a:latin typeface="DM Sans"/>
                <a:ea typeface="DM Sans"/>
                <a:cs typeface="DM Sans"/>
                <a:sym typeface="DM Sans"/>
              </a:rPr>
              <a:t>interactions.js</a:t>
            </a:r>
          </a:p>
          <a:p>
            <a:pPr marL="631501" lvl="1" indent="-315751" algn="l">
              <a:lnSpc>
                <a:spcPts val="4723"/>
              </a:lnSpc>
              <a:buFont typeface="Arial"/>
              <a:buChar char="•"/>
            </a:pPr>
            <a:r>
              <a:rPr lang="en-US" sz="2924">
                <a:solidFill>
                  <a:srgbClr val="383838"/>
                </a:solidFill>
                <a:latin typeface="DM Sans"/>
                <a:ea typeface="DM Sans"/>
                <a:cs typeface="DM Sans"/>
                <a:sym typeface="DM Sans"/>
              </a:rPr>
              <a:t>graphGeneration.js</a:t>
            </a:r>
          </a:p>
          <a:p>
            <a:pPr marL="631501" lvl="1" indent="-315751" algn="l">
              <a:lnSpc>
                <a:spcPts val="4724"/>
              </a:lnSpc>
              <a:buFont typeface="Arial"/>
              <a:buChar char="•"/>
            </a:pPr>
            <a:r>
              <a:rPr lang="en-US" sz="2924">
                <a:solidFill>
                  <a:srgbClr val="383838"/>
                </a:solidFill>
                <a:latin typeface="DM Sans"/>
                <a:ea typeface="DM Sans"/>
                <a:cs typeface="DM Sans"/>
                <a:sym typeface="DM Sans"/>
              </a:rPr>
              <a:t>utils.js</a:t>
            </a:r>
          </a:p>
        </p:txBody>
      </p:sp>
      <p:sp>
        <p:nvSpPr>
          <p:cNvPr id="33" name="TextBox 33"/>
          <p:cNvSpPr txBox="1"/>
          <p:nvPr/>
        </p:nvSpPr>
        <p:spPr>
          <a:xfrm>
            <a:off x="12068919" y="3272432"/>
            <a:ext cx="3491805" cy="528438"/>
          </a:xfrm>
          <a:prstGeom prst="rect">
            <a:avLst/>
          </a:prstGeom>
        </p:spPr>
        <p:txBody>
          <a:bodyPr lIns="0" tIns="0" rIns="0" bIns="0" rtlCol="0" anchor="t">
            <a:spAutoFit/>
          </a:bodyPr>
          <a:lstStyle/>
          <a:p>
            <a:pPr algn="l">
              <a:lnSpc>
                <a:spcPts val="4254"/>
              </a:lnSpc>
            </a:pPr>
            <a:r>
              <a:rPr lang="en-US" sz="3387">
                <a:solidFill>
                  <a:srgbClr val="383838"/>
                </a:solidFill>
                <a:latin typeface="PT Serif"/>
                <a:ea typeface="PT Serif"/>
                <a:cs typeface="PT Serif"/>
                <a:sym typeface="PT Serif"/>
              </a:rPr>
              <a:t>Algorithm Layer</a:t>
            </a:r>
          </a:p>
        </p:txBody>
      </p:sp>
      <p:sp>
        <p:nvSpPr>
          <p:cNvPr id="34" name="TextBox 34"/>
          <p:cNvSpPr txBox="1"/>
          <p:nvPr/>
        </p:nvSpPr>
        <p:spPr>
          <a:xfrm>
            <a:off x="12126814" y="4123135"/>
            <a:ext cx="4943475" cy="1131643"/>
          </a:xfrm>
          <a:prstGeom prst="rect">
            <a:avLst/>
          </a:prstGeom>
        </p:spPr>
        <p:txBody>
          <a:bodyPr lIns="0" tIns="0" rIns="0" bIns="0" rtlCol="0" anchor="t">
            <a:spAutoFit/>
          </a:bodyPr>
          <a:lstStyle/>
          <a:p>
            <a:pPr marL="631501" lvl="1" indent="-315751" algn="l">
              <a:lnSpc>
                <a:spcPts val="4723"/>
              </a:lnSpc>
              <a:buFont typeface="Arial"/>
              <a:buChar char="•"/>
            </a:pPr>
            <a:r>
              <a:rPr lang="en-US" sz="2924">
                <a:solidFill>
                  <a:srgbClr val="383838"/>
                </a:solidFill>
                <a:latin typeface="DM Sans"/>
                <a:ea typeface="DM Sans"/>
                <a:cs typeface="DM Sans"/>
                <a:sym typeface="DM Sans"/>
              </a:rPr>
              <a:t>algorithms.js</a:t>
            </a:r>
          </a:p>
          <a:p>
            <a:pPr marL="631501" lvl="1" indent="-315751" algn="l">
              <a:lnSpc>
                <a:spcPts val="4724"/>
              </a:lnSpc>
              <a:buFont typeface="Arial"/>
              <a:buChar char="•"/>
            </a:pPr>
            <a:r>
              <a:rPr lang="en-US" sz="2924">
                <a:solidFill>
                  <a:srgbClr val="383838"/>
                </a:solidFill>
                <a:latin typeface="DM Sans"/>
                <a:ea typeface="DM Sans"/>
                <a:cs typeface="DM Sans"/>
                <a:sym typeface="DM Sans"/>
              </a:rPr>
              <a:t>uiControls.js</a:t>
            </a:r>
          </a:p>
        </p:txBody>
      </p:sp>
      <p:sp>
        <p:nvSpPr>
          <p:cNvPr id="35" name="TextBox 35"/>
          <p:cNvSpPr txBox="1"/>
          <p:nvPr/>
        </p:nvSpPr>
        <p:spPr>
          <a:xfrm>
            <a:off x="1118444" y="8536930"/>
            <a:ext cx="3604618" cy="455414"/>
          </a:xfrm>
          <a:prstGeom prst="rect">
            <a:avLst/>
          </a:prstGeom>
        </p:spPr>
        <p:txBody>
          <a:bodyPr lIns="0" tIns="0" rIns="0" bIns="0" rtlCol="0" anchor="t">
            <a:spAutoFit/>
          </a:bodyPr>
          <a:lstStyle/>
          <a:p>
            <a:pPr algn="l">
              <a:lnSpc>
                <a:spcPts val="3374"/>
              </a:lnSpc>
            </a:pPr>
            <a:r>
              <a:rPr lang="en-US" sz="2687">
                <a:solidFill>
                  <a:srgbClr val="FFFFFF"/>
                </a:solidFill>
                <a:latin typeface="PT Serif"/>
                <a:ea typeface="PT Serif"/>
                <a:cs typeface="PT Serif"/>
                <a:sym typeface="PT Serif"/>
              </a:rPr>
              <a:t>Separation of Concerns</a:t>
            </a:r>
          </a:p>
        </p:txBody>
      </p:sp>
      <p:sp>
        <p:nvSpPr>
          <p:cNvPr id="36" name="TextBox 36"/>
          <p:cNvSpPr txBox="1"/>
          <p:nvPr/>
        </p:nvSpPr>
        <p:spPr>
          <a:xfrm>
            <a:off x="6682382" y="8536930"/>
            <a:ext cx="3491805" cy="455414"/>
          </a:xfrm>
          <a:prstGeom prst="rect">
            <a:avLst/>
          </a:prstGeom>
        </p:spPr>
        <p:txBody>
          <a:bodyPr lIns="0" tIns="0" rIns="0" bIns="0" rtlCol="0" anchor="t">
            <a:spAutoFit/>
          </a:bodyPr>
          <a:lstStyle/>
          <a:p>
            <a:pPr algn="l">
              <a:lnSpc>
                <a:spcPts val="3374"/>
              </a:lnSpc>
            </a:pPr>
            <a:r>
              <a:rPr lang="en-US" sz="2687">
                <a:solidFill>
                  <a:srgbClr val="FFFFFF"/>
                </a:solidFill>
                <a:latin typeface="PT Serif"/>
                <a:ea typeface="PT Serif"/>
                <a:cs typeface="PT Serif"/>
                <a:sym typeface="PT Serif"/>
              </a:rPr>
              <a:t>Maintainable Code</a:t>
            </a:r>
          </a:p>
        </p:txBody>
      </p:sp>
      <p:sp>
        <p:nvSpPr>
          <p:cNvPr id="37" name="TextBox 37"/>
          <p:cNvSpPr txBox="1"/>
          <p:nvPr/>
        </p:nvSpPr>
        <p:spPr>
          <a:xfrm>
            <a:off x="12246322" y="8536930"/>
            <a:ext cx="3491805" cy="455414"/>
          </a:xfrm>
          <a:prstGeom prst="rect">
            <a:avLst/>
          </a:prstGeom>
        </p:spPr>
        <p:txBody>
          <a:bodyPr lIns="0" tIns="0" rIns="0" bIns="0" rtlCol="0" anchor="t">
            <a:spAutoFit/>
          </a:bodyPr>
          <a:lstStyle/>
          <a:p>
            <a:pPr algn="l">
              <a:lnSpc>
                <a:spcPts val="3374"/>
              </a:lnSpc>
            </a:pPr>
            <a:r>
              <a:rPr lang="en-US" sz="2687">
                <a:solidFill>
                  <a:srgbClr val="FFFFFF"/>
                </a:solidFill>
                <a:latin typeface="PT Serif"/>
                <a:ea typeface="PT Serif"/>
                <a:cs typeface="PT Serif"/>
                <a:sym typeface="PT Serif"/>
              </a:rPr>
              <a:t>Scalable Design</a:t>
            </a:r>
          </a:p>
        </p:txBody>
      </p:sp>
      <p:sp>
        <p:nvSpPr>
          <p:cNvPr id="38" name="TextBox 37"/>
          <p:cNvSpPr txBox="1"/>
          <p:nvPr/>
        </p:nvSpPr>
        <p:spPr>
          <a:xfrm>
            <a:off x="14935200" y="9789056"/>
            <a:ext cx="9208084" cy="369332"/>
          </a:xfrm>
          <a:prstGeom prst="rect">
            <a:avLst/>
          </a:prstGeom>
        </p:spPr>
        <p:txBody>
          <a:bodyPr lIns="0" tIns="0" rIns="0" bIns="0" rtlCol="0" anchor="t">
            <a:spAutoFit/>
          </a:bodyPr>
          <a:lstStyle/>
          <a:p>
            <a:r>
              <a:rPr lang="en-US" sz="2400" dirty="0" smtClean="0"/>
              <a:t>Group No. 7 		3</a:t>
            </a:r>
            <a:endParaRPr lang="en-US" sz="2120" dirty="0">
              <a:solidFill>
                <a:srgbClr val="383838"/>
              </a:solidFill>
              <a:latin typeface="DM Sans"/>
              <a:ea typeface="DM Sans"/>
              <a:cs typeface="DM Sans"/>
              <a:sym typeface="DM Sans"/>
            </a:endParaRPr>
          </a:p>
        </p:txBody>
      </p:sp>
    </p:spTree>
  </p:cSld>
  <p:clrMapOvr>
    <a:masterClrMapping/>
  </p:clrMapOvr>
  <p:timing>
    <p:tnLst>
      <p:par>
        <p:cTn id="1" dur="indefinite" restart="never" nodeType="tmRoot"/>
      </p:par>
    </p:tnLst>
  </p:timing>
</p:sld>
</file>

<file path=ppt/slides/slide4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grpSp>
        <p:nvGrpSpPr>
          <p:cNvPr id="2" name="Group 2"/>
          <p:cNvGrpSpPr/>
          <p:nvPr/>
        </p:nvGrpSpPr>
        <p:grpSpPr>
          <a:xfrm>
            <a:off x="0" y="0"/>
            <a:ext cx="18288000" cy="10287000"/>
            <a:chOff x="0" y="0"/>
            <a:chExt cx="24384000" cy="13716000"/>
          </a:xfrm>
        </p:grpSpPr>
        <p:sp>
          <p:nvSpPr>
            <p:cNvPr id="3" name="Freeform 3"/>
            <p:cNvSpPr/>
            <p:nvPr/>
          </p:nvSpPr>
          <p:spPr>
            <a:xfrm>
              <a:off x="0" y="0"/>
              <a:ext cx="24384000" cy="13716000"/>
            </a:xfrm>
            <a:custGeom>
              <a:avLst/>
              <a:gdLst/>
              <a:ahLst/>
              <a:cxnLst/>
              <a:rect l="l" t="t" r="r" b="b"/>
              <a:pathLst>
                <a:path w="24384000" h="13716000">
                  <a:moveTo>
                    <a:pt x="0" y="0"/>
                  </a:moveTo>
                  <a:lnTo>
                    <a:pt x="24384000" y="0"/>
                  </a:lnTo>
                  <a:lnTo>
                    <a:pt x="24384000" y="13716000"/>
                  </a:lnTo>
                  <a:lnTo>
                    <a:pt x="0" y="13716000"/>
                  </a:lnTo>
                  <a:close/>
                </a:path>
              </a:pathLst>
            </a:custGeom>
            <a:solidFill>
              <a:srgbClr val="FAFAFA"/>
            </a:solidFill>
          </p:spPr>
        </p:sp>
      </p:grpSp>
      <p:sp>
        <p:nvSpPr>
          <p:cNvPr id="4" name="Freeform 4"/>
          <p:cNvSpPr/>
          <p:nvPr/>
        </p:nvSpPr>
        <p:spPr>
          <a:xfrm rot="3998324">
            <a:off x="8132677" y="6983959"/>
            <a:ext cx="3270792" cy="4318716"/>
          </a:xfrm>
          <a:custGeom>
            <a:avLst/>
            <a:gdLst/>
            <a:ahLst/>
            <a:cxnLst/>
            <a:rect l="l" t="t" r="r" b="b"/>
            <a:pathLst>
              <a:path w="3270792" h="4318716">
                <a:moveTo>
                  <a:pt x="0" y="0"/>
                </a:moveTo>
                <a:lnTo>
                  <a:pt x="3270792" y="0"/>
                </a:lnTo>
                <a:lnTo>
                  <a:pt x="3270792" y="4318716"/>
                </a:lnTo>
                <a:lnTo>
                  <a:pt x="0" y="4318716"/>
                </a:lnTo>
                <a:lnTo>
                  <a:pt x="0" y="0"/>
                </a:lnTo>
                <a:close/>
              </a:path>
            </a:pathLst>
          </a:custGeom>
          <a:blipFill>
            <a:blip r:embed="rId3">
              <a:extLst>
                <a:ext uri="{96DAC541-7B7A-43D3-8B79-37D633B846F1}">
                  <asvg:svgBlip xmlns="" xmlns:asvg="http://schemas.microsoft.com/office/drawing/2016/SVG/main" r:embed="rId4"/>
                </a:ext>
              </a:extLst>
            </a:blip>
            <a:stretch>
              <a:fillRect/>
            </a:stretch>
          </a:blipFill>
        </p:spPr>
      </p:sp>
      <p:sp>
        <p:nvSpPr>
          <p:cNvPr id="5" name="Freeform 5"/>
          <p:cNvSpPr/>
          <p:nvPr/>
        </p:nvSpPr>
        <p:spPr>
          <a:xfrm rot="1695503">
            <a:off x="-667352" y="-1248037"/>
            <a:ext cx="5780943" cy="7633090"/>
          </a:xfrm>
          <a:custGeom>
            <a:avLst/>
            <a:gdLst/>
            <a:ahLst/>
            <a:cxnLst/>
            <a:rect l="l" t="t" r="r" b="b"/>
            <a:pathLst>
              <a:path w="5780943" h="7633090">
                <a:moveTo>
                  <a:pt x="0" y="0"/>
                </a:moveTo>
                <a:lnTo>
                  <a:pt x="5780944" y="0"/>
                </a:lnTo>
                <a:lnTo>
                  <a:pt x="5780944" y="7633091"/>
                </a:lnTo>
                <a:lnTo>
                  <a:pt x="0" y="7633091"/>
                </a:lnTo>
                <a:lnTo>
                  <a:pt x="0" y="0"/>
                </a:lnTo>
                <a:close/>
              </a:path>
            </a:pathLst>
          </a:custGeom>
          <a:blipFill>
            <a:blip r:embed="rId5">
              <a:extLst>
                <a:ext uri="{96DAC541-7B7A-43D3-8B79-37D633B846F1}">
                  <asvg:svgBlip xmlns="" xmlns:asvg="http://schemas.microsoft.com/office/drawing/2016/SVG/main" r:embed="rId6"/>
                </a:ext>
              </a:extLst>
            </a:blip>
            <a:stretch>
              <a:fillRect/>
            </a:stretch>
          </a:blipFill>
        </p:spPr>
      </p:sp>
      <p:grpSp>
        <p:nvGrpSpPr>
          <p:cNvPr id="6" name="Group 6"/>
          <p:cNvGrpSpPr>
            <a:grpSpLocks noChangeAspect="1"/>
          </p:cNvGrpSpPr>
          <p:nvPr/>
        </p:nvGrpSpPr>
        <p:grpSpPr>
          <a:xfrm>
            <a:off x="0" y="-1254807"/>
            <a:ext cx="7450187" cy="11175281"/>
            <a:chOff x="0" y="0"/>
            <a:chExt cx="9144000" cy="13716000"/>
          </a:xfrm>
        </p:grpSpPr>
        <p:sp>
          <p:nvSpPr>
            <p:cNvPr id="7" name="Freeform 7"/>
            <p:cNvSpPr/>
            <p:nvPr/>
          </p:nvSpPr>
          <p:spPr>
            <a:xfrm>
              <a:off x="0" y="0"/>
              <a:ext cx="9144000" cy="13716000"/>
            </a:xfrm>
            <a:custGeom>
              <a:avLst/>
              <a:gdLst/>
              <a:ahLst/>
              <a:cxnLst/>
              <a:rect l="l" t="t" r="r" b="b"/>
              <a:pathLst>
                <a:path w="9144000" h="13716000">
                  <a:moveTo>
                    <a:pt x="0" y="0"/>
                  </a:moveTo>
                  <a:lnTo>
                    <a:pt x="9144000" y="0"/>
                  </a:lnTo>
                  <a:lnTo>
                    <a:pt x="9144000" y="13716000"/>
                  </a:lnTo>
                  <a:lnTo>
                    <a:pt x="0" y="13716000"/>
                  </a:lnTo>
                  <a:lnTo>
                    <a:pt x="0" y="0"/>
                  </a:lnTo>
                  <a:close/>
                </a:path>
              </a:pathLst>
            </a:custGeom>
            <a:blipFill>
              <a:blip r:embed="rId7"/>
              <a:stretch>
                <a:fillRect/>
              </a:stretch>
            </a:blipFill>
          </p:spPr>
        </p:sp>
      </p:grpSp>
      <p:grpSp>
        <p:nvGrpSpPr>
          <p:cNvPr id="8" name="Group 8"/>
          <p:cNvGrpSpPr/>
          <p:nvPr/>
        </p:nvGrpSpPr>
        <p:grpSpPr>
          <a:xfrm>
            <a:off x="7850237" y="2799309"/>
            <a:ext cx="4580930" cy="38100"/>
            <a:chOff x="0" y="0"/>
            <a:chExt cx="6107907" cy="50800"/>
          </a:xfrm>
        </p:grpSpPr>
        <p:sp>
          <p:nvSpPr>
            <p:cNvPr id="9" name="Freeform 9"/>
            <p:cNvSpPr/>
            <p:nvPr/>
          </p:nvSpPr>
          <p:spPr>
            <a:xfrm>
              <a:off x="0" y="0"/>
              <a:ext cx="6107938" cy="50800"/>
            </a:xfrm>
            <a:custGeom>
              <a:avLst/>
              <a:gdLst/>
              <a:ahLst/>
              <a:cxnLst/>
              <a:rect l="l" t="t" r="r" b="b"/>
              <a:pathLst>
                <a:path w="6107938" h="50800">
                  <a:moveTo>
                    <a:pt x="0" y="0"/>
                  </a:moveTo>
                  <a:lnTo>
                    <a:pt x="6107938" y="0"/>
                  </a:lnTo>
                  <a:lnTo>
                    <a:pt x="6107938" y="50800"/>
                  </a:lnTo>
                  <a:lnTo>
                    <a:pt x="0" y="50800"/>
                  </a:lnTo>
                  <a:close/>
                </a:path>
              </a:pathLst>
            </a:custGeom>
            <a:solidFill>
              <a:srgbClr val="415E87"/>
            </a:solidFill>
          </p:spPr>
        </p:sp>
      </p:grpSp>
      <p:grpSp>
        <p:nvGrpSpPr>
          <p:cNvPr id="10" name="Group 10"/>
          <p:cNvGrpSpPr/>
          <p:nvPr/>
        </p:nvGrpSpPr>
        <p:grpSpPr>
          <a:xfrm>
            <a:off x="12714685" y="2799309"/>
            <a:ext cx="4581079" cy="38100"/>
            <a:chOff x="0" y="0"/>
            <a:chExt cx="6108105" cy="50800"/>
          </a:xfrm>
        </p:grpSpPr>
        <p:sp>
          <p:nvSpPr>
            <p:cNvPr id="11" name="Freeform 11"/>
            <p:cNvSpPr/>
            <p:nvPr/>
          </p:nvSpPr>
          <p:spPr>
            <a:xfrm>
              <a:off x="0" y="0"/>
              <a:ext cx="6108065" cy="50800"/>
            </a:xfrm>
            <a:custGeom>
              <a:avLst/>
              <a:gdLst/>
              <a:ahLst/>
              <a:cxnLst/>
              <a:rect l="l" t="t" r="r" b="b"/>
              <a:pathLst>
                <a:path w="6108065" h="50800">
                  <a:moveTo>
                    <a:pt x="0" y="0"/>
                  </a:moveTo>
                  <a:lnTo>
                    <a:pt x="6108065" y="0"/>
                  </a:lnTo>
                  <a:lnTo>
                    <a:pt x="6108065" y="50800"/>
                  </a:lnTo>
                  <a:lnTo>
                    <a:pt x="0" y="50800"/>
                  </a:lnTo>
                  <a:close/>
                </a:path>
              </a:pathLst>
            </a:custGeom>
            <a:solidFill>
              <a:srgbClr val="415E87"/>
            </a:solidFill>
          </p:spPr>
        </p:sp>
      </p:grpSp>
      <p:grpSp>
        <p:nvGrpSpPr>
          <p:cNvPr id="12" name="Group 12"/>
          <p:cNvGrpSpPr/>
          <p:nvPr/>
        </p:nvGrpSpPr>
        <p:grpSpPr>
          <a:xfrm>
            <a:off x="7991922" y="7044333"/>
            <a:ext cx="9445526" cy="38100"/>
            <a:chOff x="0" y="0"/>
            <a:chExt cx="12594035" cy="50800"/>
          </a:xfrm>
        </p:grpSpPr>
        <p:sp>
          <p:nvSpPr>
            <p:cNvPr id="13" name="Freeform 13"/>
            <p:cNvSpPr/>
            <p:nvPr/>
          </p:nvSpPr>
          <p:spPr>
            <a:xfrm>
              <a:off x="0" y="0"/>
              <a:ext cx="12594082" cy="50800"/>
            </a:xfrm>
            <a:custGeom>
              <a:avLst/>
              <a:gdLst/>
              <a:ahLst/>
              <a:cxnLst/>
              <a:rect l="l" t="t" r="r" b="b"/>
              <a:pathLst>
                <a:path w="12594082" h="50800">
                  <a:moveTo>
                    <a:pt x="0" y="0"/>
                  </a:moveTo>
                  <a:lnTo>
                    <a:pt x="12594082" y="0"/>
                  </a:lnTo>
                  <a:lnTo>
                    <a:pt x="12594082" y="50800"/>
                  </a:lnTo>
                  <a:lnTo>
                    <a:pt x="0" y="50800"/>
                  </a:lnTo>
                  <a:close/>
                </a:path>
              </a:pathLst>
            </a:custGeom>
            <a:solidFill>
              <a:srgbClr val="415E87"/>
            </a:solidFill>
          </p:spPr>
        </p:sp>
      </p:grpSp>
      <p:sp>
        <p:nvSpPr>
          <p:cNvPr id="14" name="Freeform 14"/>
          <p:cNvSpPr/>
          <p:nvPr/>
        </p:nvSpPr>
        <p:spPr>
          <a:xfrm rot="4229768">
            <a:off x="110895" y="4288800"/>
            <a:ext cx="1075497" cy="995324"/>
          </a:xfrm>
          <a:custGeom>
            <a:avLst/>
            <a:gdLst/>
            <a:ahLst/>
            <a:cxnLst/>
            <a:rect l="l" t="t" r="r" b="b"/>
            <a:pathLst>
              <a:path w="1075497" h="995324">
                <a:moveTo>
                  <a:pt x="0" y="0"/>
                </a:moveTo>
                <a:lnTo>
                  <a:pt x="1075498" y="0"/>
                </a:lnTo>
                <a:lnTo>
                  <a:pt x="1075498" y="995324"/>
                </a:lnTo>
                <a:lnTo>
                  <a:pt x="0" y="995324"/>
                </a:lnTo>
                <a:lnTo>
                  <a:pt x="0" y="0"/>
                </a:lnTo>
                <a:close/>
              </a:path>
            </a:pathLst>
          </a:custGeom>
          <a:blipFill>
            <a:blip r:embed="rId8">
              <a:extLst>
                <a:ext uri="{96DAC541-7B7A-43D3-8B79-37D633B846F1}">
                  <asvg:svgBlip xmlns="" xmlns:asvg="http://schemas.microsoft.com/office/drawing/2016/SVG/main" r:embed="rId9"/>
                </a:ext>
              </a:extLst>
            </a:blip>
            <a:stretch>
              <a:fillRect/>
            </a:stretch>
          </a:blipFill>
        </p:spPr>
      </p:sp>
      <p:sp>
        <p:nvSpPr>
          <p:cNvPr id="15" name="Freeform 15"/>
          <p:cNvSpPr/>
          <p:nvPr/>
        </p:nvSpPr>
        <p:spPr>
          <a:xfrm rot="3471976" flipH="1" flipV="1">
            <a:off x="11646919" y="-2755363"/>
            <a:ext cx="5780943" cy="7633090"/>
          </a:xfrm>
          <a:custGeom>
            <a:avLst/>
            <a:gdLst/>
            <a:ahLst/>
            <a:cxnLst/>
            <a:rect l="l" t="t" r="r" b="b"/>
            <a:pathLst>
              <a:path w="5780943" h="7633090">
                <a:moveTo>
                  <a:pt x="5780944" y="7633090"/>
                </a:moveTo>
                <a:lnTo>
                  <a:pt x="0" y="7633090"/>
                </a:lnTo>
                <a:lnTo>
                  <a:pt x="0" y="0"/>
                </a:lnTo>
                <a:lnTo>
                  <a:pt x="5780944" y="0"/>
                </a:lnTo>
                <a:lnTo>
                  <a:pt x="5780944" y="7633090"/>
                </a:lnTo>
                <a:close/>
              </a:path>
            </a:pathLst>
          </a:custGeom>
          <a:blipFill>
            <a:blip r:embed="rId5">
              <a:extLst>
                <a:ext uri="{96DAC541-7B7A-43D3-8B79-37D633B846F1}">
                  <asvg:svgBlip xmlns="" xmlns:asvg="http://schemas.microsoft.com/office/drawing/2016/SVG/main" r:embed="rId6"/>
                </a:ext>
              </a:extLst>
            </a:blip>
            <a:stretch>
              <a:fillRect/>
            </a:stretch>
          </a:blipFill>
        </p:spPr>
      </p:sp>
      <p:sp>
        <p:nvSpPr>
          <p:cNvPr id="16" name="TextBox 16"/>
          <p:cNvSpPr txBox="1"/>
          <p:nvPr/>
        </p:nvSpPr>
        <p:spPr>
          <a:xfrm>
            <a:off x="7850237" y="961876"/>
            <a:ext cx="7724835" cy="919162"/>
          </a:xfrm>
          <a:prstGeom prst="rect">
            <a:avLst/>
          </a:prstGeom>
        </p:spPr>
        <p:txBody>
          <a:bodyPr lIns="0" tIns="0" rIns="0" bIns="0" rtlCol="0" anchor="t">
            <a:spAutoFit/>
          </a:bodyPr>
          <a:lstStyle/>
          <a:p>
            <a:pPr algn="l">
              <a:lnSpc>
                <a:spcPts val="7312"/>
              </a:lnSpc>
            </a:pPr>
            <a:r>
              <a:rPr lang="en-US" sz="5812" b="1">
                <a:solidFill>
                  <a:srgbClr val="020202"/>
                </a:solidFill>
                <a:latin typeface="PT Serif Bold"/>
                <a:ea typeface="PT Serif Bold"/>
                <a:cs typeface="PT Serif Bold"/>
                <a:sym typeface="PT Serif Bold"/>
              </a:rPr>
              <a:t>User Interaction Flow</a:t>
            </a:r>
          </a:p>
        </p:txBody>
      </p:sp>
      <p:sp>
        <p:nvSpPr>
          <p:cNvPr id="17" name="TextBox 17"/>
          <p:cNvSpPr txBox="1"/>
          <p:nvPr/>
        </p:nvSpPr>
        <p:spPr>
          <a:xfrm>
            <a:off x="7991922" y="2269777"/>
            <a:ext cx="553862" cy="414337"/>
          </a:xfrm>
          <a:prstGeom prst="rect">
            <a:avLst/>
          </a:prstGeom>
        </p:spPr>
        <p:txBody>
          <a:bodyPr lIns="0" tIns="0" rIns="0" bIns="0" rtlCol="0" anchor="t">
            <a:spAutoFit/>
          </a:bodyPr>
          <a:lstStyle/>
          <a:p>
            <a:pPr algn="l">
              <a:lnSpc>
                <a:spcPts val="3562"/>
              </a:lnSpc>
            </a:pPr>
            <a:r>
              <a:rPr lang="en-US" sz="2187">
                <a:solidFill>
                  <a:srgbClr val="383838"/>
                </a:solidFill>
                <a:latin typeface="PT Serif"/>
                <a:ea typeface="PT Serif"/>
                <a:cs typeface="PT Serif"/>
                <a:sym typeface="PT Serif"/>
              </a:rPr>
              <a:t>01</a:t>
            </a:r>
          </a:p>
        </p:txBody>
      </p:sp>
      <p:sp>
        <p:nvSpPr>
          <p:cNvPr id="18" name="TextBox 18"/>
          <p:cNvSpPr txBox="1"/>
          <p:nvPr/>
        </p:nvSpPr>
        <p:spPr>
          <a:xfrm>
            <a:off x="7991922" y="2998142"/>
            <a:ext cx="3721299" cy="484137"/>
          </a:xfrm>
          <a:prstGeom prst="rect">
            <a:avLst/>
          </a:prstGeom>
        </p:spPr>
        <p:txBody>
          <a:bodyPr lIns="0" tIns="0" rIns="0" bIns="0" rtlCol="0" anchor="t">
            <a:spAutoFit/>
          </a:bodyPr>
          <a:lstStyle/>
          <a:p>
            <a:pPr algn="l">
              <a:lnSpc>
                <a:spcPts val="3625"/>
              </a:lnSpc>
            </a:pPr>
            <a:r>
              <a:rPr lang="en-US" sz="2874">
                <a:solidFill>
                  <a:srgbClr val="383838"/>
                </a:solidFill>
                <a:latin typeface="PT Serif"/>
                <a:ea typeface="PT Serif"/>
                <a:cs typeface="PT Serif"/>
                <a:sym typeface="PT Serif"/>
              </a:rPr>
              <a:t>Create Graph</a:t>
            </a:r>
          </a:p>
        </p:txBody>
      </p:sp>
      <p:sp>
        <p:nvSpPr>
          <p:cNvPr id="19" name="TextBox 19"/>
          <p:cNvSpPr txBox="1"/>
          <p:nvPr/>
        </p:nvSpPr>
        <p:spPr>
          <a:xfrm>
            <a:off x="7991922" y="3557141"/>
            <a:ext cx="4580930" cy="2363391"/>
          </a:xfrm>
          <a:prstGeom prst="rect">
            <a:avLst/>
          </a:prstGeom>
        </p:spPr>
        <p:txBody>
          <a:bodyPr lIns="0" tIns="0" rIns="0" bIns="0" rtlCol="0" anchor="t">
            <a:spAutoFit/>
          </a:bodyPr>
          <a:lstStyle/>
          <a:p>
            <a:pPr algn="l">
              <a:lnSpc>
                <a:spcPts val="3562"/>
              </a:lnSpc>
            </a:pPr>
            <a:r>
              <a:rPr lang="en-US" sz="2187">
                <a:solidFill>
                  <a:srgbClr val="383838"/>
                </a:solidFill>
                <a:latin typeface="DM Sans"/>
                <a:ea typeface="DM Sans"/>
                <a:cs typeface="DM Sans"/>
                <a:sym typeface="DM Sans"/>
              </a:rPr>
              <a:t>Choose between random generation (select node count and density) or interactive mode (drag nodes to connect and set edge weights).</a:t>
            </a:r>
          </a:p>
        </p:txBody>
      </p:sp>
      <p:sp>
        <p:nvSpPr>
          <p:cNvPr id="20" name="TextBox 20"/>
          <p:cNvSpPr txBox="1"/>
          <p:nvPr/>
        </p:nvSpPr>
        <p:spPr>
          <a:xfrm>
            <a:off x="12714685" y="2269777"/>
            <a:ext cx="418690" cy="414337"/>
          </a:xfrm>
          <a:prstGeom prst="rect">
            <a:avLst/>
          </a:prstGeom>
        </p:spPr>
        <p:txBody>
          <a:bodyPr lIns="0" tIns="0" rIns="0" bIns="0" rtlCol="0" anchor="t">
            <a:spAutoFit/>
          </a:bodyPr>
          <a:lstStyle/>
          <a:p>
            <a:pPr algn="l">
              <a:lnSpc>
                <a:spcPts val="3562"/>
              </a:lnSpc>
            </a:pPr>
            <a:r>
              <a:rPr lang="en-US" sz="2187">
                <a:solidFill>
                  <a:srgbClr val="383838"/>
                </a:solidFill>
                <a:latin typeface="PT Serif"/>
                <a:ea typeface="PT Serif"/>
                <a:cs typeface="PT Serif"/>
                <a:sym typeface="PT Serif"/>
              </a:rPr>
              <a:t>02</a:t>
            </a:r>
          </a:p>
        </p:txBody>
      </p:sp>
      <p:sp>
        <p:nvSpPr>
          <p:cNvPr id="21" name="TextBox 21"/>
          <p:cNvSpPr txBox="1"/>
          <p:nvPr/>
        </p:nvSpPr>
        <p:spPr>
          <a:xfrm>
            <a:off x="12714685" y="2998142"/>
            <a:ext cx="3721299" cy="484137"/>
          </a:xfrm>
          <a:prstGeom prst="rect">
            <a:avLst/>
          </a:prstGeom>
        </p:spPr>
        <p:txBody>
          <a:bodyPr lIns="0" tIns="0" rIns="0" bIns="0" rtlCol="0" anchor="t">
            <a:spAutoFit/>
          </a:bodyPr>
          <a:lstStyle/>
          <a:p>
            <a:pPr algn="l">
              <a:lnSpc>
                <a:spcPts val="3625"/>
              </a:lnSpc>
            </a:pPr>
            <a:r>
              <a:rPr lang="en-US" sz="2874">
                <a:solidFill>
                  <a:srgbClr val="383838"/>
                </a:solidFill>
                <a:latin typeface="PT Serif"/>
                <a:ea typeface="PT Serif"/>
                <a:cs typeface="PT Serif"/>
                <a:sym typeface="PT Serif"/>
              </a:rPr>
              <a:t>Select Algorithm</a:t>
            </a:r>
          </a:p>
        </p:txBody>
      </p:sp>
      <p:sp>
        <p:nvSpPr>
          <p:cNvPr id="22" name="TextBox 22"/>
          <p:cNvSpPr txBox="1"/>
          <p:nvPr/>
        </p:nvSpPr>
        <p:spPr>
          <a:xfrm>
            <a:off x="12714685" y="3557141"/>
            <a:ext cx="4581079" cy="1456135"/>
          </a:xfrm>
          <a:prstGeom prst="rect">
            <a:avLst/>
          </a:prstGeom>
        </p:spPr>
        <p:txBody>
          <a:bodyPr lIns="0" tIns="0" rIns="0" bIns="0" rtlCol="0" anchor="t">
            <a:spAutoFit/>
          </a:bodyPr>
          <a:lstStyle/>
          <a:p>
            <a:pPr algn="l">
              <a:lnSpc>
                <a:spcPts val="3562"/>
              </a:lnSpc>
            </a:pPr>
            <a:r>
              <a:rPr lang="en-US" sz="2187">
                <a:solidFill>
                  <a:srgbClr val="383838"/>
                </a:solidFill>
                <a:latin typeface="DM Sans"/>
                <a:ea typeface="DM Sans"/>
                <a:cs typeface="DM Sans"/>
                <a:sym typeface="DM Sans"/>
              </a:rPr>
              <a:t>Pick Kruskal's or Prim's algorithm. For Prim's, specify your source vertex to begin tree construction.</a:t>
            </a:r>
          </a:p>
        </p:txBody>
      </p:sp>
      <p:sp>
        <p:nvSpPr>
          <p:cNvPr id="23" name="TextBox 23"/>
          <p:cNvSpPr txBox="1"/>
          <p:nvPr/>
        </p:nvSpPr>
        <p:spPr>
          <a:xfrm>
            <a:off x="7991922" y="6514803"/>
            <a:ext cx="553862" cy="414337"/>
          </a:xfrm>
          <a:prstGeom prst="rect">
            <a:avLst/>
          </a:prstGeom>
        </p:spPr>
        <p:txBody>
          <a:bodyPr lIns="0" tIns="0" rIns="0" bIns="0" rtlCol="0" anchor="t">
            <a:spAutoFit/>
          </a:bodyPr>
          <a:lstStyle/>
          <a:p>
            <a:pPr algn="l">
              <a:lnSpc>
                <a:spcPts val="3562"/>
              </a:lnSpc>
            </a:pPr>
            <a:r>
              <a:rPr lang="en-US" sz="2187">
                <a:solidFill>
                  <a:srgbClr val="383838"/>
                </a:solidFill>
                <a:latin typeface="PT Serif"/>
                <a:ea typeface="PT Serif"/>
                <a:cs typeface="PT Serif"/>
                <a:sym typeface="PT Serif"/>
              </a:rPr>
              <a:t>03</a:t>
            </a:r>
          </a:p>
        </p:txBody>
      </p:sp>
      <p:sp>
        <p:nvSpPr>
          <p:cNvPr id="24" name="TextBox 24"/>
          <p:cNvSpPr txBox="1"/>
          <p:nvPr/>
        </p:nvSpPr>
        <p:spPr>
          <a:xfrm>
            <a:off x="7991922" y="7243168"/>
            <a:ext cx="3721299" cy="484138"/>
          </a:xfrm>
          <a:prstGeom prst="rect">
            <a:avLst/>
          </a:prstGeom>
        </p:spPr>
        <p:txBody>
          <a:bodyPr lIns="0" tIns="0" rIns="0" bIns="0" rtlCol="0" anchor="t">
            <a:spAutoFit/>
          </a:bodyPr>
          <a:lstStyle/>
          <a:p>
            <a:pPr algn="l">
              <a:lnSpc>
                <a:spcPts val="3625"/>
              </a:lnSpc>
            </a:pPr>
            <a:r>
              <a:rPr lang="en-US" sz="2874">
                <a:solidFill>
                  <a:srgbClr val="383838"/>
                </a:solidFill>
                <a:latin typeface="PT Serif"/>
                <a:ea typeface="PT Serif"/>
                <a:cs typeface="PT Serif"/>
                <a:sym typeface="PT Serif"/>
              </a:rPr>
              <a:t>Visualize Execution</a:t>
            </a:r>
          </a:p>
        </p:txBody>
      </p:sp>
      <p:sp>
        <p:nvSpPr>
          <p:cNvPr id="25" name="TextBox 25"/>
          <p:cNvSpPr txBox="1"/>
          <p:nvPr/>
        </p:nvSpPr>
        <p:spPr>
          <a:xfrm>
            <a:off x="7991922" y="7802165"/>
            <a:ext cx="9445526" cy="1456135"/>
          </a:xfrm>
          <a:prstGeom prst="rect">
            <a:avLst/>
          </a:prstGeom>
        </p:spPr>
        <p:txBody>
          <a:bodyPr lIns="0" tIns="0" rIns="0" bIns="0" rtlCol="0" anchor="t">
            <a:spAutoFit/>
          </a:bodyPr>
          <a:lstStyle/>
          <a:p>
            <a:pPr algn="l">
              <a:lnSpc>
                <a:spcPts val="3562"/>
              </a:lnSpc>
            </a:pPr>
            <a:r>
              <a:rPr lang="en-US" sz="2187">
                <a:solidFill>
                  <a:srgbClr val="383838"/>
                </a:solidFill>
                <a:latin typeface="DM Sans"/>
                <a:ea typeface="DM Sans"/>
                <a:cs typeface="DM Sans"/>
                <a:sym typeface="DM Sans"/>
              </a:rPr>
              <a:t>Run the algorithm step-by-step with pause/resume control. Monitor real-time metrics, edge selections, and tree growth as the algorithm progresses.</a:t>
            </a:r>
          </a:p>
        </p:txBody>
      </p:sp>
      <p:sp>
        <p:nvSpPr>
          <p:cNvPr id="26" name="Freeform 26"/>
          <p:cNvSpPr/>
          <p:nvPr/>
        </p:nvSpPr>
        <p:spPr>
          <a:xfrm rot="6286086" flipV="1">
            <a:off x="6636319" y="6967864"/>
            <a:ext cx="1075497" cy="995324"/>
          </a:xfrm>
          <a:custGeom>
            <a:avLst/>
            <a:gdLst/>
            <a:ahLst/>
            <a:cxnLst/>
            <a:rect l="l" t="t" r="r" b="b"/>
            <a:pathLst>
              <a:path w="1075497" h="995324">
                <a:moveTo>
                  <a:pt x="0" y="995324"/>
                </a:moveTo>
                <a:lnTo>
                  <a:pt x="1075497" y="995324"/>
                </a:lnTo>
                <a:lnTo>
                  <a:pt x="1075497" y="0"/>
                </a:lnTo>
                <a:lnTo>
                  <a:pt x="0" y="0"/>
                </a:lnTo>
                <a:lnTo>
                  <a:pt x="0" y="995324"/>
                </a:lnTo>
                <a:close/>
              </a:path>
            </a:pathLst>
          </a:custGeom>
          <a:blipFill>
            <a:blip r:embed="rId8">
              <a:extLst>
                <a:ext uri="{96DAC541-7B7A-43D3-8B79-37D633B846F1}">
                  <asvg:svgBlip xmlns="" xmlns:asvg="http://schemas.microsoft.com/office/drawing/2016/SVG/main" r:embed="rId9"/>
                </a:ext>
              </a:extLst>
            </a:blip>
            <a:stretch>
              <a:fillRect/>
            </a:stretch>
          </a:blipFill>
        </p:spPr>
      </p:sp>
      <p:sp>
        <p:nvSpPr>
          <p:cNvPr id="27" name="TextBox 26"/>
          <p:cNvSpPr txBox="1"/>
          <p:nvPr/>
        </p:nvSpPr>
        <p:spPr>
          <a:xfrm>
            <a:off x="14935200" y="9789056"/>
            <a:ext cx="9208084" cy="369332"/>
          </a:xfrm>
          <a:prstGeom prst="rect">
            <a:avLst/>
          </a:prstGeom>
        </p:spPr>
        <p:txBody>
          <a:bodyPr lIns="0" tIns="0" rIns="0" bIns="0" rtlCol="0" anchor="t">
            <a:spAutoFit/>
          </a:bodyPr>
          <a:lstStyle/>
          <a:p>
            <a:r>
              <a:rPr lang="en-US" sz="2400" dirty="0" smtClean="0"/>
              <a:t>Group No. 7 		</a:t>
            </a:r>
            <a:r>
              <a:rPr lang="en-US" sz="2400" dirty="0"/>
              <a:t>4</a:t>
            </a:r>
            <a:endParaRPr lang="en-US" sz="2120" dirty="0">
              <a:solidFill>
                <a:srgbClr val="383838"/>
              </a:solidFill>
              <a:latin typeface="DM Sans"/>
              <a:ea typeface="DM Sans"/>
              <a:cs typeface="DM Sans"/>
              <a:sym typeface="DM Sans"/>
            </a:endParaRPr>
          </a:p>
        </p:txBody>
      </p:sp>
    </p:spTree>
  </p:cSld>
  <p:clrMapOvr>
    <a:masterClrMapping/>
  </p:clrMapOvr>
  <p:timing>
    <p:tnLst>
      <p:par>
        <p:cTn id="1" dur="indefinite" restart="never" nodeType="tmRoot"/>
      </p:par>
    </p:tnLst>
  </p:timing>
</p:sld>
</file>

<file path=ppt/slides/slide5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grpSp>
        <p:nvGrpSpPr>
          <p:cNvPr id="2" name="Group 2"/>
          <p:cNvGrpSpPr/>
          <p:nvPr/>
        </p:nvGrpSpPr>
        <p:grpSpPr>
          <a:xfrm>
            <a:off x="0" y="0"/>
            <a:ext cx="18288000" cy="10287000"/>
            <a:chOff x="0" y="0"/>
            <a:chExt cx="24384000" cy="13716000"/>
          </a:xfrm>
        </p:grpSpPr>
        <p:sp>
          <p:nvSpPr>
            <p:cNvPr id="3" name="Freeform 3"/>
            <p:cNvSpPr/>
            <p:nvPr/>
          </p:nvSpPr>
          <p:spPr>
            <a:xfrm>
              <a:off x="0" y="0"/>
              <a:ext cx="24384000" cy="13716000"/>
            </a:xfrm>
            <a:custGeom>
              <a:avLst/>
              <a:gdLst/>
              <a:ahLst/>
              <a:cxnLst/>
              <a:rect l="l" t="t" r="r" b="b"/>
              <a:pathLst>
                <a:path w="24384000" h="13716000">
                  <a:moveTo>
                    <a:pt x="0" y="0"/>
                  </a:moveTo>
                  <a:lnTo>
                    <a:pt x="24384000" y="0"/>
                  </a:lnTo>
                  <a:lnTo>
                    <a:pt x="24384000" y="13716000"/>
                  </a:lnTo>
                  <a:lnTo>
                    <a:pt x="0" y="13716000"/>
                  </a:lnTo>
                  <a:close/>
                </a:path>
              </a:pathLst>
            </a:custGeom>
            <a:solidFill>
              <a:srgbClr val="FAFAFA"/>
            </a:solidFill>
          </p:spPr>
        </p:sp>
      </p:grpSp>
      <p:sp>
        <p:nvSpPr>
          <p:cNvPr id="4" name="Freeform 4"/>
          <p:cNvSpPr/>
          <p:nvPr/>
        </p:nvSpPr>
        <p:spPr>
          <a:xfrm rot="3998324">
            <a:off x="8132677" y="6983959"/>
            <a:ext cx="3270792" cy="4318716"/>
          </a:xfrm>
          <a:custGeom>
            <a:avLst/>
            <a:gdLst/>
            <a:ahLst/>
            <a:cxnLst/>
            <a:rect l="l" t="t" r="r" b="b"/>
            <a:pathLst>
              <a:path w="3270792" h="4318716">
                <a:moveTo>
                  <a:pt x="0" y="0"/>
                </a:moveTo>
                <a:lnTo>
                  <a:pt x="3270792" y="0"/>
                </a:lnTo>
                <a:lnTo>
                  <a:pt x="3270792" y="4318716"/>
                </a:lnTo>
                <a:lnTo>
                  <a:pt x="0" y="4318716"/>
                </a:lnTo>
                <a:lnTo>
                  <a:pt x="0" y="0"/>
                </a:lnTo>
                <a:close/>
              </a:path>
            </a:pathLst>
          </a:custGeom>
          <a:blipFill>
            <a:blip r:embed="rId3">
              <a:extLst>
                <a:ext uri="{96DAC541-7B7A-43D3-8B79-37D633B846F1}">
                  <asvg:svgBlip xmlns="" xmlns:asvg="http://schemas.microsoft.com/office/drawing/2016/SVG/main" r:embed="rId4"/>
                </a:ext>
              </a:extLst>
            </a:blip>
            <a:stretch>
              <a:fillRect/>
            </a:stretch>
          </a:blipFill>
        </p:spPr>
      </p:sp>
      <p:sp>
        <p:nvSpPr>
          <p:cNvPr id="5" name="Freeform 5"/>
          <p:cNvSpPr/>
          <p:nvPr/>
        </p:nvSpPr>
        <p:spPr>
          <a:xfrm rot="1695503">
            <a:off x="-667352" y="-1248037"/>
            <a:ext cx="5780943" cy="7633090"/>
          </a:xfrm>
          <a:custGeom>
            <a:avLst/>
            <a:gdLst/>
            <a:ahLst/>
            <a:cxnLst/>
            <a:rect l="l" t="t" r="r" b="b"/>
            <a:pathLst>
              <a:path w="5780943" h="7633090">
                <a:moveTo>
                  <a:pt x="0" y="0"/>
                </a:moveTo>
                <a:lnTo>
                  <a:pt x="5780944" y="0"/>
                </a:lnTo>
                <a:lnTo>
                  <a:pt x="5780944" y="7633091"/>
                </a:lnTo>
                <a:lnTo>
                  <a:pt x="0" y="7633091"/>
                </a:lnTo>
                <a:lnTo>
                  <a:pt x="0" y="0"/>
                </a:lnTo>
                <a:close/>
              </a:path>
            </a:pathLst>
          </a:custGeom>
          <a:blipFill>
            <a:blip r:embed="rId5">
              <a:extLst>
                <a:ext uri="{96DAC541-7B7A-43D3-8B79-37D633B846F1}">
                  <asvg:svgBlip xmlns="" xmlns:asvg="http://schemas.microsoft.com/office/drawing/2016/SVG/main" r:embed="rId6"/>
                </a:ext>
              </a:extLst>
            </a:blip>
            <a:stretch>
              <a:fillRect/>
            </a:stretch>
          </a:blipFill>
        </p:spPr>
      </p:sp>
      <p:grpSp>
        <p:nvGrpSpPr>
          <p:cNvPr id="6" name="Group 6"/>
          <p:cNvGrpSpPr>
            <a:grpSpLocks noChangeAspect="1"/>
          </p:cNvGrpSpPr>
          <p:nvPr/>
        </p:nvGrpSpPr>
        <p:grpSpPr>
          <a:xfrm>
            <a:off x="16049019" y="9686925"/>
            <a:ext cx="2153256" cy="514350"/>
            <a:chOff x="0" y="0"/>
            <a:chExt cx="2871008" cy="685800"/>
          </a:xfrm>
        </p:grpSpPr>
        <p:sp>
          <p:nvSpPr>
            <p:cNvPr id="7" name="Freeform 7" descr="preencoded.png">
              <a:hlinkClick r:id="rId7" tooltip="https://gamma.app/?utm_source=made-with-gamma"/>
            </p:cNvPr>
            <p:cNvSpPr/>
            <p:nvPr/>
          </p:nvSpPr>
          <p:spPr>
            <a:xfrm>
              <a:off x="0" y="0"/>
              <a:ext cx="2870962" cy="685800"/>
            </a:xfrm>
            <a:custGeom>
              <a:avLst/>
              <a:gdLst/>
              <a:ahLst/>
              <a:cxnLst/>
              <a:rect l="l" t="t" r="r" b="b"/>
              <a:pathLst>
                <a:path w="2870962" h="685800">
                  <a:moveTo>
                    <a:pt x="0" y="0"/>
                  </a:moveTo>
                  <a:lnTo>
                    <a:pt x="2870962" y="0"/>
                  </a:lnTo>
                  <a:lnTo>
                    <a:pt x="2870962" y="685800"/>
                  </a:lnTo>
                  <a:lnTo>
                    <a:pt x="0" y="685800"/>
                  </a:lnTo>
                  <a:lnTo>
                    <a:pt x="0" y="0"/>
                  </a:lnTo>
                  <a:close/>
                </a:path>
              </a:pathLst>
            </a:custGeom>
            <a:blipFill>
              <a:blip r:embed="rId8"/>
              <a:stretch>
                <a:fillRect r="-1"/>
              </a:stretch>
            </a:blipFill>
          </p:spPr>
        </p:sp>
      </p:grpSp>
      <p:grpSp>
        <p:nvGrpSpPr>
          <p:cNvPr id="8" name="Group 8"/>
          <p:cNvGrpSpPr>
            <a:grpSpLocks noChangeAspect="1"/>
          </p:cNvGrpSpPr>
          <p:nvPr/>
        </p:nvGrpSpPr>
        <p:grpSpPr>
          <a:xfrm>
            <a:off x="11323320" y="0"/>
            <a:ext cx="6964680" cy="10447020"/>
            <a:chOff x="0" y="0"/>
            <a:chExt cx="9144000" cy="13716000"/>
          </a:xfrm>
        </p:grpSpPr>
        <p:sp>
          <p:nvSpPr>
            <p:cNvPr id="9" name="Freeform 9"/>
            <p:cNvSpPr/>
            <p:nvPr/>
          </p:nvSpPr>
          <p:spPr>
            <a:xfrm>
              <a:off x="0" y="0"/>
              <a:ext cx="9144000" cy="13716000"/>
            </a:xfrm>
            <a:custGeom>
              <a:avLst/>
              <a:gdLst/>
              <a:ahLst/>
              <a:cxnLst/>
              <a:rect l="l" t="t" r="r" b="b"/>
              <a:pathLst>
                <a:path w="9144000" h="13716000">
                  <a:moveTo>
                    <a:pt x="0" y="0"/>
                  </a:moveTo>
                  <a:lnTo>
                    <a:pt x="9144000" y="0"/>
                  </a:lnTo>
                  <a:lnTo>
                    <a:pt x="9144000" y="13716000"/>
                  </a:lnTo>
                  <a:lnTo>
                    <a:pt x="0" y="13716000"/>
                  </a:lnTo>
                  <a:lnTo>
                    <a:pt x="0" y="0"/>
                  </a:lnTo>
                  <a:close/>
                </a:path>
              </a:pathLst>
            </a:custGeom>
            <a:blipFill>
              <a:blip r:embed="rId9"/>
              <a:stretch>
                <a:fillRect l="-12965" r="-36617"/>
              </a:stretch>
            </a:blipFill>
          </p:spPr>
        </p:sp>
      </p:grpSp>
      <p:grpSp>
        <p:nvGrpSpPr>
          <p:cNvPr id="10" name="Group 10"/>
          <p:cNvGrpSpPr/>
          <p:nvPr/>
        </p:nvGrpSpPr>
        <p:grpSpPr>
          <a:xfrm>
            <a:off x="7415334" y="2444800"/>
            <a:ext cx="4014666" cy="3121863"/>
            <a:chOff x="0" y="0"/>
            <a:chExt cx="4866680" cy="3784402"/>
          </a:xfrm>
        </p:grpSpPr>
        <p:sp>
          <p:nvSpPr>
            <p:cNvPr id="11" name="Freeform 11"/>
            <p:cNvSpPr/>
            <p:nvPr/>
          </p:nvSpPr>
          <p:spPr>
            <a:xfrm>
              <a:off x="0" y="0"/>
              <a:ext cx="4866767" cy="3784473"/>
            </a:xfrm>
            <a:custGeom>
              <a:avLst/>
              <a:gdLst/>
              <a:ahLst/>
              <a:cxnLst/>
              <a:rect l="l" t="t" r="r" b="b"/>
              <a:pathLst>
                <a:path w="4866767" h="3784473">
                  <a:moveTo>
                    <a:pt x="0" y="43307"/>
                  </a:moveTo>
                  <a:cubicBezTo>
                    <a:pt x="0" y="19304"/>
                    <a:pt x="19304" y="0"/>
                    <a:pt x="43307" y="0"/>
                  </a:cubicBezTo>
                  <a:lnTo>
                    <a:pt x="4823460" y="0"/>
                  </a:lnTo>
                  <a:cubicBezTo>
                    <a:pt x="4847336" y="0"/>
                    <a:pt x="4866767" y="19304"/>
                    <a:pt x="4866767" y="43307"/>
                  </a:cubicBezTo>
                  <a:lnTo>
                    <a:pt x="4866767" y="3741166"/>
                  </a:lnTo>
                  <a:cubicBezTo>
                    <a:pt x="4866767" y="3765042"/>
                    <a:pt x="4847463" y="3784473"/>
                    <a:pt x="4823460" y="3784473"/>
                  </a:cubicBezTo>
                  <a:lnTo>
                    <a:pt x="43307" y="3784473"/>
                  </a:lnTo>
                  <a:cubicBezTo>
                    <a:pt x="19431" y="3784473"/>
                    <a:pt x="0" y="3765169"/>
                    <a:pt x="0" y="3741166"/>
                  </a:cubicBezTo>
                  <a:close/>
                </a:path>
              </a:pathLst>
            </a:custGeom>
            <a:solidFill>
              <a:srgbClr val="A2C7EF"/>
            </a:solidFill>
          </p:spPr>
        </p:sp>
      </p:grpSp>
      <p:grpSp>
        <p:nvGrpSpPr>
          <p:cNvPr id="12" name="Group 12"/>
          <p:cNvGrpSpPr/>
          <p:nvPr/>
        </p:nvGrpSpPr>
        <p:grpSpPr>
          <a:xfrm>
            <a:off x="7415334" y="5834144"/>
            <a:ext cx="4014666" cy="3207314"/>
            <a:chOff x="0" y="0"/>
            <a:chExt cx="4866680" cy="3887987"/>
          </a:xfrm>
        </p:grpSpPr>
        <p:sp>
          <p:nvSpPr>
            <p:cNvPr id="13" name="Freeform 13"/>
            <p:cNvSpPr/>
            <p:nvPr/>
          </p:nvSpPr>
          <p:spPr>
            <a:xfrm>
              <a:off x="0" y="0"/>
              <a:ext cx="4866640" cy="3887978"/>
            </a:xfrm>
            <a:custGeom>
              <a:avLst/>
              <a:gdLst/>
              <a:ahLst/>
              <a:cxnLst/>
              <a:rect l="l" t="t" r="r" b="b"/>
              <a:pathLst>
                <a:path w="4866640" h="3887978">
                  <a:moveTo>
                    <a:pt x="0" y="43180"/>
                  </a:moveTo>
                  <a:cubicBezTo>
                    <a:pt x="0" y="19304"/>
                    <a:pt x="19304" y="0"/>
                    <a:pt x="43180" y="0"/>
                  </a:cubicBezTo>
                  <a:lnTo>
                    <a:pt x="4823460" y="0"/>
                  </a:lnTo>
                  <a:cubicBezTo>
                    <a:pt x="4847336" y="0"/>
                    <a:pt x="4866640" y="19304"/>
                    <a:pt x="4866640" y="43180"/>
                  </a:cubicBezTo>
                  <a:lnTo>
                    <a:pt x="4866640" y="3844798"/>
                  </a:lnTo>
                  <a:cubicBezTo>
                    <a:pt x="4866640" y="3868674"/>
                    <a:pt x="4847336" y="3887978"/>
                    <a:pt x="4823460" y="3887978"/>
                  </a:cubicBezTo>
                  <a:lnTo>
                    <a:pt x="43180" y="3887978"/>
                  </a:lnTo>
                  <a:cubicBezTo>
                    <a:pt x="19304" y="3887978"/>
                    <a:pt x="0" y="3868674"/>
                    <a:pt x="0" y="3844798"/>
                  </a:cubicBezTo>
                  <a:close/>
                </a:path>
              </a:pathLst>
            </a:custGeom>
            <a:solidFill>
              <a:srgbClr val="A2C7EF"/>
            </a:solidFill>
          </p:spPr>
        </p:sp>
      </p:grpSp>
      <p:sp>
        <p:nvSpPr>
          <p:cNvPr id="14" name="TextBox 14"/>
          <p:cNvSpPr txBox="1"/>
          <p:nvPr/>
        </p:nvSpPr>
        <p:spPr>
          <a:xfrm>
            <a:off x="756791" y="873394"/>
            <a:ext cx="7062639" cy="885606"/>
          </a:xfrm>
          <a:prstGeom prst="rect">
            <a:avLst/>
          </a:prstGeom>
        </p:spPr>
        <p:txBody>
          <a:bodyPr lIns="0" tIns="0" rIns="0" bIns="0" rtlCol="0" anchor="t">
            <a:spAutoFit/>
          </a:bodyPr>
          <a:lstStyle/>
          <a:p>
            <a:pPr algn="l">
              <a:lnSpc>
                <a:spcPts val="7066"/>
              </a:lnSpc>
            </a:pPr>
            <a:r>
              <a:rPr lang="en-US" sz="5637" b="1">
                <a:solidFill>
                  <a:srgbClr val="020202"/>
                </a:solidFill>
                <a:latin typeface="PT Serif Bold"/>
                <a:ea typeface="PT Serif Bold"/>
                <a:cs typeface="PT Serif Bold"/>
                <a:sym typeface="PT Serif Bold"/>
              </a:rPr>
              <a:t>Kruskal's Algorithm</a:t>
            </a:r>
          </a:p>
        </p:txBody>
      </p:sp>
      <p:sp>
        <p:nvSpPr>
          <p:cNvPr id="15" name="TextBox 15"/>
          <p:cNvSpPr txBox="1"/>
          <p:nvPr/>
        </p:nvSpPr>
        <p:spPr>
          <a:xfrm>
            <a:off x="756791" y="2225415"/>
            <a:ext cx="5738813" cy="527867"/>
          </a:xfrm>
          <a:prstGeom prst="rect">
            <a:avLst/>
          </a:prstGeom>
        </p:spPr>
        <p:txBody>
          <a:bodyPr lIns="0" tIns="0" rIns="0" bIns="0" rtlCol="0" anchor="t">
            <a:spAutoFit/>
          </a:bodyPr>
          <a:lstStyle/>
          <a:p>
            <a:pPr algn="l">
              <a:lnSpc>
                <a:spcPts val="4258"/>
              </a:lnSpc>
            </a:pPr>
            <a:r>
              <a:rPr lang="en-US" sz="3387">
                <a:solidFill>
                  <a:srgbClr val="020202"/>
                </a:solidFill>
                <a:latin typeface="PT Serif"/>
                <a:ea typeface="PT Serif"/>
                <a:cs typeface="PT Serif"/>
                <a:sym typeface="PT Serif"/>
              </a:rPr>
              <a:t>Edge-Based Greedy Approach</a:t>
            </a:r>
          </a:p>
        </p:txBody>
      </p:sp>
      <p:sp>
        <p:nvSpPr>
          <p:cNvPr id="16" name="TextBox 16"/>
          <p:cNvSpPr txBox="1"/>
          <p:nvPr/>
        </p:nvSpPr>
        <p:spPr>
          <a:xfrm>
            <a:off x="756791" y="3016827"/>
            <a:ext cx="5738812" cy="1485900"/>
          </a:xfrm>
          <a:prstGeom prst="rect">
            <a:avLst/>
          </a:prstGeom>
        </p:spPr>
        <p:txBody>
          <a:bodyPr lIns="0" tIns="0" rIns="0" bIns="0" rtlCol="0" anchor="t">
            <a:spAutoFit/>
          </a:bodyPr>
          <a:lstStyle/>
          <a:p>
            <a:pPr algn="l">
              <a:lnSpc>
                <a:spcPts val="2984"/>
              </a:lnSpc>
            </a:pPr>
            <a:r>
              <a:rPr lang="en-US" sz="2487">
                <a:solidFill>
                  <a:srgbClr val="383838"/>
                </a:solidFill>
                <a:latin typeface="DM Sans"/>
                <a:ea typeface="DM Sans"/>
                <a:cs typeface="DM Sans"/>
                <a:sym typeface="DM Sans"/>
              </a:rPr>
              <a:t>Kruskal's algorithm processes edges in ascending order by weight, building the MST by selectively adding edges that don't create cycles.</a:t>
            </a:r>
          </a:p>
        </p:txBody>
      </p:sp>
      <p:sp>
        <p:nvSpPr>
          <p:cNvPr id="17" name="TextBox 17"/>
          <p:cNvSpPr txBox="1"/>
          <p:nvPr/>
        </p:nvSpPr>
        <p:spPr>
          <a:xfrm>
            <a:off x="756791" y="5038797"/>
            <a:ext cx="3190763" cy="527867"/>
          </a:xfrm>
          <a:prstGeom prst="rect">
            <a:avLst/>
          </a:prstGeom>
        </p:spPr>
        <p:txBody>
          <a:bodyPr lIns="0" tIns="0" rIns="0" bIns="0" rtlCol="0" anchor="t">
            <a:spAutoFit/>
          </a:bodyPr>
          <a:lstStyle/>
          <a:p>
            <a:pPr algn="l">
              <a:lnSpc>
                <a:spcPts val="4258"/>
              </a:lnSpc>
            </a:pPr>
            <a:r>
              <a:rPr lang="en-US" sz="3387">
                <a:solidFill>
                  <a:srgbClr val="020202"/>
                </a:solidFill>
                <a:latin typeface="PT Serif"/>
                <a:ea typeface="PT Serif"/>
                <a:cs typeface="PT Serif"/>
                <a:sym typeface="PT Serif"/>
              </a:rPr>
              <a:t>Algorithm Steps</a:t>
            </a:r>
          </a:p>
        </p:txBody>
      </p:sp>
      <p:sp>
        <p:nvSpPr>
          <p:cNvPr id="18" name="TextBox 18"/>
          <p:cNvSpPr txBox="1"/>
          <p:nvPr/>
        </p:nvSpPr>
        <p:spPr>
          <a:xfrm>
            <a:off x="509141" y="5827465"/>
            <a:ext cx="6275784" cy="428873"/>
          </a:xfrm>
          <a:prstGeom prst="rect">
            <a:avLst/>
          </a:prstGeom>
        </p:spPr>
        <p:txBody>
          <a:bodyPr lIns="0" tIns="0" rIns="0" bIns="0" rtlCol="0" anchor="t">
            <a:spAutoFit/>
          </a:bodyPr>
          <a:lstStyle/>
          <a:p>
            <a:pPr marL="493868" lvl="1" indent="-246934" algn="l">
              <a:lnSpc>
                <a:spcPts val="3643"/>
              </a:lnSpc>
              <a:buFont typeface="Arial"/>
              <a:buChar char="•"/>
            </a:pPr>
            <a:r>
              <a:rPr lang="en-US" sz="2287">
                <a:solidFill>
                  <a:srgbClr val="383838"/>
                </a:solidFill>
                <a:latin typeface="DM Sans"/>
                <a:ea typeface="DM Sans"/>
                <a:cs typeface="DM Sans"/>
                <a:sym typeface="DM Sans"/>
              </a:rPr>
              <a:t>Sort all edges by weight (ascending order)</a:t>
            </a:r>
          </a:p>
        </p:txBody>
      </p:sp>
      <p:sp>
        <p:nvSpPr>
          <p:cNvPr id="19" name="TextBox 19"/>
          <p:cNvSpPr txBox="1"/>
          <p:nvPr/>
        </p:nvSpPr>
        <p:spPr>
          <a:xfrm>
            <a:off x="509141" y="6248946"/>
            <a:ext cx="5738812" cy="428873"/>
          </a:xfrm>
          <a:prstGeom prst="rect">
            <a:avLst/>
          </a:prstGeom>
        </p:spPr>
        <p:txBody>
          <a:bodyPr lIns="0" tIns="0" rIns="0" bIns="0" rtlCol="0" anchor="t">
            <a:spAutoFit/>
          </a:bodyPr>
          <a:lstStyle/>
          <a:p>
            <a:pPr marL="493868" lvl="1" indent="-246934" algn="l">
              <a:lnSpc>
                <a:spcPts val="3643"/>
              </a:lnSpc>
              <a:buFont typeface="Arial"/>
              <a:buChar char="•"/>
            </a:pPr>
            <a:r>
              <a:rPr lang="en-US" sz="2287">
                <a:solidFill>
                  <a:srgbClr val="383838"/>
                </a:solidFill>
                <a:latin typeface="DM Sans"/>
                <a:ea typeface="DM Sans"/>
                <a:cs typeface="DM Sans"/>
                <a:sym typeface="DM Sans"/>
              </a:rPr>
              <a:t>Examine each edge sequentially</a:t>
            </a:r>
          </a:p>
        </p:txBody>
      </p:sp>
      <p:sp>
        <p:nvSpPr>
          <p:cNvPr id="20" name="TextBox 20"/>
          <p:cNvSpPr txBox="1"/>
          <p:nvPr/>
        </p:nvSpPr>
        <p:spPr>
          <a:xfrm>
            <a:off x="509141" y="6670427"/>
            <a:ext cx="5738812" cy="428873"/>
          </a:xfrm>
          <a:prstGeom prst="rect">
            <a:avLst/>
          </a:prstGeom>
        </p:spPr>
        <p:txBody>
          <a:bodyPr lIns="0" tIns="0" rIns="0" bIns="0" rtlCol="0" anchor="t">
            <a:spAutoFit/>
          </a:bodyPr>
          <a:lstStyle/>
          <a:p>
            <a:pPr marL="493868" lvl="1" indent="-246934" algn="l">
              <a:lnSpc>
                <a:spcPts val="3643"/>
              </a:lnSpc>
              <a:buFont typeface="Arial"/>
              <a:buChar char="•"/>
            </a:pPr>
            <a:r>
              <a:rPr lang="en-US" sz="2287">
                <a:solidFill>
                  <a:srgbClr val="383838"/>
                </a:solidFill>
                <a:latin typeface="DM Sans"/>
                <a:ea typeface="DM Sans"/>
                <a:cs typeface="DM Sans"/>
                <a:sym typeface="DM Sans"/>
              </a:rPr>
              <a:t>Use Union-Find to detect cycles</a:t>
            </a:r>
          </a:p>
        </p:txBody>
      </p:sp>
      <p:sp>
        <p:nvSpPr>
          <p:cNvPr id="21" name="TextBox 21"/>
          <p:cNvSpPr txBox="1"/>
          <p:nvPr/>
        </p:nvSpPr>
        <p:spPr>
          <a:xfrm>
            <a:off x="509141" y="7091908"/>
            <a:ext cx="5738812" cy="428873"/>
          </a:xfrm>
          <a:prstGeom prst="rect">
            <a:avLst/>
          </a:prstGeom>
        </p:spPr>
        <p:txBody>
          <a:bodyPr lIns="0" tIns="0" rIns="0" bIns="0" rtlCol="0" anchor="t">
            <a:spAutoFit/>
          </a:bodyPr>
          <a:lstStyle/>
          <a:p>
            <a:pPr marL="493868" lvl="1" indent="-246934" algn="l">
              <a:lnSpc>
                <a:spcPts val="3643"/>
              </a:lnSpc>
              <a:buFont typeface="Arial"/>
              <a:buChar char="•"/>
            </a:pPr>
            <a:r>
              <a:rPr lang="en-US" sz="2287">
                <a:solidFill>
                  <a:srgbClr val="383838"/>
                </a:solidFill>
                <a:latin typeface="DM Sans"/>
                <a:ea typeface="DM Sans"/>
                <a:cs typeface="DM Sans"/>
                <a:sym typeface="DM Sans"/>
              </a:rPr>
              <a:t>Add edge to MST if no cycle (GREEN)</a:t>
            </a:r>
          </a:p>
        </p:txBody>
      </p:sp>
      <p:sp>
        <p:nvSpPr>
          <p:cNvPr id="22" name="TextBox 22"/>
          <p:cNvSpPr txBox="1"/>
          <p:nvPr/>
        </p:nvSpPr>
        <p:spPr>
          <a:xfrm>
            <a:off x="509141" y="7513390"/>
            <a:ext cx="5738812" cy="428873"/>
          </a:xfrm>
          <a:prstGeom prst="rect">
            <a:avLst/>
          </a:prstGeom>
        </p:spPr>
        <p:txBody>
          <a:bodyPr lIns="0" tIns="0" rIns="0" bIns="0" rtlCol="0" anchor="t">
            <a:spAutoFit/>
          </a:bodyPr>
          <a:lstStyle/>
          <a:p>
            <a:pPr marL="493868" lvl="1" indent="-246934" algn="l">
              <a:lnSpc>
                <a:spcPts val="3643"/>
              </a:lnSpc>
              <a:buFont typeface="Arial"/>
              <a:buChar char="•"/>
            </a:pPr>
            <a:r>
              <a:rPr lang="en-US" sz="2287">
                <a:solidFill>
                  <a:srgbClr val="383838"/>
                </a:solidFill>
                <a:latin typeface="DM Sans"/>
                <a:ea typeface="DM Sans"/>
                <a:cs typeface="DM Sans"/>
                <a:sym typeface="DM Sans"/>
              </a:rPr>
              <a:t>Skip edge if cycle detected (RED)</a:t>
            </a:r>
          </a:p>
        </p:txBody>
      </p:sp>
      <p:sp>
        <p:nvSpPr>
          <p:cNvPr id="23" name="TextBox 23"/>
          <p:cNvSpPr txBox="1"/>
          <p:nvPr/>
        </p:nvSpPr>
        <p:spPr>
          <a:xfrm>
            <a:off x="509141" y="7932737"/>
            <a:ext cx="6056162" cy="428873"/>
          </a:xfrm>
          <a:prstGeom prst="rect">
            <a:avLst/>
          </a:prstGeom>
        </p:spPr>
        <p:txBody>
          <a:bodyPr lIns="0" tIns="0" rIns="0" bIns="0" rtlCol="0" anchor="t">
            <a:spAutoFit/>
          </a:bodyPr>
          <a:lstStyle/>
          <a:p>
            <a:pPr marL="493868" lvl="1" indent="-246934" algn="l">
              <a:lnSpc>
                <a:spcPts val="3643"/>
              </a:lnSpc>
              <a:buFont typeface="Arial"/>
              <a:buChar char="•"/>
            </a:pPr>
            <a:r>
              <a:rPr lang="en-US" sz="2287">
                <a:solidFill>
                  <a:srgbClr val="383838"/>
                </a:solidFill>
                <a:latin typeface="DM Sans"/>
                <a:ea typeface="DM Sans"/>
                <a:cs typeface="DM Sans"/>
                <a:sym typeface="DM Sans"/>
              </a:rPr>
              <a:t>Continue until all vertices are connected</a:t>
            </a:r>
          </a:p>
        </p:txBody>
      </p:sp>
      <p:sp>
        <p:nvSpPr>
          <p:cNvPr id="24" name="TextBox 24"/>
          <p:cNvSpPr txBox="1"/>
          <p:nvPr/>
        </p:nvSpPr>
        <p:spPr>
          <a:xfrm>
            <a:off x="7819430" y="2743757"/>
            <a:ext cx="2944040" cy="809763"/>
          </a:xfrm>
          <a:prstGeom prst="rect">
            <a:avLst/>
          </a:prstGeom>
        </p:spPr>
        <p:txBody>
          <a:bodyPr lIns="0" tIns="0" rIns="0" bIns="0" rtlCol="0" anchor="t">
            <a:spAutoFit/>
          </a:bodyPr>
          <a:lstStyle/>
          <a:p>
            <a:pPr algn="l">
              <a:lnSpc>
                <a:spcPts val="3276"/>
              </a:lnSpc>
            </a:pPr>
            <a:r>
              <a:rPr lang="en-US" sz="2606" b="1">
                <a:solidFill>
                  <a:srgbClr val="000000"/>
                </a:solidFill>
                <a:latin typeface="PT Serif Bold"/>
                <a:ea typeface="PT Serif Bold"/>
                <a:cs typeface="PT Serif Bold"/>
                <a:sym typeface="PT Serif Bold"/>
              </a:rPr>
              <a:t>Union-Find Data Structure</a:t>
            </a:r>
          </a:p>
        </p:txBody>
      </p:sp>
      <p:sp>
        <p:nvSpPr>
          <p:cNvPr id="25" name="TextBox 25"/>
          <p:cNvSpPr txBox="1"/>
          <p:nvPr/>
        </p:nvSpPr>
        <p:spPr>
          <a:xfrm>
            <a:off x="7819430" y="3683577"/>
            <a:ext cx="3372883" cy="792835"/>
          </a:xfrm>
          <a:prstGeom prst="rect">
            <a:avLst/>
          </a:prstGeom>
        </p:spPr>
        <p:txBody>
          <a:bodyPr lIns="0" tIns="0" rIns="0" bIns="0" rtlCol="0" anchor="t">
            <a:spAutoFit/>
          </a:bodyPr>
          <a:lstStyle/>
          <a:p>
            <a:pPr marL="310084" lvl="1" indent="-155042" algn="l">
              <a:lnSpc>
                <a:spcPts val="3274"/>
              </a:lnSpc>
              <a:buFont typeface="Arial"/>
              <a:buChar char="•"/>
            </a:pPr>
            <a:r>
              <a:rPr lang="en-US" sz="2056" b="1">
                <a:solidFill>
                  <a:srgbClr val="000000"/>
                </a:solidFill>
                <a:latin typeface="DM Sans Bold"/>
                <a:ea typeface="DM Sans Bold"/>
                <a:cs typeface="DM Sans Bold"/>
                <a:sym typeface="DM Sans Bold"/>
              </a:rPr>
              <a:t>find(x):</a:t>
            </a:r>
            <a:r>
              <a:rPr lang="en-US" sz="2056">
                <a:solidFill>
                  <a:srgbClr val="000000"/>
                </a:solidFill>
                <a:latin typeface="DM Sans"/>
                <a:ea typeface="DM Sans"/>
                <a:cs typeface="DM Sans"/>
                <a:sym typeface="DM Sans"/>
              </a:rPr>
              <a:t> Locates set with path compression</a:t>
            </a:r>
          </a:p>
        </p:txBody>
      </p:sp>
      <p:sp>
        <p:nvSpPr>
          <p:cNvPr id="26" name="TextBox 26"/>
          <p:cNvSpPr txBox="1"/>
          <p:nvPr/>
        </p:nvSpPr>
        <p:spPr>
          <a:xfrm>
            <a:off x="7819430" y="4441477"/>
            <a:ext cx="2911513" cy="792835"/>
          </a:xfrm>
          <a:prstGeom prst="rect">
            <a:avLst/>
          </a:prstGeom>
        </p:spPr>
        <p:txBody>
          <a:bodyPr lIns="0" tIns="0" rIns="0" bIns="0" rtlCol="0" anchor="t">
            <a:spAutoFit/>
          </a:bodyPr>
          <a:lstStyle/>
          <a:p>
            <a:pPr marL="310084" lvl="1" indent="-155042" algn="l">
              <a:lnSpc>
                <a:spcPts val="3274"/>
              </a:lnSpc>
              <a:buFont typeface="Arial"/>
              <a:buChar char="•"/>
            </a:pPr>
            <a:r>
              <a:rPr lang="en-US" sz="2056" b="1">
                <a:solidFill>
                  <a:srgbClr val="000000"/>
                </a:solidFill>
                <a:latin typeface="DM Sans Bold"/>
                <a:ea typeface="DM Sans Bold"/>
                <a:cs typeface="DM Sans Bold"/>
                <a:sym typeface="DM Sans Bold"/>
              </a:rPr>
              <a:t>union(a,b):</a:t>
            </a:r>
            <a:r>
              <a:rPr lang="en-US" sz="2056">
                <a:solidFill>
                  <a:srgbClr val="000000"/>
                </a:solidFill>
                <a:latin typeface="DM Sans"/>
                <a:ea typeface="DM Sans"/>
                <a:cs typeface="DM Sans"/>
                <a:sym typeface="DM Sans"/>
              </a:rPr>
              <a:t> Connects two disjoint sets</a:t>
            </a:r>
          </a:p>
        </p:txBody>
      </p:sp>
      <p:sp>
        <p:nvSpPr>
          <p:cNvPr id="27" name="TextBox 27"/>
          <p:cNvSpPr txBox="1"/>
          <p:nvPr/>
        </p:nvSpPr>
        <p:spPr>
          <a:xfrm>
            <a:off x="7695313" y="6112203"/>
            <a:ext cx="3497000" cy="382589"/>
          </a:xfrm>
          <a:prstGeom prst="rect">
            <a:avLst/>
          </a:prstGeom>
        </p:spPr>
        <p:txBody>
          <a:bodyPr lIns="0" tIns="0" rIns="0" bIns="0" rtlCol="0" anchor="t">
            <a:spAutoFit/>
          </a:bodyPr>
          <a:lstStyle/>
          <a:p>
            <a:pPr algn="l">
              <a:lnSpc>
                <a:spcPts val="3024"/>
              </a:lnSpc>
            </a:pPr>
            <a:r>
              <a:rPr lang="en-US" sz="2406" b="1">
                <a:solidFill>
                  <a:srgbClr val="000000"/>
                </a:solidFill>
                <a:latin typeface="PT Serif Bold"/>
                <a:ea typeface="PT Serif Bold"/>
                <a:cs typeface="PT Serif Bold"/>
                <a:sym typeface="PT Serif Bold"/>
              </a:rPr>
              <a:t>Complexity Analysis</a:t>
            </a:r>
          </a:p>
        </p:txBody>
      </p:sp>
      <p:sp>
        <p:nvSpPr>
          <p:cNvPr id="28" name="TextBox 28"/>
          <p:cNvSpPr txBox="1"/>
          <p:nvPr/>
        </p:nvSpPr>
        <p:spPr>
          <a:xfrm>
            <a:off x="7695313" y="6592212"/>
            <a:ext cx="2911513" cy="383260"/>
          </a:xfrm>
          <a:prstGeom prst="rect">
            <a:avLst/>
          </a:prstGeom>
        </p:spPr>
        <p:txBody>
          <a:bodyPr lIns="0" tIns="0" rIns="0" bIns="0" rtlCol="0" anchor="t">
            <a:spAutoFit/>
          </a:bodyPr>
          <a:lstStyle/>
          <a:p>
            <a:pPr marL="443909" lvl="1" indent="-221955" algn="l">
              <a:lnSpc>
                <a:spcPts val="3274"/>
              </a:lnSpc>
              <a:buFont typeface="Arial"/>
              <a:buChar char="•"/>
            </a:pPr>
            <a:r>
              <a:rPr lang="en-US" sz="2056" b="1">
                <a:solidFill>
                  <a:srgbClr val="000000"/>
                </a:solidFill>
                <a:latin typeface="DM Sans Bold"/>
                <a:ea typeface="DM Sans Bold"/>
                <a:cs typeface="DM Sans Bold"/>
                <a:sym typeface="DM Sans Bold"/>
              </a:rPr>
              <a:t>Time:</a:t>
            </a:r>
            <a:r>
              <a:rPr lang="en-US" sz="2056">
                <a:solidFill>
                  <a:srgbClr val="000000"/>
                </a:solidFill>
                <a:latin typeface="DM Sans"/>
                <a:ea typeface="DM Sans"/>
                <a:cs typeface="DM Sans"/>
                <a:sym typeface="DM Sans"/>
              </a:rPr>
              <a:t> O(E log E)</a:t>
            </a:r>
          </a:p>
        </p:txBody>
      </p:sp>
      <p:sp>
        <p:nvSpPr>
          <p:cNvPr id="29" name="TextBox 29"/>
          <p:cNvSpPr txBox="1"/>
          <p:nvPr/>
        </p:nvSpPr>
        <p:spPr>
          <a:xfrm>
            <a:off x="7688243" y="6976907"/>
            <a:ext cx="2911513" cy="383260"/>
          </a:xfrm>
          <a:prstGeom prst="rect">
            <a:avLst/>
          </a:prstGeom>
        </p:spPr>
        <p:txBody>
          <a:bodyPr lIns="0" tIns="0" rIns="0" bIns="0" rtlCol="0" anchor="t">
            <a:spAutoFit/>
          </a:bodyPr>
          <a:lstStyle/>
          <a:p>
            <a:pPr marL="443909" lvl="1" indent="-221955" algn="l">
              <a:lnSpc>
                <a:spcPts val="3274"/>
              </a:lnSpc>
              <a:buFont typeface="Arial"/>
              <a:buChar char="•"/>
            </a:pPr>
            <a:r>
              <a:rPr lang="en-US" sz="2056" b="1">
                <a:solidFill>
                  <a:srgbClr val="000000"/>
                </a:solidFill>
                <a:latin typeface="DM Sans Bold"/>
                <a:ea typeface="DM Sans Bold"/>
                <a:cs typeface="DM Sans Bold"/>
                <a:sym typeface="DM Sans Bold"/>
              </a:rPr>
              <a:t>Space:</a:t>
            </a:r>
            <a:r>
              <a:rPr lang="en-US" sz="2056">
                <a:solidFill>
                  <a:srgbClr val="000000"/>
                </a:solidFill>
                <a:latin typeface="DM Sans"/>
                <a:ea typeface="DM Sans"/>
                <a:cs typeface="DM Sans"/>
                <a:sym typeface="DM Sans"/>
              </a:rPr>
              <a:t> O(V)</a:t>
            </a:r>
          </a:p>
        </p:txBody>
      </p:sp>
      <p:sp>
        <p:nvSpPr>
          <p:cNvPr id="30" name="TextBox 30"/>
          <p:cNvSpPr txBox="1"/>
          <p:nvPr/>
        </p:nvSpPr>
        <p:spPr>
          <a:xfrm>
            <a:off x="7665720" y="7361601"/>
            <a:ext cx="3097750" cy="1202410"/>
          </a:xfrm>
          <a:prstGeom prst="rect">
            <a:avLst/>
          </a:prstGeom>
        </p:spPr>
        <p:txBody>
          <a:bodyPr lIns="0" tIns="0" rIns="0" bIns="0" rtlCol="0" anchor="t">
            <a:spAutoFit/>
          </a:bodyPr>
          <a:lstStyle/>
          <a:p>
            <a:pPr marL="443909" lvl="1" indent="-221955" algn="l">
              <a:lnSpc>
                <a:spcPts val="3274"/>
              </a:lnSpc>
              <a:buFont typeface="Arial"/>
              <a:buChar char="•"/>
            </a:pPr>
            <a:r>
              <a:rPr lang="en-US" sz="2056" b="1">
                <a:solidFill>
                  <a:srgbClr val="000000"/>
                </a:solidFill>
                <a:latin typeface="DM Sans Bold"/>
                <a:ea typeface="DM Sans Bold"/>
                <a:cs typeface="DM Sans Bold"/>
                <a:sym typeface="DM Sans Bold"/>
              </a:rPr>
              <a:t>Best For:</a:t>
            </a:r>
            <a:r>
              <a:rPr lang="en-US" sz="2056">
                <a:solidFill>
                  <a:srgbClr val="000000"/>
                </a:solidFill>
                <a:latin typeface="DM Sans"/>
                <a:ea typeface="DM Sans"/>
                <a:cs typeface="DM Sans"/>
                <a:sym typeface="DM Sans"/>
              </a:rPr>
              <a:t> Sparse graphs with fewer edges</a:t>
            </a:r>
          </a:p>
        </p:txBody>
      </p:sp>
      <p:sp>
        <p:nvSpPr>
          <p:cNvPr id="31" name="TextBox 30"/>
          <p:cNvSpPr txBox="1"/>
          <p:nvPr/>
        </p:nvSpPr>
        <p:spPr>
          <a:xfrm>
            <a:off x="14935200" y="9789056"/>
            <a:ext cx="9208084" cy="369332"/>
          </a:xfrm>
          <a:prstGeom prst="rect">
            <a:avLst/>
          </a:prstGeom>
        </p:spPr>
        <p:txBody>
          <a:bodyPr lIns="0" tIns="0" rIns="0" bIns="0" rtlCol="0" anchor="t">
            <a:spAutoFit/>
          </a:bodyPr>
          <a:lstStyle/>
          <a:p>
            <a:r>
              <a:rPr lang="en-US" sz="2400" dirty="0" smtClean="0"/>
              <a:t>Group No. 7 		5</a:t>
            </a:r>
            <a:endParaRPr lang="en-US" sz="2120" dirty="0">
              <a:solidFill>
                <a:srgbClr val="383838"/>
              </a:solidFill>
              <a:latin typeface="DM Sans"/>
              <a:ea typeface="DM Sans"/>
              <a:cs typeface="DM Sans"/>
              <a:sym typeface="DM Sans"/>
            </a:endParaRPr>
          </a:p>
        </p:txBody>
      </p:sp>
    </p:spTree>
  </p:cSld>
  <p:clrMapOvr>
    <a:masterClrMapping/>
  </p:clrMapOvr>
  <p:timing>
    <p:tnLst>
      <p:par>
        <p:cTn id="1" dur="indefinite" restart="never" nodeType="tmRoot"/>
      </p:par>
    </p:tnLst>
  </p:timing>
</p:sld>
</file>

<file path=ppt/slides/slide6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grpSp>
        <p:nvGrpSpPr>
          <p:cNvPr id="2" name="Group 2"/>
          <p:cNvGrpSpPr/>
          <p:nvPr/>
        </p:nvGrpSpPr>
        <p:grpSpPr>
          <a:xfrm>
            <a:off x="0" y="0"/>
            <a:ext cx="18288000" cy="10287000"/>
            <a:chOff x="0" y="0"/>
            <a:chExt cx="24384000" cy="13716000"/>
          </a:xfrm>
        </p:grpSpPr>
        <p:sp>
          <p:nvSpPr>
            <p:cNvPr id="3" name="Freeform 3"/>
            <p:cNvSpPr/>
            <p:nvPr/>
          </p:nvSpPr>
          <p:spPr>
            <a:xfrm>
              <a:off x="0" y="0"/>
              <a:ext cx="24384000" cy="13716000"/>
            </a:xfrm>
            <a:custGeom>
              <a:avLst/>
              <a:gdLst/>
              <a:ahLst/>
              <a:cxnLst/>
              <a:rect l="l" t="t" r="r" b="b"/>
              <a:pathLst>
                <a:path w="24384000" h="13716000">
                  <a:moveTo>
                    <a:pt x="0" y="0"/>
                  </a:moveTo>
                  <a:lnTo>
                    <a:pt x="24384000" y="0"/>
                  </a:lnTo>
                  <a:lnTo>
                    <a:pt x="24384000" y="13716000"/>
                  </a:lnTo>
                  <a:lnTo>
                    <a:pt x="0" y="13716000"/>
                  </a:lnTo>
                  <a:close/>
                </a:path>
              </a:pathLst>
            </a:custGeom>
            <a:solidFill>
              <a:srgbClr val="FAFAFA"/>
            </a:solidFill>
          </p:spPr>
        </p:sp>
      </p:grpSp>
      <p:grpSp>
        <p:nvGrpSpPr>
          <p:cNvPr id="4" name="Group 4"/>
          <p:cNvGrpSpPr/>
          <p:nvPr/>
        </p:nvGrpSpPr>
        <p:grpSpPr>
          <a:xfrm>
            <a:off x="-152400" y="0"/>
            <a:ext cx="18288000" cy="10287000"/>
            <a:chOff x="0" y="0"/>
            <a:chExt cx="24384000" cy="13716000"/>
          </a:xfrm>
        </p:grpSpPr>
        <p:sp>
          <p:nvSpPr>
            <p:cNvPr id="5" name="Freeform 5"/>
            <p:cNvSpPr/>
            <p:nvPr/>
          </p:nvSpPr>
          <p:spPr>
            <a:xfrm>
              <a:off x="0" y="0"/>
              <a:ext cx="24384000" cy="13716000"/>
            </a:xfrm>
            <a:custGeom>
              <a:avLst/>
              <a:gdLst/>
              <a:ahLst/>
              <a:cxnLst/>
              <a:rect l="l" t="t" r="r" b="b"/>
              <a:pathLst>
                <a:path w="24384000" h="13716000">
                  <a:moveTo>
                    <a:pt x="0" y="0"/>
                  </a:moveTo>
                  <a:lnTo>
                    <a:pt x="24384000" y="0"/>
                  </a:lnTo>
                  <a:lnTo>
                    <a:pt x="24384000" y="13716000"/>
                  </a:lnTo>
                  <a:lnTo>
                    <a:pt x="0" y="13716000"/>
                  </a:lnTo>
                  <a:close/>
                </a:path>
              </a:pathLst>
            </a:custGeom>
            <a:solidFill>
              <a:srgbClr val="FFFFFF"/>
            </a:solidFill>
          </p:spPr>
        </p:sp>
      </p:grpSp>
      <p:sp>
        <p:nvSpPr>
          <p:cNvPr id="6" name="Freeform 6"/>
          <p:cNvSpPr/>
          <p:nvPr/>
        </p:nvSpPr>
        <p:spPr>
          <a:xfrm rot="3998324">
            <a:off x="8132677" y="6983959"/>
            <a:ext cx="3270792" cy="4318716"/>
          </a:xfrm>
          <a:custGeom>
            <a:avLst/>
            <a:gdLst/>
            <a:ahLst/>
            <a:cxnLst/>
            <a:rect l="l" t="t" r="r" b="b"/>
            <a:pathLst>
              <a:path w="3270792" h="4318716">
                <a:moveTo>
                  <a:pt x="0" y="0"/>
                </a:moveTo>
                <a:lnTo>
                  <a:pt x="3270792" y="0"/>
                </a:lnTo>
                <a:lnTo>
                  <a:pt x="3270792" y="4318716"/>
                </a:lnTo>
                <a:lnTo>
                  <a:pt x="0" y="4318716"/>
                </a:lnTo>
                <a:lnTo>
                  <a:pt x="0" y="0"/>
                </a:lnTo>
                <a:close/>
              </a:path>
            </a:pathLst>
          </a:custGeom>
          <a:blipFill>
            <a:blip r:embed="rId3">
              <a:extLst>
                <a:ext uri="{96DAC541-7B7A-43D3-8B79-37D633B846F1}">
                  <asvg:svgBlip xmlns="" xmlns:asvg="http://schemas.microsoft.com/office/drawing/2016/SVG/main" r:embed="rId4"/>
                </a:ext>
              </a:extLst>
            </a:blip>
            <a:stretch>
              <a:fillRect/>
            </a:stretch>
          </a:blipFill>
        </p:spPr>
      </p:sp>
      <p:sp>
        <p:nvSpPr>
          <p:cNvPr id="7" name="Freeform 7"/>
          <p:cNvSpPr/>
          <p:nvPr/>
        </p:nvSpPr>
        <p:spPr>
          <a:xfrm rot="1695503">
            <a:off x="-667352" y="-1248037"/>
            <a:ext cx="5780943" cy="7633090"/>
          </a:xfrm>
          <a:custGeom>
            <a:avLst/>
            <a:gdLst/>
            <a:ahLst/>
            <a:cxnLst/>
            <a:rect l="l" t="t" r="r" b="b"/>
            <a:pathLst>
              <a:path w="5780943" h="7633090">
                <a:moveTo>
                  <a:pt x="0" y="0"/>
                </a:moveTo>
                <a:lnTo>
                  <a:pt x="5780944" y="0"/>
                </a:lnTo>
                <a:lnTo>
                  <a:pt x="5780944" y="7633091"/>
                </a:lnTo>
                <a:lnTo>
                  <a:pt x="0" y="7633091"/>
                </a:lnTo>
                <a:lnTo>
                  <a:pt x="0" y="0"/>
                </a:lnTo>
                <a:close/>
              </a:path>
            </a:pathLst>
          </a:custGeom>
          <a:blipFill>
            <a:blip r:embed="rId5">
              <a:extLst>
                <a:ext uri="{96DAC541-7B7A-43D3-8B79-37D633B846F1}">
                  <asvg:svgBlip xmlns="" xmlns:asvg="http://schemas.microsoft.com/office/drawing/2016/SVG/main" r:embed="rId6"/>
                </a:ext>
              </a:extLst>
            </a:blip>
            <a:stretch>
              <a:fillRect/>
            </a:stretch>
          </a:blipFill>
        </p:spPr>
      </p:sp>
      <p:grpSp>
        <p:nvGrpSpPr>
          <p:cNvPr id="8" name="Group 8"/>
          <p:cNvGrpSpPr>
            <a:grpSpLocks noChangeAspect="1"/>
          </p:cNvGrpSpPr>
          <p:nvPr/>
        </p:nvGrpSpPr>
        <p:grpSpPr>
          <a:xfrm>
            <a:off x="0" y="0"/>
            <a:ext cx="6858000" cy="10287000"/>
            <a:chOff x="0" y="0"/>
            <a:chExt cx="9144000" cy="13716000"/>
          </a:xfrm>
        </p:grpSpPr>
        <p:sp>
          <p:nvSpPr>
            <p:cNvPr id="9" name="Freeform 9"/>
            <p:cNvSpPr/>
            <p:nvPr/>
          </p:nvSpPr>
          <p:spPr>
            <a:xfrm>
              <a:off x="0" y="0"/>
              <a:ext cx="9144000" cy="13716000"/>
            </a:xfrm>
            <a:custGeom>
              <a:avLst/>
              <a:gdLst/>
              <a:ahLst/>
              <a:cxnLst/>
              <a:rect l="l" t="t" r="r" b="b"/>
              <a:pathLst>
                <a:path w="9144000" h="13716000">
                  <a:moveTo>
                    <a:pt x="0" y="0"/>
                  </a:moveTo>
                  <a:lnTo>
                    <a:pt x="9144000" y="0"/>
                  </a:lnTo>
                  <a:lnTo>
                    <a:pt x="9144000" y="13716000"/>
                  </a:lnTo>
                  <a:lnTo>
                    <a:pt x="0" y="13716000"/>
                  </a:lnTo>
                  <a:lnTo>
                    <a:pt x="0" y="0"/>
                  </a:lnTo>
                  <a:close/>
                </a:path>
              </a:pathLst>
            </a:custGeom>
            <a:blipFill>
              <a:blip r:embed="rId7"/>
              <a:stretch>
                <a:fillRect l="-47802" r="-5279"/>
              </a:stretch>
            </a:blipFill>
          </p:spPr>
        </p:sp>
      </p:grpSp>
      <p:grpSp>
        <p:nvGrpSpPr>
          <p:cNvPr id="10" name="Group 10"/>
          <p:cNvGrpSpPr/>
          <p:nvPr/>
        </p:nvGrpSpPr>
        <p:grpSpPr>
          <a:xfrm>
            <a:off x="13492020" y="2041475"/>
            <a:ext cx="3934405" cy="3417391"/>
            <a:chOff x="0" y="0"/>
            <a:chExt cx="5245873" cy="4556522"/>
          </a:xfrm>
        </p:grpSpPr>
        <p:sp>
          <p:nvSpPr>
            <p:cNvPr id="11" name="Freeform 11"/>
            <p:cNvSpPr/>
            <p:nvPr/>
          </p:nvSpPr>
          <p:spPr>
            <a:xfrm>
              <a:off x="0" y="0"/>
              <a:ext cx="5245904" cy="4556505"/>
            </a:xfrm>
            <a:custGeom>
              <a:avLst/>
              <a:gdLst/>
              <a:ahLst/>
              <a:cxnLst/>
              <a:rect l="l" t="t" r="r" b="b"/>
              <a:pathLst>
                <a:path w="5245904" h="4556505">
                  <a:moveTo>
                    <a:pt x="0" y="45320"/>
                  </a:moveTo>
                  <a:cubicBezTo>
                    <a:pt x="0" y="20249"/>
                    <a:pt x="19955" y="0"/>
                    <a:pt x="44662" y="0"/>
                  </a:cubicBezTo>
                  <a:lnTo>
                    <a:pt x="5201245" y="0"/>
                  </a:lnTo>
                  <a:cubicBezTo>
                    <a:pt x="5225951" y="0"/>
                    <a:pt x="5245904" y="20249"/>
                    <a:pt x="5245904" y="45320"/>
                  </a:cubicBezTo>
                  <a:lnTo>
                    <a:pt x="5245904" y="4511185"/>
                  </a:lnTo>
                  <a:cubicBezTo>
                    <a:pt x="5245904" y="4536256"/>
                    <a:pt x="5225951" y="4556505"/>
                    <a:pt x="5201245" y="4556505"/>
                  </a:cubicBezTo>
                  <a:lnTo>
                    <a:pt x="44662" y="4556505"/>
                  </a:lnTo>
                  <a:cubicBezTo>
                    <a:pt x="19955" y="4556505"/>
                    <a:pt x="0" y="4536256"/>
                    <a:pt x="0" y="4511185"/>
                  </a:cubicBezTo>
                  <a:close/>
                </a:path>
              </a:pathLst>
            </a:custGeom>
            <a:solidFill>
              <a:srgbClr val="A2C7EF"/>
            </a:solidFill>
          </p:spPr>
        </p:sp>
      </p:grpSp>
      <p:grpSp>
        <p:nvGrpSpPr>
          <p:cNvPr id="12" name="Group 12"/>
          <p:cNvGrpSpPr/>
          <p:nvPr/>
        </p:nvGrpSpPr>
        <p:grpSpPr>
          <a:xfrm>
            <a:off x="13492020" y="5668416"/>
            <a:ext cx="3934405" cy="2818359"/>
            <a:chOff x="0" y="0"/>
            <a:chExt cx="5245873" cy="3757812"/>
          </a:xfrm>
        </p:grpSpPr>
        <p:sp>
          <p:nvSpPr>
            <p:cNvPr id="13" name="Freeform 13"/>
            <p:cNvSpPr/>
            <p:nvPr/>
          </p:nvSpPr>
          <p:spPr>
            <a:xfrm>
              <a:off x="0" y="0"/>
              <a:ext cx="5245904" cy="3757803"/>
            </a:xfrm>
            <a:custGeom>
              <a:avLst/>
              <a:gdLst/>
              <a:ahLst/>
              <a:cxnLst/>
              <a:rect l="l" t="t" r="r" b="b"/>
              <a:pathLst>
                <a:path w="5245904" h="3757803">
                  <a:moveTo>
                    <a:pt x="0" y="41783"/>
                  </a:moveTo>
                  <a:cubicBezTo>
                    <a:pt x="0" y="18669"/>
                    <a:pt x="19955" y="0"/>
                    <a:pt x="44662" y="0"/>
                  </a:cubicBezTo>
                  <a:lnTo>
                    <a:pt x="5201245" y="0"/>
                  </a:lnTo>
                  <a:cubicBezTo>
                    <a:pt x="5225951" y="0"/>
                    <a:pt x="5245904" y="18669"/>
                    <a:pt x="5245904" y="41783"/>
                  </a:cubicBezTo>
                  <a:lnTo>
                    <a:pt x="5245904" y="3716020"/>
                  </a:lnTo>
                  <a:cubicBezTo>
                    <a:pt x="5245904" y="3739134"/>
                    <a:pt x="5225951" y="3757803"/>
                    <a:pt x="5201245" y="3757803"/>
                  </a:cubicBezTo>
                  <a:lnTo>
                    <a:pt x="44662" y="3757803"/>
                  </a:lnTo>
                  <a:cubicBezTo>
                    <a:pt x="19955" y="3757803"/>
                    <a:pt x="0" y="3739134"/>
                    <a:pt x="0" y="3716020"/>
                  </a:cubicBezTo>
                  <a:close/>
                </a:path>
              </a:pathLst>
            </a:custGeom>
            <a:solidFill>
              <a:srgbClr val="A2C7EF"/>
            </a:solidFill>
          </p:spPr>
        </p:sp>
      </p:grpSp>
      <p:sp>
        <p:nvSpPr>
          <p:cNvPr id="14" name="Freeform 14"/>
          <p:cNvSpPr/>
          <p:nvPr/>
        </p:nvSpPr>
        <p:spPr>
          <a:xfrm rot="3471976" flipH="1" flipV="1">
            <a:off x="11075260" y="-3473120"/>
            <a:ext cx="5780943" cy="7633090"/>
          </a:xfrm>
          <a:custGeom>
            <a:avLst/>
            <a:gdLst/>
            <a:ahLst/>
            <a:cxnLst/>
            <a:rect l="l" t="t" r="r" b="b"/>
            <a:pathLst>
              <a:path w="5780943" h="7633090">
                <a:moveTo>
                  <a:pt x="5780944" y="7633091"/>
                </a:moveTo>
                <a:lnTo>
                  <a:pt x="0" y="7633091"/>
                </a:lnTo>
                <a:lnTo>
                  <a:pt x="0" y="0"/>
                </a:lnTo>
                <a:lnTo>
                  <a:pt x="5780944" y="0"/>
                </a:lnTo>
                <a:lnTo>
                  <a:pt x="5780944" y="7633091"/>
                </a:lnTo>
                <a:close/>
              </a:path>
            </a:pathLst>
          </a:custGeom>
          <a:blipFill>
            <a:blip r:embed="rId5">
              <a:extLst>
                <a:ext uri="{96DAC541-7B7A-43D3-8B79-37D633B846F1}">
                  <asvg:svgBlip xmlns="" xmlns:asvg="http://schemas.microsoft.com/office/drawing/2016/SVG/main" r:embed="rId6"/>
                </a:ext>
              </a:extLst>
            </a:blip>
            <a:stretch>
              <a:fillRect/>
            </a:stretch>
          </a:blipFill>
        </p:spPr>
      </p:sp>
      <p:sp>
        <p:nvSpPr>
          <p:cNvPr id="15" name="TextBox 15"/>
          <p:cNvSpPr txBox="1"/>
          <p:nvPr/>
        </p:nvSpPr>
        <p:spPr>
          <a:xfrm>
            <a:off x="6858000" y="1000125"/>
            <a:ext cx="6056971" cy="881181"/>
          </a:xfrm>
          <a:prstGeom prst="rect">
            <a:avLst/>
          </a:prstGeom>
        </p:spPr>
        <p:txBody>
          <a:bodyPr lIns="0" tIns="0" rIns="0" bIns="0" rtlCol="0" anchor="t">
            <a:spAutoFit/>
          </a:bodyPr>
          <a:lstStyle/>
          <a:p>
            <a:pPr algn="l">
              <a:lnSpc>
                <a:spcPts val="7029"/>
              </a:lnSpc>
            </a:pPr>
            <a:r>
              <a:rPr lang="en-US" sz="5640" b="1">
                <a:solidFill>
                  <a:srgbClr val="020202"/>
                </a:solidFill>
                <a:latin typeface="PT Serif Bold"/>
                <a:ea typeface="PT Serif Bold"/>
                <a:cs typeface="PT Serif Bold"/>
                <a:sym typeface="PT Serif Bold"/>
              </a:rPr>
              <a:t>Prim's Algorithm</a:t>
            </a:r>
          </a:p>
        </p:txBody>
      </p:sp>
      <p:sp>
        <p:nvSpPr>
          <p:cNvPr id="16" name="TextBox 16"/>
          <p:cNvSpPr txBox="1"/>
          <p:nvPr/>
        </p:nvSpPr>
        <p:spPr>
          <a:xfrm>
            <a:off x="6858000" y="2182145"/>
            <a:ext cx="6056971" cy="534117"/>
          </a:xfrm>
          <a:prstGeom prst="rect">
            <a:avLst/>
          </a:prstGeom>
        </p:spPr>
        <p:txBody>
          <a:bodyPr lIns="0" tIns="0" rIns="0" bIns="0" rtlCol="0" anchor="t">
            <a:spAutoFit/>
          </a:bodyPr>
          <a:lstStyle/>
          <a:p>
            <a:pPr algn="l">
              <a:lnSpc>
                <a:spcPts val="4287"/>
              </a:lnSpc>
            </a:pPr>
            <a:r>
              <a:rPr lang="en-US" sz="3390">
                <a:solidFill>
                  <a:srgbClr val="020202"/>
                </a:solidFill>
                <a:latin typeface="PT Serif"/>
                <a:ea typeface="PT Serif"/>
                <a:cs typeface="PT Serif"/>
                <a:sym typeface="PT Serif"/>
              </a:rPr>
              <a:t>Vertex-Based Greedy Approach</a:t>
            </a:r>
          </a:p>
        </p:txBody>
      </p:sp>
      <p:sp>
        <p:nvSpPr>
          <p:cNvPr id="17" name="TextBox 17"/>
          <p:cNvSpPr txBox="1"/>
          <p:nvPr/>
        </p:nvSpPr>
        <p:spPr>
          <a:xfrm>
            <a:off x="6998401" y="2879229"/>
            <a:ext cx="5776169" cy="1485900"/>
          </a:xfrm>
          <a:prstGeom prst="rect">
            <a:avLst/>
          </a:prstGeom>
        </p:spPr>
        <p:txBody>
          <a:bodyPr lIns="0" tIns="0" rIns="0" bIns="0" rtlCol="0" anchor="t">
            <a:spAutoFit/>
          </a:bodyPr>
          <a:lstStyle/>
          <a:p>
            <a:pPr algn="l">
              <a:lnSpc>
                <a:spcPts val="2988"/>
              </a:lnSpc>
            </a:pPr>
            <a:r>
              <a:rPr lang="en-US" sz="2490">
                <a:solidFill>
                  <a:srgbClr val="383838"/>
                </a:solidFill>
                <a:latin typeface="DM Sans"/>
                <a:ea typeface="DM Sans"/>
                <a:cs typeface="DM Sans"/>
                <a:sym typeface="DM Sans"/>
              </a:rPr>
              <a:t>Prim's algorithm grows the MST from a source vertex, continuously adding minimum-weight edges connecting visited and unvisited vertices.</a:t>
            </a:r>
          </a:p>
        </p:txBody>
      </p:sp>
      <p:sp>
        <p:nvSpPr>
          <p:cNvPr id="18" name="TextBox 18"/>
          <p:cNvSpPr txBox="1"/>
          <p:nvPr/>
        </p:nvSpPr>
        <p:spPr>
          <a:xfrm>
            <a:off x="7002884" y="4687045"/>
            <a:ext cx="3313771" cy="534117"/>
          </a:xfrm>
          <a:prstGeom prst="rect">
            <a:avLst/>
          </a:prstGeom>
        </p:spPr>
        <p:txBody>
          <a:bodyPr lIns="0" tIns="0" rIns="0" bIns="0" rtlCol="0" anchor="t">
            <a:spAutoFit/>
          </a:bodyPr>
          <a:lstStyle/>
          <a:p>
            <a:pPr algn="l">
              <a:lnSpc>
                <a:spcPts val="4287"/>
              </a:lnSpc>
            </a:pPr>
            <a:r>
              <a:rPr lang="en-US" sz="3390">
                <a:solidFill>
                  <a:srgbClr val="020202"/>
                </a:solidFill>
                <a:latin typeface="PT Serif"/>
                <a:ea typeface="PT Serif"/>
                <a:cs typeface="PT Serif"/>
                <a:sym typeface="PT Serif"/>
              </a:rPr>
              <a:t>Algorithm Steps</a:t>
            </a:r>
          </a:p>
        </p:txBody>
      </p:sp>
      <p:sp>
        <p:nvSpPr>
          <p:cNvPr id="19" name="TextBox 19"/>
          <p:cNvSpPr txBox="1"/>
          <p:nvPr/>
        </p:nvSpPr>
        <p:spPr>
          <a:xfrm>
            <a:off x="6858000" y="5354512"/>
            <a:ext cx="5776169" cy="431644"/>
          </a:xfrm>
          <a:prstGeom prst="rect">
            <a:avLst/>
          </a:prstGeom>
        </p:spPr>
        <p:txBody>
          <a:bodyPr lIns="0" tIns="0" rIns="0" bIns="0" rtlCol="0" anchor="t">
            <a:spAutoFit/>
          </a:bodyPr>
          <a:lstStyle/>
          <a:p>
            <a:pPr marL="494410" lvl="1" indent="-247205" algn="l">
              <a:lnSpc>
                <a:spcPts val="3699"/>
              </a:lnSpc>
              <a:buFont typeface="Arial"/>
              <a:buChar char="•"/>
            </a:pPr>
            <a:r>
              <a:rPr lang="en-US" sz="2289">
                <a:solidFill>
                  <a:srgbClr val="383838"/>
                </a:solidFill>
                <a:latin typeface="DM Sans"/>
                <a:ea typeface="DM Sans"/>
                <a:cs typeface="DM Sans"/>
                <a:sym typeface="DM Sans"/>
              </a:rPr>
              <a:t>Start from designated source vertex</a:t>
            </a:r>
          </a:p>
        </p:txBody>
      </p:sp>
      <p:sp>
        <p:nvSpPr>
          <p:cNvPr id="20" name="TextBox 20"/>
          <p:cNvSpPr txBox="1"/>
          <p:nvPr/>
        </p:nvSpPr>
        <p:spPr>
          <a:xfrm>
            <a:off x="6858000" y="5772724"/>
            <a:ext cx="5776169" cy="431644"/>
          </a:xfrm>
          <a:prstGeom prst="rect">
            <a:avLst/>
          </a:prstGeom>
        </p:spPr>
        <p:txBody>
          <a:bodyPr lIns="0" tIns="0" rIns="0" bIns="0" rtlCol="0" anchor="t">
            <a:spAutoFit/>
          </a:bodyPr>
          <a:lstStyle/>
          <a:p>
            <a:pPr marL="494410" lvl="1" indent="-247205" algn="l">
              <a:lnSpc>
                <a:spcPts val="3699"/>
              </a:lnSpc>
              <a:buFont typeface="Arial"/>
              <a:buChar char="•"/>
            </a:pPr>
            <a:r>
              <a:rPr lang="en-US" sz="2289">
                <a:solidFill>
                  <a:srgbClr val="383838"/>
                </a:solidFill>
                <a:latin typeface="DM Sans"/>
                <a:ea typeface="DM Sans"/>
                <a:cs typeface="DM Sans"/>
                <a:sym typeface="DM Sans"/>
              </a:rPr>
              <a:t>Add source to visited set</a:t>
            </a:r>
          </a:p>
        </p:txBody>
      </p:sp>
      <p:sp>
        <p:nvSpPr>
          <p:cNvPr id="21" name="TextBox 21"/>
          <p:cNvSpPr txBox="1"/>
          <p:nvPr/>
        </p:nvSpPr>
        <p:spPr>
          <a:xfrm>
            <a:off x="6858000" y="6164823"/>
            <a:ext cx="5776169" cy="431644"/>
          </a:xfrm>
          <a:prstGeom prst="rect">
            <a:avLst/>
          </a:prstGeom>
        </p:spPr>
        <p:txBody>
          <a:bodyPr lIns="0" tIns="0" rIns="0" bIns="0" rtlCol="0" anchor="t">
            <a:spAutoFit/>
          </a:bodyPr>
          <a:lstStyle/>
          <a:p>
            <a:pPr marL="494410" lvl="1" indent="-247205" algn="l">
              <a:lnSpc>
                <a:spcPts val="3699"/>
              </a:lnSpc>
              <a:buFont typeface="Arial"/>
              <a:buChar char="•"/>
            </a:pPr>
            <a:r>
              <a:rPr lang="en-US" sz="2289">
                <a:solidFill>
                  <a:srgbClr val="383838"/>
                </a:solidFill>
                <a:latin typeface="DM Sans"/>
                <a:ea typeface="DM Sans"/>
                <a:cs typeface="DM Sans"/>
                <a:sym typeface="DM Sans"/>
              </a:rPr>
              <a:t>Examine all edges from visited vertices</a:t>
            </a:r>
          </a:p>
        </p:txBody>
      </p:sp>
      <p:sp>
        <p:nvSpPr>
          <p:cNvPr id="22" name="TextBox 22"/>
          <p:cNvSpPr txBox="1"/>
          <p:nvPr/>
        </p:nvSpPr>
        <p:spPr>
          <a:xfrm>
            <a:off x="6858000" y="6672667"/>
            <a:ext cx="6056971" cy="685800"/>
          </a:xfrm>
          <a:prstGeom prst="rect">
            <a:avLst/>
          </a:prstGeom>
        </p:spPr>
        <p:txBody>
          <a:bodyPr lIns="0" tIns="0" rIns="0" bIns="0" rtlCol="0" anchor="t">
            <a:spAutoFit/>
          </a:bodyPr>
          <a:lstStyle/>
          <a:p>
            <a:pPr marL="494410" lvl="1" indent="-247205" algn="l">
              <a:lnSpc>
                <a:spcPts val="2747"/>
              </a:lnSpc>
              <a:buFont typeface="Arial"/>
              <a:buChar char="•"/>
            </a:pPr>
            <a:r>
              <a:rPr lang="en-US" sz="2289">
                <a:solidFill>
                  <a:srgbClr val="383838"/>
                </a:solidFill>
                <a:latin typeface="DM Sans"/>
                <a:ea typeface="DM Sans"/>
                <a:cs typeface="DM Sans"/>
                <a:sym typeface="DM Sans"/>
              </a:rPr>
              <a:t>Select minimum weight edge to unvisited vertex</a:t>
            </a:r>
          </a:p>
        </p:txBody>
      </p:sp>
      <p:sp>
        <p:nvSpPr>
          <p:cNvPr id="23" name="TextBox 23"/>
          <p:cNvSpPr txBox="1"/>
          <p:nvPr/>
        </p:nvSpPr>
        <p:spPr>
          <a:xfrm>
            <a:off x="6858000" y="7434667"/>
            <a:ext cx="5776169" cy="685800"/>
          </a:xfrm>
          <a:prstGeom prst="rect">
            <a:avLst/>
          </a:prstGeom>
        </p:spPr>
        <p:txBody>
          <a:bodyPr lIns="0" tIns="0" rIns="0" bIns="0" rtlCol="0" anchor="t">
            <a:spAutoFit/>
          </a:bodyPr>
          <a:lstStyle/>
          <a:p>
            <a:pPr marL="494410" lvl="1" indent="-247205" algn="l">
              <a:lnSpc>
                <a:spcPts val="2747"/>
              </a:lnSpc>
              <a:buFont typeface="Arial"/>
              <a:buChar char="•"/>
            </a:pPr>
            <a:r>
              <a:rPr lang="en-US" sz="2289">
                <a:solidFill>
                  <a:srgbClr val="383838"/>
                </a:solidFill>
                <a:latin typeface="DM Sans"/>
                <a:ea typeface="DM Sans"/>
                <a:cs typeface="DM Sans"/>
                <a:sym typeface="DM Sans"/>
              </a:rPr>
              <a:t>Add edge to MST (GREEN) and mark vertex as visited</a:t>
            </a:r>
          </a:p>
        </p:txBody>
      </p:sp>
      <p:sp>
        <p:nvSpPr>
          <p:cNvPr id="24" name="TextBox 24"/>
          <p:cNvSpPr txBox="1"/>
          <p:nvPr/>
        </p:nvSpPr>
        <p:spPr>
          <a:xfrm>
            <a:off x="6858000" y="8110942"/>
            <a:ext cx="5776169" cy="431644"/>
          </a:xfrm>
          <a:prstGeom prst="rect">
            <a:avLst/>
          </a:prstGeom>
        </p:spPr>
        <p:txBody>
          <a:bodyPr lIns="0" tIns="0" rIns="0" bIns="0" rtlCol="0" anchor="t">
            <a:spAutoFit/>
          </a:bodyPr>
          <a:lstStyle/>
          <a:p>
            <a:pPr marL="494410" lvl="1" indent="-247205" algn="l">
              <a:lnSpc>
                <a:spcPts val="3699"/>
              </a:lnSpc>
              <a:buFont typeface="Arial"/>
              <a:buChar char="•"/>
            </a:pPr>
            <a:r>
              <a:rPr lang="en-US" sz="2289">
                <a:solidFill>
                  <a:srgbClr val="383838"/>
                </a:solidFill>
                <a:latin typeface="DM Sans"/>
                <a:ea typeface="DM Sans"/>
                <a:cs typeface="DM Sans"/>
                <a:sym typeface="DM Sans"/>
              </a:rPr>
              <a:t>Repeat until all vertices are visited</a:t>
            </a:r>
          </a:p>
        </p:txBody>
      </p:sp>
      <p:sp>
        <p:nvSpPr>
          <p:cNvPr id="25" name="TextBox 25"/>
          <p:cNvSpPr txBox="1"/>
          <p:nvPr/>
        </p:nvSpPr>
        <p:spPr>
          <a:xfrm>
            <a:off x="13965732" y="2330664"/>
            <a:ext cx="2986982" cy="835802"/>
          </a:xfrm>
          <a:prstGeom prst="rect">
            <a:avLst/>
          </a:prstGeom>
        </p:spPr>
        <p:txBody>
          <a:bodyPr lIns="0" tIns="0" rIns="0" bIns="0" rtlCol="0" anchor="t">
            <a:spAutoFit/>
          </a:bodyPr>
          <a:lstStyle/>
          <a:p>
            <a:pPr algn="l">
              <a:lnSpc>
                <a:spcPts val="3300"/>
              </a:lnSpc>
            </a:pPr>
            <a:r>
              <a:rPr lang="en-US" sz="2610" b="1">
                <a:solidFill>
                  <a:srgbClr val="000000"/>
                </a:solidFill>
                <a:latin typeface="PT Serif Bold"/>
                <a:ea typeface="PT Serif Bold"/>
                <a:cs typeface="PT Serif Bold"/>
                <a:sym typeface="PT Serif Bold"/>
              </a:rPr>
              <a:t>Priority Queue Structure</a:t>
            </a:r>
          </a:p>
        </p:txBody>
      </p:sp>
      <p:sp>
        <p:nvSpPr>
          <p:cNvPr id="26" name="TextBox 26"/>
          <p:cNvSpPr txBox="1"/>
          <p:nvPr/>
        </p:nvSpPr>
        <p:spPr>
          <a:xfrm>
            <a:off x="13965732" y="3326010"/>
            <a:ext cx="2711054" cy="609600"/>
          </a:xfrm>
          <a:prstGeom prst="rect">
            <a:avLst/>
          </a:prstGeom>
        </p:spPr>
        <p:txBody>
          <a:bodyPr lIns="0" tIns="0" rIns="0" bIns="0" rtlCol="0" anchor="t">
            <a:spAutoFit/>
          </a:bodyPr>
          <a:lstStyle/>
          <a:p>
            <a:pPr marL="310674" lvl="1" indent="-155337" algn="l">
              <a:lnSpc>
                <a:spcPts val="2472"/>
              </a:lnSpc>
              <a:buFont typeface="Arial"/>
              <a:buChar char="•"/>
            </a:pPr>
            <a:r>
              <a:rPr lang="en-US" sz="2060">
                <a:solidFill>
                  <a:srgbClr val="000000"/>
                </a:solidFill>
                <a:latin typeface="DM Sans"/>
                <a:ea typeface="DM Sans"/>
                <a:cs typeface="DM Sans"/>
                <a:sym typeface="DM Sans"/>
              </a:rPr>
              <a:t>Maintains available edges efficiently</a:t>
            </a:r>
          </a:p>
        </p:txBody>
      </p:sp>
      <p:sp>
        <p:nvSpPr>
          <p:cNvPr id="27" name="TextBox 27"/>
          <p:cNvSpPr txBox="1"/>
          <p:nvPr/>
        </p:nvSpPr>
        <p:spPr>
          <a:xfrm>
            <a:off x="13965732" y="4067621"/>
            <a:ext cx="3084614" cy="304800"/>
          </a:xfrm>
          <a:prstGeom prst="rect">
            <a:avLst/>
          </a:prstGeom>
        </p:spPr>
        <p:txBody>
          <a:bodyPr lIns="0" tIns="0" rIns="0" bIns="0" rtlCol="0" anchor="t">
            <a:spAutoFit/>
          </a:bodyPr>
          <a:lstStyle/>
          <a:p>
            <a:pPr marL="310674" lvl="1" indent="-155337" algn="l">
              <a:lnSpc>
                <a:spcPts val="2472"/>
              </a:lnSpc>
              <a:buFont typeface="Arial"/>
              <a:buChar char="•"/>
            </a:pPr>
            <a:r>
              <a:rPr lang="en-US" sz="2060">
                <a:solidFill>
                  <a:srgbClr val="000000"/>
                </a:solidFill>
                <a:latin typeface="DM Sans"/>
                <a:ea typeface="DM Sans"/>
                <a:cs typeface="DM Sans"/>
                <a:sym typeface="DM Sans"/>
              </a:rPr>
              <a:t>Sorted by edge weight</a:t>
            </a:r>
          </a:p>
        </p:txBody>
      </p:sp>
      <p:sp>
        <p:nvSpPr>
          <p:cNvPr id="28" name="TextBox 28"/>
          <p:cNvSpPr txBox="1"/>
          <p:nvPr/>
        </p:nvSpPr>
        <p:spPr>
          <a:xfrm>
            <a:off x="13965732" y="4474964"/>
            <a:ext cx="2711054" cy="609600"/>
          </a:xfrm>
          <a:prstGeom prst="rect">
            <a:avLst/>
          </a:prstGeom>
        </p:spPr>
        <p:txBody>
          <a:bodyPr lIns="0" tIns="0" rIns="0" bIns="0" rtlCol="0" anchor="t">
            <a:spAutoFit/>
          </a:bodyPr>
          <a:lstStyle/>
          <a:p>
            <a:pPr marL="310674" lvl="1" indent="-155337" algn="l">
              <a:lnSpc>
                <a:spcPts val="2472"/>
              </a:lnSpc>
              <a:buFont typeface="Arial"/>
              <a:buChar char="•"/>
            </a:pPr>
            <a:r>
              <a:rPr lang="en-US" sz="2060">
                <a:solidFill>
                  <a:srgbClr val="000000"/>
                </a:solidFill>
                <a:latin typeface="DM Sans"/>
                <a:ea typeface="DM Sans"/>
                <a:cs typeface="DM Sans"/>
                <a:sym typeface="DM Sans"/>
              </a:rPr>
              <a:t>Enables quick minimum selection</a:t>
            </a:r>
          </a:p>
        </p:txBody>
      </p:sp>
      <p:sp>
        <p:nvSpPr>
          <p:cNvPr id="29" name="TextBox 29"/>
          <p:cNvSpPr txBox="1"/>
          <p:nvPr/>
        </p:nvSpPr>
        <p:spPr>
          <a:xfrm>
            <a:off x="13965732" y="6001791"/>
            <a:ext cx="2711054" cy="315913"/>
          </a:xfrm>
          <a:prstGeom prst="rect">
            <a:avLst/>
          </a:prstGeom>
        </p:spPr>
        <p:txBody>
          <a:bodyPr lIns="0" tIns="0" rIns="0" bIns="0" rtlCol="0" anchor="t">
            <a:spAutoFit/>
          </a:bodyPr>
          <a:lstStyle/>
          <a:p>
            <a:pPr algn="l">
              <a:lnSpc>
                <a:spcPts val="2687"/>
              </a:lnSpc>
            </a:pPr>
            <a:r>
              <a:rPr lang="en-US" sz="2125" b="1">
                <a:solidFill>
                  <a:srgbClr val="000000"/>
                </a:solidFill>
                <a:latin typeface="PT Serif Bold"/>
                <a:ea typeface="PT Serif Bold"/>
                <a:cs typeface="PT Serif Bold"/>
                <a:sym typeface="PT Serif Bold"/>
              </a:rPr>
              <a:t>Complexity Analysis</a:t>
            </a:r>
          </a:p>
        </p:txBody>
      </p:sp>
      <p:sp>
        <p:nvSpPr>
          <p:cNvPr id="30" name="TextBox 30"/>
          <p:cNvSpPr txBox="1"/>
          <p:nvPr/>
        </p:nvSpPr>
        <p:spPr>
          <a:xfrm>
            <a:off x="13851432" y="6420742"/>
            <a:ext cx="2711054" cy="396152"/>
          </a:xfrm>
          <a:prstGeom prst="rect">
            <a:avLst/>
          </a:prstGeom>
        </p:spPr>
        <p:txBody>
          <a:bodyPr lIns="0" tIns="0" rIns="0" bIns="0" rtlCol="0" anchor="t">
            <a:spAutoFit/>
          </a:bodyPr>
          <a:lstStyle/>
          <a:p>
            <a:pPr marL="444755" lvl="1" indent="-222377" algn="l">
              <a:lnSpc>
                <a:spcPts val="3327"/>
              </a:lnSpc>
              <a:buFont typeface="Arial"/>
              <a:buChar char="•"/>
            </a:pPr>
            <a:r>
              <a:rPr lang="en-US" sz="2060" b="1">
                <a:solidFill>
                  <a:srgbClr val="000000"/>
                </a:solidFill>
                <a:latin typeface="DM Sans Bold"/>
                <a:ea typeface="DM Sans Bold"/>
                <a:cs typeface="DM Sans Bold"/>
                <a:sym typeface="DM Sans Bold"/>
              </a:rPr>
              <a:t>Time:</a:t>
            </a:r>
            <a:r>
              <a:rPr lang="en-US" sz="2060">
                <a:solidFill>
                  <a:srgbClr val="000000"/>
                </a:solidFill>
                <a:latin typeface="DM Sans"/>
                <a:ea typeface="DM Sans"/>
                <a:cs typeface="DM Sans"/>
                <a:sym typeface="DM Sans"/>
              </a:rPr>
              <a:t> O(E log V)</a:t>
            </a:r>
          </a:p>
        </p:txBody>
      </p:sp>
      <p:sp>
        <p:nvSpPr>
          <p:cNvPr id="31" name="TextBox 31"/>
          <p:cNvSpPr txBox="1"/>
          <p:nvPr/>
        </p:nvSpPr>
        <p:spPr>
          <a:xfrm>
            <a:off x="13841907" y="6835944"/>
            <a:ext cx="2711054" cy="396152"/>
          </a:xfrm>
          <a:prstGeom prst="rect">
            <a:avLst/>
          </a:prstGeom>
        </p:spPr>
        <p:txBody>
          <a:bodyPr lIns="0" tIns="0" rIns="0" bIns="0" rtlCol="0" anchor="t">
            <a:spAutoFit/>
          </a:bodyPr>
          <a:lstStyle/>
          <a:p>
            <a:pPr marL="444755" lvl="1" indent="-222377" algn="l">
              <a:lnSpc>
                <a:spcPts val="3327"/>
              </a:lnSpc>
              <a:buFont typeface="Arial"/>
              <a:buChar char="•"/>
            </a:pPr>
            <a:r>
              <a:rPr lang="en-US" sz="2060" b="1">
                <a:solidFill>
                  <a:srgbClr val="000000"/>
                </a:solidFill>
                <a:latin typeface="DM Sans Bold"/>
                <a:ea typeface="DM Sans Bold"/>
                <a:cs typeface="DM Sans Bold"/>
                <a:sym typeface="DM Sans Bold"/>
              </a:rPr>
              <a:t>Space:</a:t>
            </a:r>
            <a:r>
              <a:rPr lang="en-US" sz="2060">
                <a:solidFill>
                  <a:srgbClr val="000000"/>
                </a:solidFill>
                <a:latin typeface="DM Sans"/>
                <a:ea typeface="DM Sans"/>
                <a:cs typeface="DM Sans"/>
                <a:sym typeface="DM Sans"/>
              </a:rPr>
              <a:t> O(V)</a:t>
            </a:r>
          </a:p>
        </p:txBody>
      </p:sp>
      <p:sp>
        <p:nvSpPr>
          <p:cNvPr id="32" name="TextBox 32"/>
          <p:cNvSpPr txBox="1"/>
          <p:nvPr/>
        </p:nvSpPr>
        <p:spPr>
          <a:xfrm>
            <a:off x="13841907" y="7251146"/>
            <a:ext cx="3417393" cy="815252"/>
          </a:xfrm>
          <a:prstGeom prst="rect">
            <a:avLst/>
          </a:prstGeom>
        </p:spPr>
        <p:txBody>
          <a:bodyPr lIns="0" tIns="0" rIns="0" bIns="0" rtlCol="0" anchor="t">
            <a:spAutoFit/>
          </a:bodyPr>
          <a:lstStyle/>
          <a:p>
            <a:pPr marL="444755" lvl="1" indent="-222377" algn="l">
              <a:lnSpc>
                <a:spcPts val="3327"/>
              </a:lnSpc>
              <a:buFont typeface="Arial"/>
              <a:buChar char="•"/>
            </a:pPr>
            <a:r>
              <a:rPr lang="en-US" sz="2060" b="1">
                <a:solidFill>
                  <a:srgbClr val="000000"/>
                </a:solidFill>
                <a:latin typeface="DM Sans Bold"/>
                <a:ea typeface="DM Sans Bold"/>
                <a:cs typeface="DM Sans Bold"/>
                <a:sym typeface="DM Sans Bold"/>
              </a:rPr>
              <a:t>Best For:</a:t>
            </a:r>
            <a:r>
              <a:rPr lang="en-US" sz="2060">
                <a:solidFill>
                  <a:srgbClr val="000000"/>
                </a:solidFill>
                <a:latin typeface="DM Sans"/>
                <a:ea typeface="DM Sans"/>
                <a:cs typeface="DM Sans"/>
                <a:sym typeface="DM Sans"/>
              </a:rPr>
              <a:t> Dense graphs with many edges</a:t>
            </a:r>
          </a:p>
        </p:txBody>
      </p:sp>
      <p:sp>
        <p:nvSpPr>
          <p:cNvPr id="33" name="TextBox 32"/>
          <p:cNvSpPr txBox="1"/>
          <p:nvPr/>
        </p:nvSpPr>
        <p:spPr>
          <a:xfrm>
            <a:off x="14935200" y="9789056"/>
            <a:ext cx="9208084" cy="369332"/>
          </a:xfrm>
          <a:prstGeom prst="rect">
            <a:avLst/>
          </a:prstGeom>
        </p:spPr>
        <p:txBody>
          <a:bodyPr lIns="0" tIns="0" rIns="0" bIns="0" rtlCol="0" anchor="t">
            <a:spAutoFit/>
          </a:bodyPr>
          <a:lstStyle/>
          <a:p>
            <a:r>
              <a:rPr lang="en-US" sz="2400" dirty="0" smtClean="0"/>
              <a:t>Group No. 7 		6</a:t>
            </a:r>
            <a:endParaRPr lang="en-US" sz="2120" dirty="0">
              <a:solidFill>
                <a:srgbClr val="383838"/>
              </a:solidFill>
              <a:latin typeface="DM Sans"/>
              <a:ea typeface="DM Sans"/>
              <a:cs typeface="DM Sans"/>
              <a:sym typeface="DM Sans"/>
            </a:endParaRPr>
          </a:p>
        </p:txBody>
      </p:sp>
    </p:spTree>
  </p:cSld>
  <p:clrMapOvr>
    <a:masterClrMapping/>
  </p:clrMapOvr>
  <p:timing>
    <p:tnLst>
      <p:par>
        <p:cTn id="1" dur="indefinite" restart="never" nodeType="tmRoot"/>
      </p:par>
    </p:tnLst>
  </p:timing>
</p:sld>
</file>

<file path=ppt/slides/slide7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grpSp>
        <p:nvGrpSpPr>
          <p:cNvPr id="2" name="Group 2"/>
          <p:cNvGrpSpPr/>
          <p:nvPr/>
        </p:nvGrpSpPr>
        <p:grpSpPr>
          <a:xfrm>
            <a:off x="0" y="0"/>
            <a:ext cx="18288000" cy="10287000"/>
            <a:chOff x="0" y="0"/>
            <a:chExt cx="24384000" cy="13716000"/>
          </a:xfrm>
        </p:grpSpPr>
        <p:sp>
          <p:nvSpPr>
            <p:cNvPr id="3" name="Freeform 3"/>
            <p:cNvSpPr/>
            <p:nvPr/>
          </p:nvSpPr>
          <p:spPr>
            <a:xfrm>
              <a:off x="0" y="0"/>
              <a:ext cx="24384000" cy="13716000"/>
            </a:xfrm>
            <a:custGeom>
              <a:avLst/>
              <a:gdLst/>
              <a:ahLst/>
              <a:cxnLst/>
              <a:rect l="l" t="t" r="r" b="b"/>
              <a:pathLst>
                <a:path w="24384000" h="13716000">
                  <a:moveTo>
                    <a:pt x="0" y="0"/>
                  </a:moveTo>
                  <a:lnTo>
                    <a:pt x="24384000" y="0"/>
                  </a:lnTo>
                  <a:lnTo>
                    <a:pt x="24384000" y="13716000"/>
                  </a:lnTo>
                  <a:lnTo>
                    <a:pt x="0" y="13716000"/>
                  </a:lnTo>
                  <a:close/>
                </a:path>
              </a:pathLst>
            </a:custGeom>
            <a:solidFill>
              <a:srgbClr val="FAFAFA"/>
            </a:solidFill>
          </p:spPr>
        </p:sp>
      </p:grpSp>
      <p:grpSp>
        <p:nvGrpSpPr>
          <p:cNvPr id="4" name="Group 4"/>
          <p:cNvGrpSpPr/>
          <p:nvPr/>
        </p:nvGrpSpPr>
        <p:grpSpPr>
          <a:xfrm>
            <a:off x="0" y="0"/>
            <a:ext cx="18288000" cy="10287000"/>
            <a:chOff x="0" y="0"/>
            <a:chExt cx="24384000" cy="13716000"/>
          </a:xfrm>
        </p:grpSpPr>
        <p:sp>
          <p:nvSpPr>
            <p:cNvPr id="5" name="Freeform 5"/>
            <p:cNvSpPr/>
            <p:nvPr/>
          </p:nvSpPr>
          <p:spPr>
            <a:xfrm>
              <a:off x="0" y="0"/>
              <a:ext cx="24384000" cy="13716000"/>
            </a:xfrm>
            <a:custGeom>
              <a:avLst/>
              <a:gdLst/>
              <a:ahLst/>
              <a:cxnLst/>
              <a:rect l="l" t="t" r="r" b="b"/>
              <a:pathLst>
                <a:path w="24384000" h="13716000">
                  <a:moveTo>
                    <a:pt x="0" y="0"/>
                  </a:moveTo>
                  <a:lnTo>
                    <a:pt x="24384000" y="0"/>
                  </a:lnTo>
                  <a:lnTo>
                    <a:pt x="24384000" y="13716000"/>
                  </a:lnTo>
                  <a:lnTo>
                    <a:pt x="0" y="13716000"/>
                  </a:lnTo>
                  <a:close/>
                </a:path>
              </a:pathLst>
            </a:custGeom>
            <a:solidFill>
              <a:srgbClr val="FFFFFF"/>
            </a:solidFill>
          </p:spPr>
        </p:sp>
      </p:grpSp>
      <p:sp>
        <p:nvSpPr>
          <p:cNvPr id="6" name="Freeform 6"/>
          <p:cNvSpPr/>
          <p:nvPr/>
        </p:nvSpPr>
        <p:spPr>
          <a:xfrm rot="2339688">
            <a:off x="11749101" y="4133095"/>
            <a:ext cx="6643732" cy="8772307"/>
          </a:xfrm>
          <a:custGeom>
            <a:avLst/>
            <a:gdLst/>
            <a:ahLst/>
            <a:cxnLst/>
            <a:rect l="l" t="t" r="r" b="b"/>
            <a:pathLst>
              <a:path w="6643732" h="8772307">
                <a:moveTo>
                  <a:pt x="0" y="0"/>
                </a:moveTo>
                <a:lnTo>
                  <a:pt x="6643732" y="0"/>
                </a:lnTo>
                <a:lnTo>
                  <a:pt x="6643732" y="8772306"/>
                </a:lnTo>
                <a:lnTo>
                  <a:pt x="0" y="8772306"/>
                </a:lnTo>
                <a:lnTo>
                  <a:pt x="0" y="0"/>
                </a:lnTo>
                <a:close/>
              </a:path>
            </a:pathLst>
          </a:custGeom>
          <a:blipFill>
            <a:blip r:embed="rId3">
              <a:extLst>
                <a:ext uri="{96DAC541-7B7A-43D3-8B79-37D633B846F1}">
                  <asvg:svgBlip xmlns="" xmlns:asvg="http://schemas.microsoft.com/office/drawing/2016/SVG/main" r:embed="rId4"/>
                </a:ext>
              </a:extLst>
            </a:blip>
            <a:stretch>
              <a:fillRect/>
            </a:stretch>
          </a:blipFill>
        </p:spPr>
      </p:sp>
      <p:sp>
        <p:nvSpPr>
          <p:cNvPr id="7" name="Freeform 7"/>
          <p:cNvSpPr/>
          <p:nvPr/>
        </p:nvSpPr>
        <p:spPr>
          <a:xfrm rot="-8948988">
            <a:off x="-82136" y="-2787845"/>
            <a:ext cx="5780943" cy="7633090"/>
          </a:xfrm>
          <a:custGeom>
            <a:avLst/>
            <a:gdLst/>
            <a:ahLst/>
            <a:cxnLst/>
            <a:rect l="l" t="t" r="r" b="b"/>
            <a:pathLst>
              <a:path w="5780943" h="7633090">
                <a:moveTo>
                  <a:pt x="0" y="0"/>
                </a:moveTo>
                <a:lnTo>
                  <a:pt x="5780944" y="0"/>
                </a:lnTo>
                <a:lnTo>
                  <a:pt x="5780944" y="7633090"/>
                </a:lnTo>
                <a:lnTo>
                  <a:pt x="0" y="7633090"/>
                </a:lnTo>
                <a:lnTo>
                  <a:pt x="0" y="0"/>
                </a:lnTo>
                <a:close/>
              </a:path>
            </a:pathLst>
          </a:custGeom>
          <a:blipFill>
            <a:blip r:embed="rId5">
              <a:extLst>
                <a:ext uri="{96DAC541-7B7A-43D3-8B79-37D633B846F1}">
                  <asvg:svgBlip xmlns="" xmlns:asvg="http://schemas.microsoft.com/office/drawing/2016/SVG/main" r:embed="rId6"/>
                </a:ext>
              </a:extLst>
            </a:blip>
            <a:stretch>
              <a:fillRect/>
            </a:stretch>
          </a:blipFill>
        </p:spPr>
      </p:sp>
      <p:sp>
        <p:nvSpPr>
          <p:cNvPr id="8" name="TextBox 8"/>
          <p:cNvSpPr txBox="1"/>
          <p:nvPr/>
        </p:nvSpPr>
        <p:spPr>
          <a:xfrm>
            <a:off x="5068119" y="3960648"/>
            <a:ext cx="8151762" cy="1182852"/>
          </a:xfrm>
          <a:prstGeom prst="rect">
            <a:avLst/>
          </a:prstGeom>
        </p:spPr>
        <p:txBody>
          <a:bodyPr lIns="0" tIns="0" rIns="0" bIns="0" rtlCol="0" anchor="t">
            <a:spAutoFit/>
          </a:bodyPr>
          <a:lstStyle/>
          <a:p>
            <a:pPr algn="ctr">
              <a:lnSpc>
                <a:spcPts val="9451"/>
              </a:lnSpc>
            </a:pPr>
            <a:r>
              <a:rPr lang="en-US" sz="7512" b="1">
                <a:solidFill>
                  <a:srgbClr val="020202"/>
                </a:solidFill>
                <a:latin typeface="PT Serif Bold"/>
                <a:ea typeface="PT Serif Bold"/>
                <a:cs typeface="PT Serif Bold"/>
                <a:sym typeface="PT Serif Bold"/>
              </a:rPr>
              <a:t>Thank you</a:t>
            </a:r>
          </a:p>
        </p:txBody>
      </p:sp>
      <p:sp>
        <p:nvSpPr>
          <p:cNvPr id="9" name="TextBox 9"/>
          <p:cNvSpPr txBox="1"/>
          <p:nvPr/>
        </p:nvSpPr>
        <p:spPr>
          <a:xfrm>
            <a:off x="5068119" y="5330266"/>
            <a:ext cx="8151762" cy="457200"/>
          </a:xfrm>
          <a:prstGeom prst="rect">
            <a:avLst/>
          </a:prstGeom>
        </p:spPr>
        <p:txBody>
          <a:bodyPr lIns="0" tIns="0" rIns="0" bIns="0" rtlCol="0" anchor="t">
            <a:spAutoFit/>
          </a:bodyPr>
          <a:lstStyle/>
          <a:p>
            <a:pPr algn="ctr">
              <a:lnSpc>
                <a:spcPts val="3647"/>
              </a:lnSpc>
            </a:pPr>
            <a:r>
              <a:rPr lang="en-US" sz="3039" i="1">
                <a:solidFill>
                  <a:srgbClr val="383838"/>
                </a:solidFill>
                <a:latin typeface="DM Sans Italics"/>
                <a:ea typeface="DM Sans Italics"/>
                <a:cs typeface="DM Sans Italics"/>
                <a:sym typeface="DM Sans Italics"/>
              </a:rPr>
              <a:t>Group No. 7</a:t>
            </a:r>
          </a:p>
        </p:txBody>
      </p:sp>
    </p:spTree>
  </p:cSld>
  <p:clrMapOvr>
    <a:masterClrMapping/>
  </p:clrMapOvr>
  <p:timing>
    <p:tnLst>
      <p:par>
        <p:cTn id="1" dur="indefinite" restart="never" nodeType="tmRoot"/>
      </p:par>
    </p:tnLst>
  </p:timing>
</p:sld>
</file>

<file path=ppt/theme/theme1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1F497D"/>
      </a:dk2>
      <a:lt2>
        <a:srgbClr val="EEECE1"/>
      </a:lt2>
      <a:accent1>
        <a:srgbClr val="4F81BD"/>
      </a:accent1>
      <a:accent2>
        <a:srgbClr val="C0504D"/>
      </a:accent2>
      <a:accent3>
        <a:srgbClr val="9BBB59"/>
      </a:accent3>
      <a:accent4>
        <a:srgbClr val="8064A2"/>
      </a:accent4>
      <a:accent5>
        <a:srgbClr val="4BACC6"/>
      </a:accent5>
      <a:accent6>
        <a:srgbClr val="F79646"/>
      </a:accent6>
      <a:hlink>
        <a:srgbClr val="0000FF"/>
      </a:hlink>
      <a:folHlink>
        <a:srgbClr val="800080"/>
      </a:folHlink>
    </a:clrScheme>
    <a:fontScheme name="Office">
      <a:maj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</a:majorFont>
      <a:min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shade val="51000"/>
                <a:satMod val="130000"/>
              </a:schemeClr>
            </a:gs>
            <a:gs pos="80000">
              <a:schemeClr val="phClr">
                <a:shade val="93000"/>
                <a:satMod val="130000"/>
              </a:schemeClr>
            </a:gs>
            <a:gs pos="100000">
              <a:schemeClr val="phClr">
                <a:shade val="94000"/>
                <a:satMod val="135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  <a:objectDefaults/>
  <a:extraClrSchemeLst/>
</a:theme>
</file>

<file path=ppt/theme/theme2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1F497D"/>
      </a:dk2>
      <a:lt2>
        <a:srgbClr val="EEECE1"/>
      </a:lt2>
      <a:accent1>
        <a:srgbClr val="4F81BD"/>
      </a:accent1>
      <a:accent2>
        <a:srgbClr val="C0504D"/>
      </a:accent2>
      <a:accent3>
        <a:srgbClr val="9BBB59"/>
      </a:accent3>
      <a:accent4>
        <a:srgbClr val="8064A2"/>
      </a:accent4>
      <a:accent5>
        <a:srgbClr val="4BACC6"/>
      </a:accent5>
      <a:accent6>
        <a:srgbClr val="F79646"/>
      </a:accent6>
      <a:hlink>
        <a:srgbClr val="0000FF"/>
      </a:hlink>
      <a:folHlink>
        <a:srgbClr val="800080"/>
      </a:folHlink>
    </a:clrScheme>
    <a:fontScheme name="Office">
      <a:maj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</a:majorFont>
      <a:min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shade val="51000"/>
                <a:satMod val="130000"/>
              </a:schemeClr>
            </a:gs>
            <a:gs pos="80000">
              <a:schemeClr val="phClr">
                <a:shade val="93000"/>
                <a:satMod val="130000"/>
              </a:schemeClr>
            </a:gs>
            <a:gs pos="100000">
              <a:schemeClr val="phClr">
                <a:shade val="94000"/>
                <a:satMod val="135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  <a:objectDefaults/>
  <a:extraClrSchemeLst/>
</a:theme>
</file>

<file path=docProps/app.xml><?xml version="1.0" encoding="utf-8"?>
<Properties xmlns="http://schemas.openxmlformats.org/officeDocument/2006/extended-properties" xmlns:vt="http://schemas.openxmlformats.org/officeDocument/2006/docPropsVTypes">
  <TotalTime>57</TotalTime>
  <Words>469</Words>
  <Application>Microsoft Office PowerPoint</Application>
  <PresentationFormat>Custom</PresentationFormat>
  <Paragraphs>109</Paragraphs>
  <Slides>7</Slides>
  <Notes>7</Notes>
  <HiddenSlides>0</HiddenSlides>
  <MMClips>0</MMClips>
  <ScaleCrop>false</ScaleCrop>
  <HeadingPairs>
    <vt:vector size="6" baseType="variant">
      <vt:variant>
        <vt:lpstr>Fonts Used</vt:lpstr>
      </vt:variant>
      <vt:variant>
        <vt:i4>7</vt:i4>
      </vt:variant>
      <vt:variant>
        <vt:lpstr>Theme</vt:lpstr>
      </vt:variant>
      <vt:variant>
        <vt:i4>1</vt:i4>
      </vt:variant>
      <vt:variant>
        <vt:lpstr>Slide Titles</vt:lpstr>
      </vt:variant>
      <vt:variant>
        <vt:i4>7</vt:i4>
      </vt:variant>
    </vt:vector>
  </HeadingPairs>
  <TitlesOfParts>
    <vt:vector size="15" baseType="lpstr">
      <vt:lpstr>DM Sans</vt:lpstr>
      <vt:lpstr>PT Serif</vt:lpstr>
      <vt:lpstr>DM Sans Bold</vt:lpstr>
      <vt:lpstr>DM Sans Italics</vt:lpstr>
      <vt:lpstr>Arial</vt:lpstr>
      <vt:lpstr>PT Serif Bold</vt:lpstr>
      <vt:lpstr>Calibri</vt:lpstr>
      <vt:lpstr>Office Theme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</vt:vector>
  </TitlesOfParts>
  <Company/>
  <LinksUpToDate>false</LinksUpToDate>
  <SharedDoc>false</SharedDoc>
  <HyperlinksChanged>false</HyperlinksChanged>
  <AppVersion>16.0000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>MST-Visualizer.pptx</dc:title>
  <cp:lastModifiedBy>user</cp:lastModifiedBy>
  <cp:revision>4</cp:revision>
  <dcterms:created xsi:type="dcterms:W3CDTF">2006-08-16T00:00:00Z</dcterms:created>
  <dcterms:modified xsi:type="dcterms:W3CDTF">2025-11-11T09:20:50Z</dcterms:modified>
  <dc:identifier>DAG4TaHXYGc</dc:identifier>
</cp:coreProperties>
</file>